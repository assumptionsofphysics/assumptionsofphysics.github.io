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976" r:id="rId2"/>
    <p:sldId id="1326" r:id="rId3"/>
    <p:sldId id="1287" r:id="rId4"/>
    <p:sldId id="1289" r:id="rId5"/>
    <p:sldId id="1290" r:id="rId6"/>
    <p:sldId id="1291" r:id="rId7"/>
    <p:sldId id="1292" r:id="rId8"/>
    <p:sldId id="1293" r:id="rId9"/>
    <p:sldId id="1321" r:id="rId10"/>
    <p:sldId id="1322" r:id="rId11"/>
    <p:sldId id="1296" r:id="rId12"/>
    <p:sldId id="1297" r:id="rId13"/>
    <p:sldId id="1298" r:id="rId14"/>
    <p:sldId id="1302" r:id="rId15"/>
    <p:sldId id="1312" r:id="rId16"/>
    <p:sldId id="1323" r:id="rId17"/>
    <p:sldId id="1276" r:id="rId18"/>
    <p:sldId id="979" r:id="rId19"/>
    <p:sldId id="1313" r:id="rId20"/>
    <p:sldId id="1319" r:id="rId21"/>
    <p:sldId id="1315" r:id="rId22"/>
    <p:sldId id="1316" r:id="rId23"/>
    <p:sldId id="1317" r:id="rId24"/>
    <p:sldId id="1318" r:id="rId25"/>
    <p:sldId id="1324" r:id="rId26"/>
    <p:sldId id="1325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5607" autoAdjust="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outlineViewPr>
    <p:cViewPr>
      <p:scale>
        <a:sx n="33" d="100"/>
        <a:sy n="33" d="100"/>
      </p:scale>
      <p:origin x="0" y="-9029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3335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19C704-B8F9-449B-B828-36D786A1FE7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54F452-85BD-4268-B680-C313DBFDC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431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4FB9D-FE32-4608-A322-879EB604C4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2BEF24-38DB-414B-9143-835F94C545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649D3D-74DA-4CF4-9D8A-35BEC589E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11630-2B34-4908-BEF4-EB78E022DB1C}" type="datetime1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B2A6A3-4127-48D5-9784-9FE0EA9F2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A031F-D251-4900-90B5-0DBC5EEB8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7EBE43-81C5-C3A7-19B2-4AEF320C73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405" y="4369993"/>
            <a:ext cx="1676403" cy="15240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5FB429-4DC1-9EA8-5594-36E9029DC11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4754" y="5936692"/>
            <a:ext cx="2229706" cy="757858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3AF2D39E-1CF2-6C35-A74E-C2E85F817FF0}"/>
              </a:ext>
            </a:extLst>
          </p:cNvPr>
          <p:cNvSpPr/>
          <p:nvPr userDrawn="1"/>
        </p:nvSpPr>
        <p:spPr>
          <a:xfrm>
            <a:off x="9442580" y="4170784"/>
            <a:ext cx="2674054" cy="2668555"/>
          </a:xfrm>
          <a:prstGeom prst="ellipse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530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2083A-4E98-4B0F-9BE9-89B3801C5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EDFED-B2F5-4E8E-B7CC-56CC10C1C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BC790-453E-4FDF-8576-041B1DF98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0BC8FBAB-8131-440B-982D-5FFA7A53024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EFAB04E2-9F90-4630-A58E-2CB0DC98AA26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CD6FF50-33B5-48AA-9106-E41AD3A7C71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915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ACB5C-4D91-4CEE-A37D-A6D6EA775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72FF89-CC5E-4ECF-8587-C5477617E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65818F-79A2-4B99-9E93-0A0D34509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8CA0B-3B6F-44E2-9EEB-AC0130F2C046}" type="datetime1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0A171-786D-4212-94DA-A3B5DDCBE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C80CF-897E-4A36-9214-10EE125C5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47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8B1A4-D1EF-45A3-9791-016116AFC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0615B-3F88-41CF-8B1F-20FB3C7BE2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955" y="1105469"/>
            <a:ext cx="5915845" cy="50714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C97195-09DC-40DF-8642-91B5CEAE2E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105469"/>
            <a:ext cx="5915845" cy="50714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77FD46-DF3C-4CF1-8DB8-AE555EDA6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2AA5F-3EF9-4E06-B3CE-6C2E207B55EE}" type="datetime1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AA3C63-BDA7-4CD1-98D2-7B44F82B1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9C5504-0686-44F8-A23D-45B91F88E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628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9177B-A747-42FD-8F29-D1361B4E2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DEB389-9A95-4143-B34D-74A157C3E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FF914-FCFA-477B-964A-C59B91251C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6DC335-A7AE-4EBC-A953-CD7B08744D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06B780-1F08-4E36-968D-D083275A4F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AC007B-DA08-41DC-96BA-9EDC62C18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97483-0FA4-4F24-8BF3-688AFB30742E}" type="datetime1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F2FD71-2584-48F8-992F-EBA7CFFAC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FB88B5-3CD1-407E-B5B5-2FDF80D2D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709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BD30F-053D-46F9-9A37-D1DA8923C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2A0CFC-E613-4829-BB1E-23DC17F1F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F5AA8-5B5A-4B95-B863-C5AE519BC526}" type="datetime1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44F9ED-0DC1-499C-966A-67FA83690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2F0D14-ECEA-4749-973A-35A78F792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136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97A8DE-26FB-44D4-A9F1-CB9FF4220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378E6-0C40-4881-A31F-C907A1DD3BB3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56CC65-9693-4336-8892-7DBB0D428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092D98-AE7E-447E-AA93-A2032A1FE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322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036F1-9482-436E-9974-452FA8C03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3F32D-85F2-44AA-81B0-6B60F5AE66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3A3A79-53E7-4E9B-A70E-77106E56CD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FD5672-F891-4ED6-8D9F-0B8771B5C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BF0BB-5ADC-4A55-85F1-8802EFA22785}" type="datetime1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272739-2C05-4A24-88F6-82BBE08FD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675969-E211-4DE2-B886-5934860C3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650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47BCD-8167-44E1-825E-012B66377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72A2AE-5BB8-4C31-9C94-6EDE7D578B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D1A6C8-B63C-47F8-8C8C-4DB028D4B5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356164-D348-4A71-AE1D-E22897D3C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E1DBF-CA1B-4AAA-92EF-160E85459000}" type="datetime1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F6AADB-3A05-424C-9F43-41572E843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28A14-221B-4635-AA55-72AC789D4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683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61A85-F374-4F3F-BA0C-52075B074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3497C3-0A16-4208-BEB3-607737FDD7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ED635-7E11-4664-8FBC-36FEBFF2D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BF9D4-29AD-466E-A391-02402EDAE42F}" type="datetime1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9DE0C-6D6F-4D42-817A-BBD09369D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03EC4-334C-45C4-A174-AFF5497F8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332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597DE0-D863-4430-924C-3EB271CE81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98BD85-A68E-409D-B87F-BAD203419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AA6CF-52A1-4471-AFF7-79B37FEF2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D9107-927D-484B-A7AB-88A499AE44E2}" type="datetime1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4AF83-3843-42EB-A5A1-2BDCD43FA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68DFD-8437-42AF-BA50-3290D8CDC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594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5AE79D-67AF-4A6E-B20E-A13E26034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55" y="84779"/>
            <a:ext cx="11984090" cy="897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DFF892-5903-470F-A479-331C39379F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955" y="1075038"/>
            <a:ext cx="11984090" cy="53817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86424-CA87-4045-BC8B-6EDDC11B32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04759" y="6580246"/>
            <a:ext cx="2229706" cy="2286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870D6F-783D-4646-8F3F-00D8F3F0566D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D1E3F-305F-48EC-9661-A5555D6D91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9730" y="6565529"/>
            <a:ext cx="5967867" cy="2359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Christine Aidala - University of Michigan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D7172-52C7-47AA-A8CB-03E0DDB36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0178" y="6572888"/>
            <a:ext cx="555908" cy="2286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1AA285D-1676-8476-E3FF-1782C3DC601F}"/>
              </a:ext>
            </a:extLst>
          </p:cNvPr>
          <p:cNvSpPr/>
          <p:nvPr userDrawn="1"/>
        </p:nvSpPr>
        <p:spPr>
          <a:xfrm>
            <a:off x="9442580" y="4170784"/>
            <a:ext cx="2674054" cy="2668555"/>
          </a:xfrm>
          <a:prstGeom prst="ellipse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BC4DAF4-877C-B697-9F33-77BD3CFF038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1201" y="5161510"/>
            <a:ext cx="755810" cy="6871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689385B-0892-E7A3-350A-12FC896047C9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2674" y="6273515"/>
            <a:ext cx="1313865" cy="44657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3C0152C-5722-D560-A1D1-83330A0E1841}"/>
              </a:ext>
            </a:extLst>
          </p:cNvPr>
          <p:cNvSpPr txBox="1"/>
          <p:nvPr userDrawn="1"/>
        </p:nvSpPr>
        <p:spPr>
          <a:xfrm>
            <a:off x="9723330" y="5954370"/>
            <a:ext cx="215155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dirty="0"/>
              <a:t>https://assumptionsofphysics.org/</a:t>
            </a:r>
          </a:p>
        </p:txBody>
      </p:sp>
    </p:spTree>
    <p:extLst>
      <p:ext uri="{BB962C8B-B14F-4D97-AF65-F5344CB8AC3E}">
        <p14:creationId xmlns:p14="http://schemas.microsoft.com/office/powerpoint/2010/main" val="3603477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7" grpId="2" animBg="1"/>
      <p:bldP spid="7" grpId="3" animBg="1"/>
      <p:bldP spid="7" grpId="4" animBg="1"/>
      <p:bldP spid="7" grpId="5" animBg="1"/>
      <p:bldP spid="7" grpId="6" animBg="1"/>
      <p:bldP spid="7" grpId="7" animBg="1"/>
    </p:bldLst>
  </p:timing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26" Type="http://schemas.openxmlformats.org/officeDocument/2006/relationships/image" Target="../media/image31.png"/><Relationship Id="rId3" Type="http://schemas.openxmlformats.org/officeDocument/2006/relationships/image" Target="../media/image8.png"/><Relationship Id="rId21" Type="http://schemas.openxmlformats.org/officeDocument/2006/relationships/image" Target="../media/image26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5" Type="http://schemas.openxmlformats.org/officeDocument/2006/relationships/image" Target="../media/image30.pn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24" Type="http://schemas.openxmlformats.org/officeDocument/2006/relationships/image" Target="../media/image29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23" Type="http://schemas.openxmlformats.org/officeDocument/2006/relationships/image" Target="../media/image28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Relationship Id="rId22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22.png"/><Relationship Id="rId18" Type="http://schemas.openxmlformats.org/officeDocument/2006/relationships/image" Target="../media/image29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21.png"/><Relationship Id="rId17" Type="http://schemas.openxmlformats.org/officeDocument/2006/relationships/image" Target="../media/image28.png"/><Relationship Id="rId2" Type="http://schemas.openxmlformats.org/officeDocument/2006/relationships/image" Target="../media/image32.png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11" Type="http://schemas.openxmlformats.org/officeDocument/2006/relationships/image" Target="../media/image19.png"/><Relationship Id="rId5" Type="http://schemas.openxmlformats.org/officeDocument/2006/relationships/image" Target="../media/image35.png"/><Relationship Id="rId15" Type="http://schemas.openxmlformats.org/officeDocument/2006/relationships/image" Target="../media/image26.png"/><Relationship Id="rId10" Type="http://schemas.openxmlformats.org/officeDocument/2006/relationships/image" Target="../media/image18.png"/><Relationship Id="rId4" Type="http://schemas.openxmlformats.org/officeDocument/2006/relationships/image" Target="../media/image34.png"/><Relationship Id="rId9" Type="http://schemas.openxmlformats.org/officeDocument/2006/relationships/image" Target="../media/image17.png"/><Relationship Id="rId1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png"/><Relationship Id="rId3" Type="http://schemas.openxmlformats.org/officeDocument/2006/relationships/image" Target="../media/image120.png"/><Relationship Id="rId7" Type="http://schemas.openxmlformats.org/officeDocument/2006/relationships/image" Target="../media/image16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0.png"/><Relationship Id="rId5" Type="http://schemas.openxmlformats.org/officeDocument/2006/relationships/image" Target="../media/image140.png"/><Relationship Id="rId4" Type="http://schemas.openxmlformats.org/officeDocument/2006/relationships/image" Target="../media/image130.png"/><Relationship Id="rId9" Type="http://schemas.openxmlformats.org/officeDocument/2006/relationships/image" Target="../media/image18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png"/><Relationship Id="rId3" Type="http://schemas.openxmlformats.org/officeDocument/2006/relationships/image" Target="../media/image120.png"/><Relationship Id="rId7" Type="http://schemas.openxmlformats.org/officeDocument/2006/relationships/image" Target="../media/image16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0.png"/><Relationship Id="rId5" Type="http://schemas.openxmlformats.org/officeDocument/2006/relationships/image" Target="../media/image140.png"/><Relationship Id="rId10" Type="http://schemas.openxmlformats.org/officeDocument/2006/relationships/image" Target="../media/image182.png"/><Relationship Id="rId4" Type="http://schemas.openxmlformats.org/officeDocument/2006/relationships/image" Target="../media/image130.png"/><Relationship Id="rId9" Type="http://schemas.openxmlformats.org/officeDocument/2006/relationships/image" Target="../media/image18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4.png"/><Relationship Id="rId13" Type="http://schemas.openxmlformats.org/officeDocument/2006/relationships/image" Target="../media/image462.png"/><Relationship Id="rId18" Type="http://schemas.openxmlformats.org/officeDocument/2006/relationships/image" Target="../media/image1001.png"/><Relationship Id="rId3" Type="http://schemas.openxmlformats.org/officeDocument/2006/relationships/image" Target="../media/image361.png"/><Relationship Id="rId7" Type="http://schemas.openxmlformats.org/officeDocument/2006/relationships/image" Target="../media/image4000.png"/><Relationship Id="rId12" Type="http://schemas.openxmlformats.org/officeDocument/2006/relationships/image" Target="../media/image4500.png"/><Relationship Id="rId17" Type="http://schemas.openxmlformats.org/officeDocument/2006/relationships/image" Target="../media/image52.png"/><Relationship Id="rId2" Type="http://schemas.openxmlformats.org/officeDocument/2006/relationships/image" Target="../media/image351.png"/><Relationship Id="rId16" Type="http://schemas.openxmlformats.org/officeDocument/2006/relationships/image" Target="../media/image492.png"/><Relationship Id="rId20" Type="http://schemas.openxmlformats.org/officeDocument/2006/relationships/image" Target="../media/image10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2.png"/><Relationship Id="rId11" Type="http://schemas.openxmlformats.org/officeDocument/2006/relationships/image" Target="../media/image442.png"/><Relationship Id="rId5" Type="http://schemas.openxmlformats.org/officeDocument/2006/relationships/image" Target="../media/image3800.png"/><Relationship Id="rId15" Type="http://schemas.openxmlformats.org/officeDocument/2006/relationships/image" Target="../media/image481.png"/><Relationship Id="rId10" Type="http://schemas.openxmlformats.org/officeDocument/2006/relationships/image" Target="../media/image432.png"/><Relationship Id="rId19" Type="http://schemas.openxmlformats.org/officeDocument/2006/relationships/image" Target="../media/image1010.png"/><Relationship Id="rId4" Type="http://schemas.openxmlformats.org/officeDocument/2006/relationships/image" Target="../media/image371.png"/><Relationship Id="rId9" Type="http://schemas.openxmlformats.org/officeDocument/2006/relationships/image" Target="../media/image422.png"/><Relationship Id="rId14" Type="http://schemas.openxmlformats.org/officeDocument/2006/relationships/image" Target="../media/image47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7" Type="http://schemas.openxmlformats.org/officeDocument/2006/relationships/image" Target="../media/image114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112.png"/><Relationship Id="rId4" Type="http://schemas.openxmlformats.org/officeDocument/2006/relationships/image" Target="../media/image6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3" Type="http://schemas.openxmlformats.org/officeDocument/2006/relationships/image" Target="../media/image1021.png"/><Relationship Id="rId7" Type="http://schemas.openxmlformats.org/officeDocument/2006/relationships/image" Target="../media/image68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10" Type="http://schemas.openxmlformats.org/officeDocument/2006/relationships/image" Target="../media/image70.png"/><Relationship Id="rId4" Type="http://schemas.openxmlformats.org/officeDocument/2006/relationships/image" Target="../media/image65.png"/><Relationship Id="rId9" Type="http://schemas.openxmlformats.org/officeDocument/2006/relationships/image" Target="../media/image6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70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assumptionsofphysics.org/book" TargetMode="External"/><Relationship Id="rId2" Type="http://schemas.openxmlformats.org/officeDocument/2006/relationships/hyperlink" Target="https://assumptionsofphysics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assumptionsofphysics" TargetMode="External"/><Relationship Id="rId5" Type="http://schemas.openxmlformats.org/officeDocument/2006/relationships/hyperlink" Target="https://www.youtube.com/@AssumptionsofPhysicsResearch" TargetMode="External"/><Relationship Id="rId4" Type="http://schemas.openxmlformats.org/officeDocument/2006/relationships/hyperlink" Target="https://www.youtube.com/@gcarcassi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B8EF8-1CA4-0AF4-8F17-8A411A3591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33349"/>
            <a:ext cx="12192000" cy="2387600"/>
          </a:xfrm>
        </p:spPr>
        <p:txBody>
          <a:bodyPr>
            <a:normAutofit fontScale="90000"/>
          </a:bodyPr>
          <a:lstStyle/>
          <a:p>
            <a:r>
              <a:rPr lang="en-US" sz="8000" dirty="0"/>
              <a:t>Overview of  the</a:t>
            </a:r>
            <a:br>
              <a:rPr lang="en-US" sz="8000" dirty="0"/>
            </a:br>
            <a:r>
              <a:rPr lang="en-US" sz="8000" dirty="0"/>
              <a:t>Assumptions of Physics</a:t>
            </a:r>
            <a:br>
              <a:rPr lang="en-US" sz="8000" dirty="0"/>
            </a:br>
            <a:r>
              <a:rPr lang="en-US" sz="8000" dirty="0"/>
              <a:t>program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B966BA-E88F-9DF9-B52F-C052D3944F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13024"/>
            <a:ext cx="9144000" cy="1655762"/>
          </a:xfrm>
        </p:spPr>
        <p:txBody>
          <a:bodyPr>
            <a:normAutofit lnSpcReduction="10000"/>
          </a:bodyPr>
          <a:lstStyle/>
          <a:p>
            <a:endParaRPr lang="en-US" sz="2400" dirty="0"/>
          </a:p>
          <a:p>
            <a:r>
              <a:rPr lang="en-US" sz="2400" dirty="0"/>
              <a:t>Gabriele Carcassi</a:t>
            </a:r>
          </a:p>
          <a:p>
            <a:r>
              <a:rPr lang="en-US" dirty="0"/>
              <a:t>Physics Department</a:t>
            </a:r>
            <a:br>
              <a:rPr lang="en-US" dirty="0"/>
            </a:br>
            <a:r>
              <a:rPr lang="en-US" dirty="0"/>
              <a:t>University of Michigan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813723-0645-42C7-86E8-C94B23AD19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" y="4491460"/>
            <a:ext cx="1891314" cy="2016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500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05E47-A758-890C-9F57-A83D824F9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7A320-738D-54B1-6F0C-407BDDA2C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33349"/>
            <a:ext cx="12192000" cy="2387600"/>
          </a:xfrm>
        </p:spPr>
        <p:txBody>
          <a:bodyPr>
            <a:normAutofit fontScale="90000"/>
          </a:bodyPr>
          <a:lstStyle/>
          <a:p>
            <a:r>
              <a:rPr lang="en-US" sz="8000" dirty="0"/>
              <a:t>Reverse Physics</a:t>
            </a:r>
            <a:br>
              <a:rPr lang="en-US" sz="8000" dirty="0"/>
            </a:br>
            <a:r>
              <a:rPr lang="en-US" sz="8000" dirty="0"/>
              <a:t>and</a:t>
            </a:r>
            <a:br>
              <a:rPr lang="en-US" sz="8000" dirty="0"/>
            </a:br>
            <a:r>
              <a:rPr lang="en-US" sz="8000" dirty="0"/>
              <a:t>Physical Mathematics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1C5160-16CF-5CBB-783A-865F982067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13024"/>
            <a:ext cx="9144000" cy="1655762"/>
          </a:xfrm>
        </p:spPr>
        <p:txBody>
          <a:bodyPr>
            <a:normAutofit lnSpcReduction="10000"/>
          </a:bodyPr>
          <a:lstStyle/>
          <a:p>
            <a:endParaRPr lang="en-US" sz="2400" dirty="0"/>
          </a:p>
          <a:p>
            <a:r>
              <a:rPr lang="en-US" sz="2400" dirty="0"/>
              <a:t>Gabriele Carcassi</a:t>
            </a:r>
          </a:p>
          <a:p>
            <a:r>
              <a:rPr lang="en-US" dirty="0"/>
              <a:t>Physics Department</a:t>
            </a:r>
            <a:br>
              <a:rPr lang="en-US" dirty="0"/>
            </a:br>
            <a:r>
              <a:rPr lang="en-US" dirty="0"/>
              <a:t>University of Michigan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AF019FD-17A4-7EF9-2CE6-713EAE77FA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" y="4491460"/>
            <a:ext cx="1891314" cy="2016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69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AA4CB3-AEEA-310A-93F4-9FC85BFDAD4B}"/>
              </a:ext>
            </a:extLst>
          </p:cNvPr>
          <p:cNvSpPr txBox="1"/>
          <p:nvPr/>
        </p:nvSpPr>
        <p:spPr>
          <a:xfrm>
            <a:off x="2552883" y="572543"/>
            <a:ext cx="708623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/>
              <a:t>The current connection between</a:t>
            </a:r>
            <a:br>
              <a:rPr lang="en-US" sz="4000" dirty="0"/>
            </a:br>
            <a:r>
              <a:rPr lang="en-US" sz="4000" dirty="0"/>
              <a:t>math and physics is “suboptimal”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BA00A0-89A9-132C-10B4-6F8BB069743B}"/>
              </a:ext>
            </a:extLst>
          </p:cNvPr>
          <p:cNvSpPr txBox="1"/>
          <p:nvPr/>
        </p:nvSpPr>
        <p:spPr>
          <a:xfrm>
            <a:off x="1927519" y="2673822"/>
            <a:ext cx="833696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/>
              <a:t>A physically meaningful and</a:t>
            </a:r>
            <a:br>
              <a:rPr lang="en-US" sz="4000" dirty="0"/>
            </a:br>
            <a:r>
              <a:rPr lang="en-US" sz="4000" dirty="0"/>
              <a:t>mathematically precise approach exists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6610E4-CD1E-513B-4CAB-F72D1DCDF53C}"/>
              </a:ext>
            </a:extLst>
          </p:cNvPr>
          <p:cNvSpPr txBox="1"/>
          <p:nvPr/>
        </p:nvSpPr>
        <p:spPr>
          <a:xfrm>
            <a:off x="3436843" y="4775101"/>
            <a:ext cx="531831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/>
              <a:t>New mathematics needs</a:t>
            </a:r>
            <a:br>
              <a:rPr lang="en-US" sz="4000" dirty="0"/>
            </a:br>
            <a:r>
              <a:rPr lang="en-US" sz="4000" dirty="0"/>
              <a:t>to be developed</a:t>
            </a:r>
          </a:p>
        </p:txBody>
      </p:sp>
    </p:spTree>
    <p:extLst>
      <p:ext uri="{BB962C8B-B14F-4D97-AF65-F5344CB8AC3E}">
        <p14:creationId xmlns:p14="http://schemas.microsoft.com/office/powerpoint/2010/main" val="1030866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38CA7FB-198D-6CA1-9915-E025ACBF821E}"/>
              </a:ext>
            </a:extLst>
          </p:cNvPr>
          <p:cNvSpPr/>
          <p:nvPr/>
        </p:nvSpPr>
        <p:spPr>
          <a:xfrm>
            <a:off x="336884" y="4572000"/>
            <a:ext cx="8656721" cy="190098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err="1">
                <a:solidFill>
                  <a:schemeClr val="tx1"/>
                </a:solidFill>
              </a:rPr>
              <a:t>Zermelo</a:t>
            </a:r>
            <a:r>
              <a:rPr lang="en-US" sz="3600" dirty="0">
                <a:solidFill>
                  <a:schemeClr val="tx1"/>
                </a:solidFill>
              </a:rPr>
              <a:t>-Fraenkel set theory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933B6AB-6899-8F14-8FEF-29A743903FD9}"/>
                  </a:ext>
                </a:extLst>
              </p:cNvPr>
              <p:cNvSpPr txBox="1"/>
              <p:nvPr/>
            </p:nvSpPr>
            <p:spPr>
              <a:xfrm>
                <a:off x="4328541" y="3258894"/>
                <a:ext cx="1050288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933B6AB-6899-8F14-8FEF-29A743903F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8541" y="3258894"/>
                <a:ext cx="1050288" cy="8309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DAD2C1DE-467A-5D4C-3A38-D726296CDC70}"/>
              </a:ext>
            </a:extLst>
          </p:cNvPr>
          <p:cNvSpPr txBox="1"/>
          <p:nvPr/>
        </p:nvSpPr>
        <p:spPr>
          <a:xfrm>
            <a:off x="240632" y="168442"/>
            <a:ext cx="107559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To gain insight into the foundations of mathematics, it is useful to understand exactly</a:t>
            </a:r>
            <a:br>
              <a:rPr lang="en-US" sz="2400" dirty="0"/>
            </a:br>
            <a:r>
              <a:rPr lang="en-US" sz="2400" dirty="0"/>
              <a:t>what axioms lead to which result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60B4C7-FC1F-D6BA-DD7B-BA0BAA08BF56}"/>
              </a:ext>
            </a:extLst>
          </p:cNvPr>
          <p:cNvSpPr txBox="1"/>
          <p:nvPr/>
        </p:nvSpPr>
        <p:spPr>
          <a:xfrm>
            <a:off x="433136" y="4671627"/>
            <a:ext cx="1299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Base theory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DC94A8-60E5-9B2A-0165-8B3A9910FA27}"/>
              </a:ext>
            </a:extLst>
          </p:cNvPr>
          <p:cNvSpPr txBox="1"/>
          <p:nvPr/>
        </p:nvSpPr>
        <p:spPr>
          <a:xfrm>
            <a:off x="561569" y="3361066"/>
            <a:ext cx="32271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Axiom of Choice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F812EB-2A45-B9EC-E6C2-5A50283CA608}"/>
              </a:ext>
            </a:extLst>
          </p:cNvPr>
          <p:cNvSpPr txBox="1"/>
          <p:nvPr/>
        </p:nvSpPr>
        <p:spPr>
          <a:xfrm>
            <a:off x="5906444" y="3370591"/>
            <a:ext cx="27067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Zorn’s lemma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0C89F04-C538-FE71-E66F-774614FB5BE0}"/>
                  </a:ext>
                </a:extLst>
              </p:cNvPr>
              <p:cNvSpPr txBox="1"/>
              <p:nvPr/>
            </p:nvSpPr>
            <p:spPr>
              <a:xfrm>
                <a:off x="4322445" y="3258894"/>
                <a:ext cx="1050288" cy="83099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0C89F04-C538-FE71-E66F-774614FB5B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2445" y="3258894"/>
                <a:ext cx="1050288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932EA84D-4037-72E6-07F6-E61B7C51FD11}"/>
              </a:ext>
            </a:extLst>
          </p:cNvPr>
          <p:cNvSpPr txBox="1"/>
          <p:nvPr/>
        </p:nvSpPr>
        <p:spPr>
          <a:xfrm>
            <a:off x="639153" y="1639669"/>
            <a:ext cx="54568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When the theorem is derived from the right axioms,</a:t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the axioms can be derived from the theorem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7BA1F3-2D99-F472-664F-515D87E1BA85}"/>
              </a:ext>
            </a:extLst>
          </p:cNvPr>
          <p:cNvSpPr txBox="1"/>
          <p:nvPr/>
        </p:nvSpPr>
        <p:spPr>
          <a:xfrm>
            <a:off x="4665244" y="2286000"/>
            <a:ext cx="1077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Friedman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2F28CA-4753-18CC-D5B0-808284B91D65}"/>
              </a:ext>
            </a:extLst>
          </p:cNvPr>
          <p:cNvSpPr txBox="1"/>
          <p:nvPr/>
        </p:nvSpPr>
        <p:spPr>
          <a:xfrm>
            <a:off x="7135135" y="999439"/>
            <a:ext cx="433182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6">
                    <a:lumMod val="75000"/>
                  </a:schemeClr>
                </a:solidFill>
              </a:rPr>
              <a:t>Reverse</a:t>
            </a:r>
            <a:br>
              <a:rPr lang="en-US" sz="6000" b="1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6000" b="1" dirty="0">
                <a:solidFill>
                  <a:schemeClr val="accent6">
                    <a:lumMod val="75000"/>
                  </a:schemeClr>
                </a:solidFill>
              </a:rPr>
              <a:t>mathematics</a:t>
            </a:r>
          </a:p>
        </p:txBody>
      </p:sp>
    </p:spTree>
    <p:extLst>
      <p:ext uri="{BB962C8B-B14F-4D97-AF65-F5344CB8AC3E}">
        <p14:creationId xmlns:p14="http://schemas.microsoft.com/office/powerpoint/2010/main" val="385645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5" grpId="0"/>
      <p:bldP spid="4" grpId="0"/>
      <p:bldP spid="6" grpId="0"/>
      <p:bldP spid="7" grpId="0"/>
      <p:bldP spid="9" grpId="0" animBg="1"/>
      <p:bldP spid="17" grpId="0"/>
      <p:bldP spid="18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02F4A-30A2-34C3-3FFA-ADEBAF322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DD4CC08-4E3F-DFA0-1D72-6282498186C9}"/>
              </a:ext>
            </a:extLst>
          </p:cNvPr>
          <p:cNvSpPr txBox="1"/>
          <p:nvPr/>
        </p:nvSpPr>
        <p:spPr>
          <a:xfrm>
            <a:off x="677052" y="2876963"/>
            <a:ext cx="278512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/>
              <a:t>Mathematical</a:t>
            </a:r>
            <a:br>
              <a:rPr lang="en-US" sz="3600" dirty="0"/>
            </a:br>
            <a:r>
              <a:rPr lang="en-US" sz="3600" dirty="0"/>
              <a:t>relationships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C58D8E-EF00-B1E3-6CB2-70D5A8EC9337}"/>
              </a:ext>
            </a:extLst>
          </p:cNvPr>
          <p:cNvSpPr txBox="1"/>
          <p:nvPr/>
        </p:nvSpPr>
        <p:spPr>
          <a:xfrm>
            <a:off x="5855305" y="2876962"/>
            <a:ext cx="25454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/>
              <a:t>Physical</a:t>
            </a:r>
            <a:br>
              <a:rPr lang="en-US" sz="3600" dirty="0"/>
            </a:br>
            <a:r>
              <a:rPr lang="en-US" sz="3600" dirty="0"/>
              <a:t>assumptions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AD6E08-8A6C-8596-C4B7-86C493B87A27}"/>
              </a:ext>
            </a:extLst>
          </p:cNvPr>
          <p:cNvSpPr txBox="1"/>
          <p:nvPr/>
        </p:nvSpPr>
        <p:spPr>
          <a:xfrm>
            <a:off x="184646" y="168442"/>
            <a:ext cx="119890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To have a physically meaningful and mathematically precise foundation for physics, we need</a:t>
            </a:r>
            <a:br>
              <a:rPr lang="en-US" sz="2400" dirty="0"/>
            </a:br>
            <a:r>
              <a:rPr lang="en-US" sz="2400" dirty="0"/>
              <a:t>to understand exactly what mathematical property corresponds to which physical requirement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C28A0F-5853-D4C9-3E79-C29939D293CC}"/>
              </a:ext>
            </a:extLst>
          </p:cNvPr>
          <p:cNvSpPr/>
          <p:nvPr/>
        </p:nvSpPr>
        <p:spPr>
          <a:xfrm>
            <a:off x="336884" y="4572000"/>
            <a:ext cx="8656721" cy="190098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Base theory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0EF2B11-E832-678D-DC40-A78D9794139D}"/>
                  </a:ext>
                </a:extLst>
              </p:cNvPr>
              <p:cNvSpPr txBox="1"/>
              <p:nvPr/>
            </p:nvSpPr>
            <p:spPr>
              <a:xfrm>
                <a:off x="4195668" y="3061627"/>
                <a:ext cx="1050288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0EF2B11-E832-678D-DC40-A78D979413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5668" y="3061627"/>
                <a:ext cx="1050288" cy="8309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C786AE5B-23E3-5A05-1517-B3465D164E56}"/>
              </a:ext>
            </a:extLst>
          </p:cNvPr>
          <p:cNvSpPr txBox="1"/>
          <p:nvPr/>
        </p:nvSpPr>
        <p:spPr>
          <a:xfrm>
            <a:off x="8830139" y="1355650"/>
            <a:ext cx="269387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6">
                    <a:lumMod val="75000"/>
                  </a:schemeClr>
                </a:solidFill>
              </a:rPr>
              <a:t>Reverse</a:t>
            </a:r>
            <a:br>
              <a:rPr lang="en-US" sz="6000" b="1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6000" b="1" dirty="0">
                <a:solidFill>
                  <a:schemeClr val="accent6">
                    <a:lumMod val="75000"/>
                  </a:schemeClr>
                </a:solidFill>
              </a:rPr>
              <a:t>physics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152410-9C78-07ED-383A-BD6D1A67A802}"/>
              </a:ext>
            </a:extLst>
          </p:cNvPr>
          <p:cNvSpPr txBox="1"/>
          <p:nvPr/>
        </p:nvSpPr>
        <p:spPr>
          <a:xfrm>
            <a:off x="1457169" y="1678815"/>
            <a:ext cx="76737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When the math is derived from the right physical assumptions,</a:t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the physical assumptions can be derived from the math</a:t>
            </a:r>
          </a:p>
        </p:txBody>
      </p:sp>
    </p:spTree>
    <p:extLst>
      <p:ext uri="{BB962C8B-B14F-4D97-AF65-F5344CB8AC3E}">
        <p14:creationId xmlns:p14="http://schemas.microsoft.com/office/powerpoint/2010/main" val="530502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7" grpId="0" animBg="1"/>
      <p:bldP spid="18" grpId="0"/>
      <p:bldP spid="19" grpId="0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2E282F-AD9E-6F67-DB17-B753AC8E761A}"/>
              </a:ext>
            </a:extLst>
          </p:cNvPr>
          <p:cNvSpPr/>
          <p:nvPr/>
        </p:nvSpPr>
        <p:spPr>
          <a:xfrm>
            <a:off x="336884" y="4572000"/>
            <a:ext cx="8656721" cy="190098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AE417B-5CBC-0E52-1E7F-ED550B2136FE}"/>
              </a:ext>
            </a:extLst>
          </p:cNvPr>
          <p:cNvSpPr txBox="1"/>
          <p:nvPr/>
        </p:nvSpPr>
        <p:spPr>
          <a:xfrm>
            <a:off x="433136" y="4671627"/>
            <a:ext cx="512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Base theory: classical states for 1 degree of freedom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1A55473-5CB0-F8CF-53DB-2C6C6EEDE4CE}"/>
                  </a:ext>
                </a:extLst>
              </p:cNvPr>
              <p:cNvSpPr txBox="1"/>
              <p:nvPr/>
            </p:nvSpPr>
            <p:spPr>
              <a:xfrm>
                <a:off x="1586939" y="5124074"/>
                <a:ext cx="370434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State: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1A55473-5CB0-F8CF-53DB-2C6C6EEDE4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6939" y="5124074"/>
                <a:ext cx="3704347" cy="523220"/>
              </a:xfrm>
              <a:prstGeom prst="rect">
                <a:avLst/>
              </a:prstGeom>
              <a:blipFill>
                <a:blip r:embed="rId2"/>
                <a:stretch>
                  <a:fillRect l="-3289" t="-11765" b="-3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EA3FAC-6429-CD5F-B3B7-AFD014A57BA4}"/>
                  </a:ext>
                </a:extLst>
              </p:cNvPr>
              <p:cNvSpPr txBox="1"/>
              <p:nvPr/>
            </p:nvSpPr>
            <p:spPr>
              <a:xfrm>
                <a:off x="1586939" y="5739627"/>
                <a:ext cx="6120522" cy="5925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Count of states: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supHide m:val="on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  <m:sup/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nary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supHide m:val="on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  <m:sup/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nary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EA3FAC-6429-CD5F-B3B7-AFD014A57B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6939" y="5739627"/>
                <a:ext cx="6120522" cy="592535"/>
              </a:xfrm>
              <a:prstGeom prst="rect">
                <a:avLst/>
              </a:prstGeom>
              <a:blipFill>
                <a:blip r:embed="rId3"/>
                <a:stretch>
                  <a:fillRect l="-1992" t="-8247" b="-195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25839FE-60DD-F220-4B8E-F1D976EFDD34}"/>
                  </a:ext>
                </a:extLst>
              </p:cNvPr>
              <p:cNvSpPr txBox="1"/>
              <p:nvPr/>
            </p:nvSpPr>
            <p:spPr>
              <a:xfrm>
                <a:off x="647574" y="3421172"/>
                <a:ext cx="2165145" cy="9661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br>
                  <a:rPr lang="en-US" b="0" dirty="0"/>
                </a:br>
                <a:r>
                  <a:rPr lang="en-US" dirty="0"/>
                  <a:t>Hamilton’s equations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25839FE-60DD-F220-4B8E-F1D976EFD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574" y="3421172"/>
                <a:ext cx="2165145" cy="966162"/>
              </a:xfrm>
              <a:prstGeom prst="rect">
                <a:avLst/>
              </a:prstGeom>
              <a:blipFill>
                <a:blip r:embed="rId4"/>
                <a:stretch>
                  <a:fillRect l="-2254" r="-2535" b="-8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519E63A-358E-A6C8-AF42-9C31D878F1D5}"/>
                  </a:ext>
                </a:extLst>
              </p:cNvPr>
              <p:cNvSpPr txBox="1"/>
              <p:nvPr/>
            </p:nvSpPr>
            <p:spPr>
              <a:xfrm>
                <a:off x="3703185" y="3968091"/>
                <a:ext cx="1862946" cy="3693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p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𝑎𝑏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br>
                  <a:rPr lang="en-US" b="0" dirty="0"/>
                </a:br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519E63A-358E-A6C8-AF42-9C31D878F1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3185" y="3968091"/>
                <a:ext cx="1862946" cy="369397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319BD80-2E6D-6A4C-6270-209CB452C450}"/>
                  </a:ext>
                </a:extLst>
              </p:cNvPr>
              <p:cNvSpPr txBox="1"/>
              <p:nvPr/>
            </p:nvSpPr>
            <p:spPr>
              <a:xfrm>
                <a:off x="1388402" y="357656"/>
                <a:ext cx="1695464" cy="3693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br>
                  <a:rPr lang="en-US" b="0" dirty="0"/>
                </a:br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319BD80-2E6D-6A4C-6270-209CB452C4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8402" y="357656"/>
                <a:ext cx="1695464" cy="369397"/>
              </a:xfrm>
              <a:prstGeom prst="rect">
                <a:avLst/>
              </a:prstGeom>
              <a:blipFill>
                <a:blip r:embed="rId6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D672D5E-EF34-3A94-9950-B680B900A616}"/>
                  </a:ext>
                </a:extLst>
              </p:cNvPr>
              <p:cNvSpPr txBox="1"/>
              <p:nvPr/>
            </p:nvSpPr>
            <p:spPr>
              <a:xfrm>
                <a:off x="4981970" y="306810"/>
                <a:ext cx="1797223" cy="3693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𝜇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br>
                  <a:rPr lang="en-US" b="0" dirty="0"/>
                </a:br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D672D5E-EF34-3A94-9950-B680B900A6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1970" y="306810"/>
                <a:ext cx="1797223" cy="369397"/>
              </a:xfrm>
              <a:prstGeom prst="rect">
                <a:avLst/>
              </a:prstGeom>
              <a:blipFill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17E8FD2-109F-B61A-C61C-D6A24EF4FC5A}"/>
                  </a:ext>
                </a:extLst>
              </p:cNvPr>
              <p:cNvSpPr txBox="1"/>
              <p:nvPr/>
            </p:nvSpPr>
            <p:spPr>
              <a:xfrm>
                <a:off x="9295985" y="507134"/>
                <a:ext cx="2218236" cy="4121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nary>
                      <m:naryPr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</m:fun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17E8FD2-109F-B61A-C61C-D6A24EF4F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5985" y="507134"/>
                <a:ext cx="2218236" cy="412164"/>
              </a:xfrm>
              <a:prstGeom prst="rect">
                <a:avLst/>
              </a:prstGeom>
              <a:blipFill>
                <a:blip r:embed="rId8"/>
                <a:stretch>
                  <a:fillRect l="-7143" t="-132353" b="-19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197533C-7FF0-BF6C-3880-09E296593468}"/>
                  </a:ext>
                </a:extLst>
              </p:cNvPr>
              <p:cNvSpPr txBox="1"/>
              <p:nvPr/>
            </p:nvSpPr>
            <p:spPr>
              <a:xfrm>
                <a:off x="9822182" y="2057399"/>
                <a:ext cx="2249975" cy="5742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𝑐𝑜𝑣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≈0</m:t>
                      </m:r>
                    </m:oMath>
                  </m:oMathPara>
                </a14:m>
                <a:br>
                  <a:rPr lang="en-US" dirty="0"/>
                </a:br>
                <a:r>
                  <a:rPr lang="en-US" sz="1100" dirty="0"/>
                  <a:t> (for peaked distributions)</a:t>
                </a:r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197533C-7FF0-BF6C-3880-09E2965934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2182" y="2057399"/>
                <a:ext cx="2249975" cy="574260"/>
              </a:xfrm>
              <a:prstGeom prst="rect">
                <a:avLst/>
              </a:prstGeom>
              <a:blipFill>
                <a:blip r:embed="rId9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8E6531F4-6378-4D38-3EC2-DE743BDC36EA}"/>
              </a:ext>
            </a:extLst>
          </p:cNvPr>
          <p:cNvSpPr txBox="1"/>
          <p:nvPr/>
        </p:nvSpPr>
        <p:spPr>
          <a:xfrm>
            <a:off x="3592042" y="2110676"/>
            <a:ext cx="377674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/>
              <a:t>Determinism and</a:t>
            </a:r>
            <a:br>
              <a:rPr lang="en-US" sz="4000" dirty="0"/>
            </a:br>
            <a:r>
              <a:rPr lang="en-US" sz="4000" dirty="0"/>
              <a:t>reversibility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65EE3A-6A8D-56AF-A095-5B51C93B78CE}"/>
              </a:ext>
            </a:extLst>
          </p:cNvPr>
          <p:cNvSpPr txBox="1"/>
          <p:nvPr/>
        </p:nvSpPr>
        <p:spPr>
          <a:xfrm>
            <a:off x="4647200" y="1012025"/>
            <a:ext cx="24667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Conservation of</a:t>
            </a:r>
            <a:br>
              <a:rPr lang="en-US" dirty="0"/>
            </a:br>
            <a:r>
              <a:rPr lang="en-US" dirty="0"/>
              <a:t>thermodynamic entropy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9CBE6F-960D-FF74-BA5A-08086780727E}"/>
              </a:ext>
            </a:extLst>
          </p:cNvPr>
          <p:cNvSpPr txBox="1"/>
          <p:nvPr/>
        </p:nvSpPr>
        <p:spPr>
          <a:xfrm>
            <a:off x="7619697" y="1213128"/>
            <a:ext cx="20801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Conservation of</a:t>
            </a:r>
            <a:br>
              <a:rPr lang="en-US" dirty="0"/>
            </a:br>
            <a:r>
              <a:rPr lang="en-US" dirty="0"/>
              <a:t>information entropy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374D2F-6EB5-7C48-1AB9-D4B87807853F}"/>
              </a:ext>
            </a:extLst>
          </p:cNvPr>
          <p:cNvSpPr txBox="1"/>
          <p:nvPr/>
        </p:nvSpPr>
        <p:spPr>
          <a:xfrm>
            <a:off x="8032567" y="2811629"/>
            <a:ext cx="16672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Conservation of</a:t>
            </a:r>
            <a:br>
              <a:rPr lang="en-US" dirty="0"/>
            </a:br>
            <a:r>
              <a:rPr lang="en-US" dirty="0"/>
              <a:t>uncertainty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7489DF-3086-0E7E-49C8-FFEDF759A533}"/>
              </a:ext>
            </a:extLst>
          </p:cNvPr>
          <p:cNvSpPr txBox="1"/>
          <p:nvPr/>
        </p:nvSpPr>
        <p:spPr>
          <a:xfrm>
            <a:off x="2641352" y="1056731"/>
            <a:ext cx="16672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Conservation of</a:t>
            </a:r>
            <a:br>
              <a:rPr lang="en-US" dirty="0"/>
            </a:br>
            <a:r>
              <a:rPr lang="en-US" dirty="0"/>
              <a:t>state count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DD8FC8B-00A3-5623-8DB5-C8D4F088A7DE}"/>
                  </a:ext>
                </a:extLst>
              </p:cNvPr>
              <p:cNvSpPr txBox="1"/>
              <p:nvPr/>
            </p:nvSpPr>
            <p:spPr>
              <a:xfrm>
                <a:off x="476020" y="2134072"/>
                <a:ext cx="167526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𝑎𝑏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br>
                  <a:rPr lang="en-US" b="0" dirty="0"/>
                </a:br>
                <a:r>
                  <a:rPr lang="en-US" sz="1400" b="0" dirty="0" err="1"/>
                  <a:t>symplectomorphism</a:t>
                </a:r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DD8FC8B-00A3-5623-8DB5-C8D4F088A7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20" y="2134072"/>
                <a:ext cx="1675267" cy="584775"/>
              </a:xfrm>
              <a:prstGeom prst="rect">
                <a:avLst/>
              </a:prstGeom>
              <a:blipFill>
                <a:blip r:embed="rId10"/>
                <a:stretch>
                  <a:fillRect l="-1091" b="-10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D54F339-8507-99DD-B66E-F298CBC1D2A7}"/>
                  </a:ext>
                </a:extLst>
              </p:cNvPr>
              <p:cNvSpPr txBox="1"/>
              <p:nvPr/>
            </p:nvSpPr>
            <p:spPr>
              <a:xfrm>
                <a:off x="6625870" y="3930793"/>
                <a:ext cx="2227597" cy="3743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br>
                  <a:rPr lang="en-US" b="0" dirty="0"/>
                </a:br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D54F339-8507-99DD-B66E-F298CBC1D2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5870" y="3930793"/>
                <a:ext cx="2227597" cy="374333"/>
              </a:xfrm>
              <a:prstGeom prst="rect">
                <a:avLst/>
              </a:prstGeom>
              <a:blipFill>
                <a:blip r:embed="rId11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3A09650-F58B-648C-B6CE-FA0D2B7D2955}"/>
                  </a:ext>
                </a:extLst>
              </p:cNvPr>
              <p:cNvSpPr txBox="1"/>
              <p:nvPr/>
            </p:nvSpPr>
            <p:spPr>
              <a:xfrm rot="5400000">
                <a:off x="5572645" y="1669152"/>
                <a:ext cx="6158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3A09650-F58B-648C-B6CE-FA0D2B7D29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572645" y="1669152"/>
                <a:ext cx="615874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8E1F819-0422-ADF9-B513-F067892FE4AE}"/>
                  </a:ext>
                </a:extLst>
              </p:cNvPr>
              <p:cNvSpPr txBox="1"/>
              <p:nvPr/>
            </p:nvSpPr>
            <p:spPr>
              <a:xfrm rot="3241535">
                <a:off x="3646179" y="1645179"/>
                <a:ext cx="6158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8E1F819-0422-ADF9-B513-F067892FE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241535">
                <a:off x="3646179" y="1645179"/>
                <a:ext cx="615874" cy="4616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F4AB99A-4A1F-80EB-502F-188332DDB536}"/>
                  </a:ext>
                </a:extLst>
              </p:cNvPr>
              <p:cNvSpPr txBox="1"/>
              <p:nvPr/>
            </p:nvSpPr>
            <p:spPr>
              <a:xfrm rot="19225435">
                <a:off x="7438246" y="1922456"/>
                <a:ext cx="6158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F4AB99A-4A1F-80EB-502F-188332DDB5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225435">
                <a:off x="7438246" y="1922456"/>
                <a:ext cx="615874" cy="46166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5027ADB-4EAA-45D8-BA24-855F174E07E5}"/>
                  </a:ext>
                </a:extLst>
              </p:cNvPr>
              <p:cNvSpPr txBox="1"/>
              <p:nvPr/>
            </p:nvSpPr>
            <p:spPr>
              <a:xfrm>
                <a:off x="7283606" y="2846365"/>
                <a:ext cx="6158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5027ADB-4EAA-45D8-BA24-855F174E07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3606" y="2846365"/>
                <a:ext cx="615874" cy="46166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4F4400B-8DED-78C6-48D8-A3453ED0A0CC}"/>
                  </a:ext>
                </a:extLst>
              </p:cNvPr>
              <p:cNvSpPr txBox="1"/>
              <p:nvPr/>
            </p:nvSpPr>
            <p:spPr>
              <a:xfrm rot="5400000">
                <a:off x="5572643" y="657776"/>
                <a:ext cx="6158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4F4400B-8DED-78C6-48D8-A3453ED0A0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572643" y="657776"/>
                <a:ext cx="615874" cy="46166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67B0919-7E4A-E2FB-6C7D-21E55A4DAEF6}"/>
                  </a:ext>
                </a:extLst>
              </p:cNvPr>
              <p:cNvSpPr txBox="1"/>
              <p:nvPr/>
            </p:nvSpPr>
            <p:spPr>
              <a:xfrm rot="2621539">
                <a:off x="2364864" y="638260"/>
                <a:ext cx="6158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67B0919-7E4A-E2FB-6C7D-21E55A4DAE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621539">
                <a:off x="2364864" y="638260"/>
                <a:ext cx="615874" cy="46166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C697B55-E0AF-AC78-7EAC-09D85AF3D308}"/>
                  </a:ext>
                </a:extLst>
              </p:cNvPr>
              <p:cNvSpPr txBox="1"/>
              <p:nvPr/>
            </p:nvSpPr>
            <p:spPr>
              <a:xfrm rot="19536130">
                <a:off x="9587933" y="2580796"/>
                <a:ext cx="6158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C697B55-E0AF-AC78-7EAC-09D85AF3D3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36130">
                <a:off x="9587933" y="2580796"/>
                <a:ext cx="615874" cy="46166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A588409-0C66-382C-ABA3-63CCDEACAB06}"/>
                  </a:ext>
                </a:extLst>
              </p:cNvPr>
              <p:cNvSpPr txBox="1"/>
              <p:nvPr/>
            </p:nvSpPr>
            <p:spPr>
              <a:xfrm rot="19536130">
                <a:off x="9400862" y="933346"/>
                <a:ext cx="6158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A588409-0C66-382C-ABA3-63CCDEACAB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36130">
                <a:off x="9400862" y="933346"/>
                <a:ext cx="615874" cy="46166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92FD6D0-34CC-1C93-EFD1-E4EBDBB62803}"/>
                  </a:ext>
                </a:extLst>
              </p:cNvPr>
              <p:cNvSpPr txBox="1"/>
              <p:nvPr/>
            </p:nvSpPr>
            <p:spPr>
              <a:xfrm rot="4632885">
                <a:off x="10389736" y="1297779"/>
                <a:ext cx="6158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92FD6D0-34CC-1C93-EFD1-E4EBDBB628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4632885">
                <a:off x="10389736" y="1297779"/>
                <a:ext cx="615874" cy="46166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4A98AD7-C47E-DBE9-E11B-8F95EDFEA3A9}"/>
                  </a:ext>
                </a:extLst>
              </p:cNvPr>
              <p:cNvSpPr txBox="1"/>
              <p:nvPr/>
            </p:nvSpPr>
            <p:spPr>
              <a:xfrm>
                <a:off x="7816019" y="383618"/>
                <a:ext cx="6158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4A98AD7-C47E-DBE9-E11B-8F95EDFEA3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6019" y="383618"/>
                <a:ext cx="615874" cy="461665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55CBFCC-AE52-A8BA-E3EE-0B5EF88513B6}"/>
                  </a:ext>
                </a:extLst>
              </p:cNvPr>
              <p:cNvSpPr txBox="1"/>
              <p:nvPr/>
            </p:nvSpPr>
            <p:spPr>
              <a:xfrm>
                <a:off x="3749524" y="256956"/>
                <a:ext cx="6158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55CBFCC-AE52-A8BA-E3EE-0B5EF88513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9524" y="256956"/>
                <a:ext cx="615874" cy="461665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D214C98-BA48-FE3A-2BA5-24560A13225B}"/>
                  </a:ext>
                </a:extLst>
              </p:cNvPr>
              <p:cNvSpPr txBox="1"/>
              <p:nvPr/>
            </p:nvSpPr>
            <p:spPr>
              <a:xfrm rot="18238036">
                <a:off x="1186608" y="1284367"/>
                <a:ext cx="6158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D214C98-BA48-FE3A-2BA5-24560A1322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238036">
                <a:off x="1186608" y="1284367"/>
                <a:ext cx="615874" cy="461665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29C148F-FF19-F758-CD7C-00CB91F3806B}"/>
                  </a:ext>
                </a:extLst>
              </p:cNvPr>
              <p:cNvSpPr txBox="1"/>
              <p:nvPr/>
            </p:nvSpPr>
            <p:spPr>
              <a:xfrm rot="3944416">
                <a:off x="1141512" y="2877319"/>
                <a:ext cx="6158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29C148F-FF19-F758-CD7C-00CB91F380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944416">
                <a:off x="1141512" y="2877319"/>
                <a:ext cx="615874" cy="461665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0C9616B-D56C-5BF3-A554-E969427AD9D0}"/>
                  </a:ext>
                </a:extLst>
              </p:cNvPr>
              <p:cNvSpPr txBox="1"/>
              <p:nvPr/>
            </p:nvSpPr>
            <p:spPr>
              <a:xfrm>
                <a:off x="5880580" y="3904253"/>
                <a:ext cx="6158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0C9616B-D56C-5BF3-A554-E969427AD9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0580" y="3904253"/>
                <a:ext cx="615874" cy="461665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3A4458B-8714-BD21-C840-C9589BE960A5}"/>
                  </a:ext>
                </a:extLst>
              </p:cNvPr>
              <p:cNvSpPr txBox="1"/>
              <p:nvPr/>
            </p:nvSpPr>
            <p:spPr>
              <a:xfrm>
                <a:off x="2970544" y="3930793"/>
                <a:ext cx="6158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3A4458B-8714-BD21-C840-C9589BE960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0544" y="3930793"/>
                <a:ext cx="615874" cy="461665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542DD2D8-E395-AFC4-ECDA-B4F19F920EFA}"/>
              </a:ext>
            </a:extLst>
          </p:cNvPr>
          <p:cNvSpPr txBox="1"/>
          <p:nvPr/>
        </p:nvSpPr>
        <p:spPr>
          <a:xfrm>
            <a:off x="8375414" y="3460294"/>
            <a:ext cx="35618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All equivalent conditions!!!</a:t>
            </a:r>
          </a:p>
        </p:txBody>
      </p:sp>
    </p:spTree>
    <p:extLst>
      <p:ext uri="{BB962C8B-B14F-4D97-AF65-F5344CB8AC3E}">
        <p14:creationId xmlns:p14="http://schemas.microsoft.com/office/powerpoint/2010/main" val="229602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  <p:bldP spid="12" grpId="0"/>
      <p:bldP spid="15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80E4F-FA44-491F-DA86-312057EAB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A4FD5-A6FE-8537-3E16-61535F83D8DB}"/>
              </a:ext>
            </a:extLst>
          </p:cNvPr>
          <p:cNvSpPr/>
          <p:nvPr/>
        </p:nvSpPr>
        <p:spPr>
          <a:xfrm>
            <a:off x="336884" y="4572000"/>
            <a:ext cx="8656721" cy="190098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5982D5-6412-089B-218D-DF1059AD4754}"/>
              </a:ext>
            </a:extLst>
          </p:cNvPr>
          <p:cNvSpPr txBox="1"/>
          <p:nvPr/>
        </p:nvSpPr>
        <p:spPr>
          <a:xfrm>
            <a:off x="433136" y="4671627"/>
            <a:ext cx="3317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Base theory: quantum mechanics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1E9D1B7-B150-C099-96E9-1A67F386EDF4}"/>
                  </a:ext>
                </a:extLst>
              </p:cNvPr>
              <p:cNvSpPr txBox="1"/>
              <p:nvPr/>
            </p:nvSpPr>
            <p:spPr>
              <a:xfrm>
                <a:off x="1586939" y="5124074"/>
                <a:ext cx="266739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State: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ℋ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1E9D1B7-B150-C099-96E9-1A67F386ED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6939" y="5124074"/>
                <a:ext cx="2667397" cy="523220"/>
              </a:xfrm>
              <a:prstGeom prst="rect">
                <a:avLst/>
              </a:prstGeom>
              <a:blipFill>
                <a:blip r:embed="rId2"/>
                <a:stretch>
                  <a:fillRect l="-4566" t="-11765" b="-3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48FE050-4DF0-B4E1-E2B1-BACEDF897532}"/>
                  </a:ext>
                </a:extLst>
              </p:cNvPr>
              <p:cNvSpPr txBox="1"/>
              <p:nvPr/>
            </p:nvSpPr>
            <p:spPr>
              <a:xfrm>
                <a:off x="1586939" y="5739627"/>
                <a:ext cx="671914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Probability of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sz="2800" dirty="0"/>
                  <a:t> given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2800" dirty="0"/>
                  <a:t>: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48FE050-4DF0-B4E1-E2B1-BACEDF8975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6939" y="5739627"/>
                <a:ext cx="6719147" cy="523220"/>
              </a:xfrm>
              <a:prstGeom prst="rect">
                <a:avLst/>
              </a:prstGeom>
              <a:blipFill>
                <a:blip r:embed="rId3"/>
                <a:stretch>
                  <a:fillRect l="-1813" t="-11765" b="-3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89CD0C1-73A7-79F4-DB4B-7A6F291EA3EA}"/>
                  </a:ext>
                </a:extLst>
              </p:cNvPr>
              <p:cNvSpPr txBox="1"/>
              <p:nvPr/>
            </p:nvSpPr>
            <p:spPr>
              <a:xfrm>
                <a:off x="647574" y="3421172"/>
                <a:ext cx="2201500" cy="6677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ℏ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begChr m:val="|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</m:oMath>
                  </m:oMathPara>
                </a14:m>
                <a:br>
                  <a:rPr lang="en-US" b="0" dirty="0"/>
                </a:br>
                <a:r>
                  <a:rPr lang="en-US" dirty="0"/>
                  <a:t>Schrödinger equation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89CD0C1-73A7-79F4-DB4B-7A6F291EA3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574" y="3421172"/>
                <a:ext cx="2201500" cy="667747"/>
              </a:xfrm>
              <a:prstGeom prst="rect">
                <a:avLst/>
              </a:prstGeom>
              <a:blipFill>
                <a:blip r:embed="rId4"/>
                <a:stretch>
                  <a:fillRect l="-2216" r="-2216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ADBE4F0-A32E-7D7B-F11A-AC4710BD373D}"/>
                  </a:ext>
                </a:extLst>
              </p:cNvPr>
              <p:cNvSpPr txBox="1"/>
              <p:nvPr/>
            </p:nvSpPr>
            <p:spPr>
              <a:xfrm>
                <a:off x="713196" y="190135"/>
                <a:ext cx="2873222" cy="4834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(0)=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dirty="0"/>
                  <a:t>  iff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𝚤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ℏ</m:t>
                            </m:r>
                          </m:den>
                        </m:f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ADBE4F0-A32E-7D7B-F11A-AC4710BD37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196" y="190135"/>
                <a:ext cx="2873222" cy="483466"/>
              </a:xfrm>
              <a:prstGeom prst="rect">
                <a:avLst/>
              </a:prstGeom>
              <a:blipFill>
                <a:blip r:embed="rId5"/>
                <a:stretch>
                  <a:fillRect b="-202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A65A9FC-FF59-5FB6-21D5-A73D67A21B36}"/>
                  </a:ext>
                </a:extLst>
              </p:cNvPr>
              <p:cNvSpPr txBox="1"/>
              <p:nvPr/>
            </p:nvSpPr>
            <p:spPr>
              <a:xfrm>
                <a:off x="4981970" y="306810"/>
                <a:ext cx="2098460" cy="3693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tr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</m:fun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br>
                  <a:rPr lang="en-US" b="0" dirty="0"/>
                </a:br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A65A9FC-FF59-5FB6-21D5-A73D67A21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1970" y="306810"/>
                <a:ext cx="2098460" cy="369397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F8562AA-1F32-143C-AE14-AFF1A1218E45}"/>
                  </a:ext>
                </a:extLst>
              </p:cNvPr>
              <p:cNvSpPr txBox="1"/>
              <p:nvPr/>
            </p:nvSpPr>
            <p:spPr>
              <a:xfrm>
                <a:off x="10199073" y="499760"/>
                <a:ext cx="4106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F8562AA-1F32-143C-AE14-AFF1A1218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9073" y="499760"/>
                <a:ext cx="41068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1F5285A1-0706-DEC2-E8FD-0B234C136722}"/>
              </a:ext>
            </a:extLst>
          </p:cNvPr>
          <p:cNvSpPr txBox="1"/>
          <p:nvPr/>
        </p:nvSpPr>
        <p:spPr>
          <a:xfrm>
            <a:off x="3592042" y="2110676"/>
            <a:ext cx="377674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/>
              <a:t>Determinism and</a:t>
            </a:r>
            <a:br>
              <a:rPr lang="en-US" sz="4000" dirty="0"/>
            </a:br>
            <a:r>
              <a:rPr lang="en-US" sz="4000" dirty="0"/>
              <a:t>reversibility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D7E5DC-65A6-28D8-66AD-3B583E2D44B3}"/>
              </a:ext>
            </a:extLst>
          </p:cNvPr>
          <p:cNvSpPr txBox="1"/>
          <p:nvPr/>
        </p:nvSpPr>
        <p:spPr>
          <a:xfrm>
            <a:off x="4840522" y="1012025"/>
            <a:ext cx="20801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Conservation of</a:t>
            </a:r>
            <a:br>
              <a:rPr lang="en-US" dirty="0"/>
            </a:br>
            <a:r>
              <a:rPr lang="en-US" dirty="0"/>
              <a:t>information entropy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F6DA61-2052-32A6-F95A-52357B08942A}"/>
              </a:ext>
            </a:extLst>
          </p:cNvPr>
          <p:cNvSpPr txBox="1"/>
          <p:nvPr/>
        </p:nvSpPr>
        <p:spPr>
          <a:xfrm>
            <a:off x="8431893" y="1391205"/>
            <a:ext cx="343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FA3F02-0F48-0A3F-3A98-C880B9B07660}"/>
              </a:ext>
            </a:extLst>
          </p:cNvPr>
          <p:cNvSpPr txBox="1"/>
          <p:nvPr/>
        </p:nvSpPr>
        <p:spPr>
          <a:xfrm>
            <a:off x="2415684" y="1056731"/>
            <a:ext cx="21185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Bijective map of</a:t>
            </a:r>
            <a:br>
              <a:rPr lang="en-US" dirty="0"/>
            </a:br>
            <a:r>
              <a:rPr lang="en-US" dirty="0"/>
              <a:t>state and probability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A1E5C36-71D4-C653-3198-92ED968936CD}"/>
                  </a:ext>
                </a:extLst>
              </p:cNvPr>
              <p:cNvSpPr txBox="1"/>
              <p:nvPr/>
            </p:nvSpPr>
            <p:spPr>
              <a:xfrm>
                <a:off x="340760" y="2134072"/>
                <a:ext cx="2302040" cy="7202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</m:den>
                          </m:f>
                        </m:sup>
                      </m:sSup>
                      <m:d>
                        <m:dPr>
                          <m:begChr m:val="|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</m:oMath>
                  </m:oMathPara>
                </a14:m>
                <a:br>
                  <a:rPr lang="en-US" b="0" dirty="0"/>
                </a:br>
                <a:r>
                  <a:rPr lang="en-US" sz="1400" b="0" dirty="0"/>
                  <a:t>unitary evolution</a:t>
                </a:r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A1E5C36-71D4-C653-3198-92ED968936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760" y="2134072"/>
                <a:ext cx="2302040" cy="720262"/>
              </a:xfrm>
              <a:prstGeom prst="rect">
                <a:avLst/>
              </a:prstGeom>
              <a:blipFill>
                <a:blip r:embed="rId8"/>
                <a:stretch>
                  <a:fillRect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765EC62-2BD3-8ADE-996D-7E532B4C9A97}"/>
                  </a:ext>
                </a:extLst>
              </p:cNvPr>
              <p:cNvSpPr txBox="1"/>
              <p:nvPr/>
            </p:nvSpPr>
            <p:spPr>
              <a:xfrm rot="5400000">
                <a:off x="5572645" y="1669152"/>
                <a:ext cx="6158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765EC62-2BD3-8ADE-996D-7E532B4C9A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572645" y="1669152"/>
                <a:ext cx="615874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72BB979-9EC8-D90E-FE78-741F570C023D}"/>
                  </a:ext>
                </a:extLst>
              </p:cNvPr>
              <p:cNvSpPr txBox="1"/>
              <p:nvPr/>
            </p:nvSpPr>
            <p:spPr>
              <a:xfrm rot="3241535">
                <a:off x="3646179" y="1645179"/>
                <a:ext cx="6158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72BB979-9EC8-D90E-FE78-741F570C02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241535">
                <a:off x="3646179" y="1645179"/>
                <a:ext cx="615874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EE5FBE9-E4B2-EF5F-15D4-66B15FA399F0}"/>
                  </a:ext>
                </a:extLst>
              </p:cNvPr>
              <p:cNvSpPr txBox="1"/>
              <p:nvPr/>
            </p:nvSpPr>
            <p:spPr>
              <a:xfrm rot="19225435">
                <a:off x="7438246" y="1922456"/>
                <a:ext cx="6158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EE5FBE9-E4B2-EF5F-15D4-66B15FA399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225435">
                <a:off x="7438246" y="1922456"/>
                <a:ext cx="615874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CC6D04F-D96A-DF41-A9AC-B3AF2A90AC44}"/>
                  </a:ext>
                </a:extLst>
              </p:cNvPr>
              <p:cNvSpPr txBox="1"/>
              <p:nvPr/>
            </p:nvSpPr>
            <p:spPr>
              <a:xfrm rot="5400000">
                <a:off x="5572643" y="657776"/>
                <a:ext cx="6158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CC6D04F-D96A-DF41-A9AC-B3AF2A90A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572643" y="657776"/>
                <a:ext cx="615874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4D300B3-DA02-4EE1-C433-F9C6E2288C14}"/>
                  </a:ext>
                </a:extLst>
              </p:cNvPr>
              <p:cNvSpPr txBox="1"/>
              <p:nvPr/>
            </p:nvSpPr>
            <p:spPr>
              <a:xfrm rot="2621539">
                <a:off x="2364864" y="638260"/>
                <a:ext cx="6158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4D300B3-DA02-4EE1-C433-F9C6E2288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621539">
                <a:off x="2364864" y="638260"/>
                <a:ext cx="615874" cy="4616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64A6BAD-AC94-F3A1-8E99-CE697E4FD9F5}"/>
                  </a:ext>
                </a:extLst>
              </p:cNvPr>
              <p:cNvSpPr txBox="1"/>
              <p:nvPr/>
            </p:nvSpPr>
            <p:spPr>
              <a:xfrm rot="19536130">
                <a:off x="9400862" y="933346"/>
                <a:ext cx="6158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64A6BAD-AC94-F3A1-8E99-CE697E4FD9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36130">
                <a:off x="9400862" y="933346"/>
                <a:ext cx="615874" cy="46166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CB7D800-E306-0F3D-7BF8-9ED5F40E9503}"/>
                  </a:ext>
                </a:extLst>
              </p:cNvPr>
              <p:cNvSpPr txBox="1"/>
              <p:nvPr/>
            </p:nvSpPr>
            <p:spPr>
              <a:xfrm>
                <a:off x="7816019" y="383618"/>
                <a:ext cx="6158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CB7D800-E306-0F3D-7BF8-9ED5F40E95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6019" y="383618"/>
                <a:ext cx="615874" cy="46166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1257D18-1951-91F8-5904-5B4DD14FD3B7}"/>
                  </a:ext>
                </a:extLst>
              </p:cNvPr>
              <p:cNvSpPr txBox="1"/>
              <p:nvPr/>
            </p:nvSpPr>
            <p:spPr>
              <a:xfrm>
                <a:off x="3749524" y="256956"/>
                <a:ext cx="6158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1257D18-1951-91F8-5904-5B4DD14FD3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9524" y="256956"/>
                <a:ext cx="615874" cy="46166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52F8B2F-2A39-04D5-5B6B-BD2B6D2C984D}"/>
                  </a:ext>
                </a:extLst>
              </p:cNvPr>
              <p:cNvSpPr txBox="1"/>
              <p:nvPr/>
            </p:nvSpPr>
            <p:spPr>
              <a:xfrm rot="18238036">
                <a:off x="1186608" y="1284367"/>
                <a:ext cx="6158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52F8B2F-2A39-04D5-5B6B-BD2B6D2C98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238036">
                <a:off x="1186608" y="1284367"/>
                <a:ext cx="615874" cy="46166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423B24C-DDF8-E6F1-3B4A-C659F5C79D5B}"/>
                  </a:ext>
                </a:extLst>
              </p:cNvPr>
              <p:cNvSpPr txBox="1"/>
              <p:nvPr/>
            </p:nvSpPr>
            <p:spPr>
              <a:xfrm rot="3944416">
                <a:off x="1141512" y="2877319"/>
                <a:ext cx="6158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423B24C-DDF8-E6F1-3B4A-C659F5C79D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944416">
                <a:off x="1141512" y="2877319"/>
                <a:ext cx="615874" cy="46166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39ED4C82-9B3F-2FDB-1AE7-EC7FA3BC7CB9}"/>
              </a:ext>
            </a:extLst>
          </p:cNvPr>
          <p:cNvSpPr txBox="1"/>
          <p:nvPr/>
        </p:nvSpPr>
        <p:spPr>
          <a:xfrm>
            <a:off x="7368782" y="3000910"/>
            <a:ext cx="45881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In both cases, the law of evolution is the same physical assumption!!!</a:t>
            </a:r>
          </a:p>
        </p:txBody>
      </p:sp>
    </p:spTree>
    <p:extLst>
      <p:ext uri="{BB962C8B-B14F-4D97-AF65-F5344CB8AC3E}">
        <p14:creationId xmlns:p14="http://schemas.microsoft.com/office/powerpoint/2010/main" val="847641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0" grpId="0"/>
      <p:bldP spid="12" grpId="0"/>
      <p:bldP spid="17" grpId="0"/>
      <p:bldP spid="18" grpId="0"/>
      <p:bldP spid="19" grpId="0"/>
      <p:bldP spid="21" grpId="0"/>
      <p:bldP spid="22" grpId="0"/>
      <p:bldP spid="24" grpId="0"/>
      <p:bldP spid="25" grpId="0"/>
      <p:bldP spid="26" grpId="0"/>
      <p:bldP spid="28" grpId="0"/>
      <p:bldP spid="29" grpId="0"/>
      <p:bldP spid="31" grpId="0"/>
      <p:bldP spid="33" grpId="0"/>
      <p:bldP spid="34" grpId="0"/>
      <p:bldP spid="35" grpId="0"/>
      <p:bldP spid="36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C7BF9-94B2-7143-7A95-7E2D9934B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41DB03-D120-6FFE-B5EE-1A7D0BB1D3B0}"/>
              </a:ext>
            </a:extLst>
          </p:cNvPr>
          <p:cNvSpPr/>
          <p:nvPr/>
        </p:nvSpPr>
        <p:spPr>
          <a:xfrm>
            <a:off x="336884" y="4572000"/>
            <a:ext cx="8656721" cy="190098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1ACA02-9749-EC14-7AE1-DE6615422F01}"/>
              </a:ext>
            </a:extLst>
          </p:cNvPr>
          <p:cNvSpPr txBox="1"/>
          <p:nvPr/>
        </p:nvSpPr>
        <p:spPr>
          <a:xfrm>
            <a:off x="433136" y="4671627"/>
            <a:ext cx="1737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Base theory: ???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2CFA0D1-0E38-1CBD-84EA-DDE674A4BE68}"/>
                  </a:ext>
                </a:extLst>
              </p:cNvPr>
              <p:cNvSpPr txBox="1"/>
              <p:nvPr/>
            </p:nvSpPr>
            <p:spPr>
              <a:xfrm>
                <a:off x="1586939" y="5274470"/>
                <a:ext cx="195014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State: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???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2CFA0D1-0E38-1CBD-84EA-DDE674A4B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6939" y="5274470"/>
                <a:ext cx="1950149" cy="523220"/>
              </a:xfrm>
              <a:prstGeom prst="rect">
                <a:avLst/>
              </a:prstGeom>
              <a:blipFill>
                <a:blip r:embed="rId2"/>
                <a:stretch>
                  <a:fillRect l="-6250"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3FE6DF4-4AA4-7100-A4BA-9428C5A887A4}"/>
                  </a:ext>
                </a:extLst>
              </p:cNvPr>
              <p:cNvSpPr txBox="1"/>
              <p:nvPr/>
            </p:nvSpPr>
            <p:spPr>
              <a:xfrm>
                <a:off x="707922" y="2918508"/>
                <a:ext cx="3331810" cy="861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?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br>
                  <a:rPr lang="en-US" b="0" dirty="0"/>
                </a:br>
                <a:r>
                  <a:rPr lang="en-US" dirty="0"/>
                  <a:t>Generalized Hamilton’s equations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3FE6DF4-4AA4-7100-A4BA-9428C5A887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922" y="2918508"/>
                <a:ext cx="3331810" cy="861774"/>
              </a:xfrm>
              <a:prstGeom prst="rect">
                <a:avLst/>
              </a:prstGeom>
              <a:blipFill>
                <a:blip r:embed="rId3"/>
                <a:stretch>
                  <a:fillRect l="-1463" r="-1097" b="-10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472929E8-57AC-6996-5324-EEDE06662907}"/>
              </a:ext>
            </a:extLst>
          </p:cNvPr>
          <p:cNvSpPr txBox="1"/>
          <p:nvPr/>
        </p:nvSpPr>
        <p:spPr>
          <a:xfrm>
            <a:off x="4765123" y="2595171"/>
            <a:ext cx="377674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/>
              <a:t>Determinism and</a:t>
            </a:r>
            <a:br>
              <a:rPr lang="en-US" sz="4000" dirty="0"/>
            </a:br>
            <a:r>
              <a:rPr lang="en-US" sz="4000" dirty="0"/>
              <a:t>reversibility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F28A56B-17A0-C983-0E3E-CB71A37DBF38}"/>
                  </a:ext>
                </a:extLst>
              </p:cNvPr>
              <p:cNvSpPr txBox="1"/>
              <p:nvPr/>
            </p:nvSpPr>
            <p:spPr>
              <a:xfrm>
                <a:off x="3931240" y="3044188"/>
                <a:ext cx="83388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F28A56B-17A0-C983-0E3E-CB71A37DBF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240" y="3044188"/>
                <a:ext cx="833883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BBA537F7-D5BA-DDCF-2362-EAA18E001D2F}"/>
              </a:ext>
            </a:extLst>
          </p:cNvPr>
          <p:cNvSpPr txBox="1"/>
          <p:nvPr/>
        </p:nvSpPr>
        <p:spPr>
          <a:xfrm>
            <a:off x="433136" y="275480"/>
            <a:ext cx="996054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Is there a more general base theory in which we can define and prove the correspondence?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FD15146-E789-1096-E1A2-EE4AD428EF22}"/>
                  </a:ext>
                </a:extLst>
              </p:cNvPr>
              <p:cNvSpPr txBox="1"/>
              <p:nvPr/>
            </p:nvSpPr>
            <p:spPr>
              <a:xfrm>
                <a:off x="4321866" y="5274470"/>
                <a:ext cx="284109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Entropy: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???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FD15146-E789-1096-E1A2-EE4AD428E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1866" y="5274470"/>
                <a:ext cx="2841099" cy="523220"/>
              </a:xfrm>
              <a:prstGeom prst="rect">
                <a:avLst/>
              </a:prstGeom>
              <a:blipFill>
                <a:blip r:embed="rId5"/>
                <a:stretch>
                  <a:fillRect l="-4506"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1EC778D-C65A-4085-D041-F3757F70F027}"/>
                  </a:ext>
                </a:extLst>
              </p:cNvPr>
              <p:cNvSpPr txBox="1"/>
              <p:nvPr/>
            </p:nvSpPr>
            <p:spPr>
              <a:xfrm>
                <a:off x="6653493" y="1019827"/>
                <a:ext cx="4416402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800" dirty="0">
                    <a:solidFill>
                      <a:schemeClr val="accent6">
                        <a:lumMod val="75000"/>
                      </a:schemeClr>
                    </a:solidFill>
                  </a:rPr>
                  <a:t> What are the basic axioms</a:t>
                </a:r>
                <a:br>
                  <a:rPr lang="en-US" sz="2800" dirty="0">
                    <a:solidFill>
                      <a:schemeClr val="accent6">
                        <a:lumMod val="75000"/>
                      </a:schemeClr>
                    </a:solidFill>
                  </a:rPr>
                </a:br>
                <a:r>
                  <a:rPr lang="en-US" sz="2800" dirty="0">
                    <a:solidFill>
                      <a:schemeClr val="accent6">
                        <a:lumMod val="75000"/>
                      </a:schemeClr>
                    </a:solidFill>
                  </a:rPr>
                  <a:t>for physical theories?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1EC778D-C65A-4085-D041-F3757F70F0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3493" y="1019827"/>
                <a:ext cx="4416402" cy="954107"/>
              </a:xfrm>
              <a:prstGeom prst="rect">
                <a:avLst/>
              </a:prstGeom>
              <a:blipFill>
                <a:blip r:embed="rId6"/>
                <a:stretch>
                  <a:fillRect l="-2759" t="-5732" r="-1793" b="-17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3652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7" grpId="0"/>
      <p:bldP spid="36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0F553-F95F-0932-1781-418789101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4A7E0BC-8C41-5F5C-7BBD-322BBCB31B93}"/>
              </a:ext>
            </a:extLst>
          </p:cNvPr>
          <p:cNvCxnSpPr>
            <a:cxnSpLocks/>
          </p:cNvCxnSpPr>
          <p:nvPr/>
        </p:nvCxnSpPr>
        <p:spPr>
          <a:xfrm>
            <a:off x="5272046" y="124857"/>
            <a:ext cx="0" cy="957789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32643E1-8DC4-C785-F0E1-D2F6B91A5B14}"/>
              </a:ext>
            </a:extLst>
          </p:cNvPr>
          <p:cNvSpPr txBox="1"/>
          <p:nvPr/>
        </p:nvSpPr>
        <p:spPr>
          <a:xfrm>
            <a:off x="1120231" y="98263"/>
            <a:ext cx="2556149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Physical world</a:t>
            </a:r>
            <a:br>
              <a:rPr lang="en-US" sz="3200" dirty="0"/>
            </a:br>
            <a:r>
              <a:rPr lang="en-US" sz="2000" dirty="0"/>
              <a:t>(informal system)</a:t>
            </a:r>
            <a:endParaRPr lang="en-US" sz="3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790719-1C4A-DFE9-0D19-36C3635B32CA}"/>
              </a:ext>
            </a:extLst>
          </p:cNvPr>
          <p:cNvSpPr txBox="1"/>
          <p:nvPr/>
        </p:nvSpPr>
        <p:spPr>
          <a:xfrm>
            <a:off x="6506178" y="190094"/>
            <a:ext cx="5061963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Mathematical representation</a:t>
            </a:r>
          </a:p>
          <a:p>
            <a:pPr algn="ctr"/>
            <a:r>
              <a:rPr lang="en-US" sz="2000" dirty="0"/>
              <a:t>(formal system)</a:t>
            </a:r>
          </a:p>
        </p:txBody>
      </p:sp>
      <p:sp>
        <p:nvSpPr>
          <p:cNvPr id="94" name="Arrow: Left-Right 93">
            <a:extLst>
              <a:ext uri="{FF2B5EF4-FFF2-40B4-BE49-F238E27FC236}">
                <a16:creationId xmlns:a16="http://schemas.microsoft.com/office/drawing/2014/main" id="{F8D34468-EC1E-4A4F-905E-8715E886474B}"/>
              </a:ext>
            </a:extLst>
          </p:cNvPr>
          <p:cNvSpPr/>
          <p:nvPr/>
        </p:nvSpPr>
        <p:spPr>
          <a:xfrm>
            <a:off x="4674169" y="390059"/>
            <a:ext cx="1195754" cy="479580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B4CA37D-A6F6-A5C4-407E-CCEF6FC1D5F3}"/>
              </a:ext>
            </a:extLst>
          </p:cNvPr>
          <p:cNvSpPr txBox="1"/>
          <p:nvPr/>
        </p:nvSpPr>
        <p:spPr>
          <a:xfrm>
            <a:off x="2254849" y="1623744"/>
            <a:ext cx="710059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How does this mapping work?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D14C73C-8B2D-B123-15AF-D33AA729E161}"/>
              </a:ext>
            </a:extLst>
          </p:cNvPr>
          <p:cNvSpPr txBox="1"/>
          <p:nvPr/>
        </p:nvSpPr>
        <p:spPr>
          <a:xfrm>
            <a:off x="2845654" y="2934283"/>
            <a:ext cx="591899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/>
              <a:t>What standards of rigor</a:t>
            </a:r>
            <a:br>
              <a:rPr lang="en-US" sz="4400" dirty="0"/>
            </a:br>
            <a:r>
              <a:rPr lang="en-US" sz="4400" dirty="0"/>
              <a:t>are desirable/attainable?</a:t>
            </a:r>
          </a:p>
        </p:txBody>
      </p:sp>
    </p:spTree>
    <p:extLst>
      <p:ext uri="{BB962C8B-B14F-4D97-AF65-F5344CB8AC3E}">
        <p14:creationId xmlns:p14="http://schemas.microsoft.com/office/powerpoint/2010/main" val="2493519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E90A6-C470-16B9-B976-6A9B17C00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roup 91">
            <a:extLst>
              <a:ext uri="{FF2B5EF4-FFF2-40B4-BE49-F238E27FC236}">
                <a16:creationId xmlns:a16="http://schemas.microsoft.com/office/drawing/2014/main" id="{852B6263-7298-1E9F-6978-CE1F2D674637}"/>
              </a:ext>
            </a:extLst>
          </p:cNvPr>
          <p:cNvGrpSpPr/>
          <p:nvPr/>
        </p:nvGrpSpPr>
        <p:grpSpPr>
          <a:xfrm>
            <a:off x="3244042" y="1218862"/>
            <a:ext cx="3959417" cy="2565744"/>
            <a:chOff x="3244042" y="1218862"/>
            <a:chExt cx="3959417" cy="2565744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D1E46ED-729D-FDA6-D533-7A43748CFB37}"/>
                </a:ext>
              </a:extLst>
            </p:cNvPr>
            <p:cNvSpPr/>
            <p:nvPr/>
          </p:nvSpPr>
          <p:spPr>
            <a:xfrm>
              <a:off x="5784158" y="2456270"/>
              <a:ext cx="1011813" cy="130615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7EA22243-B4B9-1A88-8FF6-845DB2B0B3BF}"/>
                </a:ext>
              </a:extLst>
            </p:cNvPr>
            <p:cNvSpPr/>
            <p:nvPr/>
          </p:nvSpPr>
          <p:spPr>
            <a:xfrm>
              <a:off x="3369602" y="2478453"/>
              <a:ext cx="1490023" cy="130615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495CC55D-D91F-DFA9-FE85-FED45A2DE7CE}"/>
                </a:ext>
              </a:extLst>
            </p:cNvPr>
            <p:cNvSpPr/>
            <p:nvPr/>
          </p:nvSpPr>
          <p:spPr>
            <a:xfrm>
              <a:off x="3244042" y="1218862"/>
              <a:ext cx="1698521" cy="1150962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5CFD25A1-52D6-D653-68DA-DB426A7B74FF}"/>
                </a:ext>
              </a:extLst>
            </p:cNvPr>
            <p:cNvSpPr/>
            <p:nvPr/>
          </p:nvSpPr>
          <p:spPr>
            <a:xfrm>
              <a:off x="5504938" y="1243181"/>
              <a:ext cx="1698521" cy="1150962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B4A2596D-31DB-790C-BEB7-94B7AD18F685}"/>
              </a:ext>
            </a:extLst>
          </p:cNvPr>
          <p:cNvSpPr txBox="1"/>
          <p:nvPr/>
        </p:nvSpPr>
        <p:spPr>
          <a:xfrm>
            <a:off x="2067758" y="4064745"/>
            <a:ext cx="2246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Physical specifications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BD64B72-55EA-EC92-F281-9C3BE371D19C}"/>
              </a:ext>
            </a:extLst>
          </p:cNvPr>
          <p:cNvCxnSpPr>
            <a:cxnSpLocks/>
          </p:cNvCxnSpPr>
          <p:nvPr/>
        </p:nvCxnSpPr>
        <p:spPr>
          <a:xfrm>
            <a:off x="5272046" y="124857"/>
            <a:ext cx="0" cy="4763771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row: Left-Right 7">
            <a:extLst>
              <a:ext uri="{FF2B5EF4-FFF2-40B4-BE49-F238E27FC236}">
                <a16:creationId xmlns:a16="http://schemas.microsoft.com/office/drawing/2014/main" id="{A6BC84F5-4598-C7C9-9DE0-9D0D89AD45B4}"/>
              </a:ext>
            </a:extLst>
          </p:cNvPr>
          <p:cNvSpPr/>
          <p:nvPr/>
        </p:nvSpPr>
        <p:spPr>
          <a:xfrm>
            <a:off x="4627004" y="3992634"/>
            <a:ext cx="1290083" cy="514093"/>
          </a:xfrm>
          <a:prstGeom prst="left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473311-910B-6629-7974-96CED281FBF5}"/>
              </a:ext>
            </a:extLst>
          </p:cNvPr>
          <p:cNvSpPr txBox="1"/>
          <p:nvPr/>
        </p:nvSpPr>
        <p:spPr>
          <a:xfrm>
            <a:off x="6155078" y="4064745"/>
            <a:ext cx="2536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Mathematical definitions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050214-EAF7-549B-8DEA-5EB1556A0C03}"/>
              </a:ext>
            </a:extLst>
          </p:cNvPr>
          <p:cNvSpPr txBox="1"/>
          <p:nvPr/>
        </p:nvSpPr>
        <p:spPr>
          <a:xfrm>
            <a:off x="1120231" y="98263"/>
            <a:ext cx="2556149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Physical world</a:t>
            </a:r>
            <a:br>
              <a:rPr lang="en-US" sz="3200" dirty="0"/>
            </a:br>
            <a:r>
              <a:rPr lang="en-US" sz="2000" dirty="0"/>
              <a:t>(informal system)</a:t>
            </a:r>
            <a:endParaRPr lang="en-US" sz="3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189DFC-775C-DCBE-4E66-B336AE97A006}"/>
              </a:ext>
            </a:extLst>
          </p:cNvPr>
          <p:cNvSpPr txBox="1"/>
          <p:nvPr/>
        </p:nvSpPr>
        <p:spPr>
          <a:xfrm>
            <a:off x="6506178" y="190094"/>
            <a:ext cx="5061963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Mathematical representation</a:t>
            </a:r>
          </a:p>
          <a:p>
            <a:pPr algn="ctr"/>
            <a:r>
              <a:rPr lang="en-US" sz="2000" dirty="0"/>
              <a:t>(formal system)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B7DD3A-0669-B0EC-F0B2-04044D53AF61}"/>
              </a:ext>
            </a:extLst>
          </p:cNvPr>
          <p:cNvSpPr txBox="1"/>
          <p:nvPr/>
        </p:nvSpPr>
        <p:spPr>
          <a:xfrm>
            <a:off x="1476624" y="5561863"/>
            <a:ext cx="705609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chemeClr val="accent6">
                    <a:lumMod val="75000"/>
                  </a:schemeClr>
                </a:solidFill>
              </a:rPr>
              <a:t>Physical mathematics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FD74F9-2442-155F-B080-E5F605C07FAE}"/>
              </a:ext>
            </a:extLst>
          </p:cNvPr>
          <p:cNvSpPr txBox="1"/>
          <p:nvPr/>
        </p:nvSpPr>
        <p:spPr>
          <a:xfrm>
            <a:off x="1167814" y="4855142"/>
            <a:ext cx="76737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When physical objects are mapped to the right mathematical objects,</a:t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the physical specification maps to the mathematical definitions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24B7F074-7C24-E049-D50F-36E917BF3162}"/>
              </a:ext>
            </a:extLst>
          </p:cNvPr>
          <p:cNvSpPr/>
          <p:nvPr/>
        </p:nvSpPr>
        <p:spPr>
          <a:xfrm>
            <a:off x="4238817" y="1365573"/>
            <a:ext cx="387740" cy="399282"/>
          </a:xfrm>
          <a:custGeom>
            <a:avLst/>
            <a:gdLst>
              <a:gd name="connsiteX0" fmla="*/ 339365 w 576721"/>
              <a:gd name="connsiteY0" fmla="*/ 0 h 593888"/>
              <a:gd name="connsiteX1" fmla="*/ 339365 w 576721"/>
              <a:gd name="connsiteY1" fmla="*/ 0 h 593888"/>
              <a:gd name="connsiteX2" fmla="*/ 226244 w 576721"/>
              <a:gd name="connsiteY2" fmla="*/ 9427 h 593888"/>
              <a:gd name="connsiteX3" fmla="*/ 169683 w 576721"/>
              <a:gd name="connsiteY3" fmla="*/ 28280 h 593888"/>
              <a:gd name="connsiteX4" fmla="*/ 131975 w 576721"/>
              <a:gd name="connsiteY4" fmla="*/ 37707 h 593888"/>
              <a:gd name="connsiteX5" fmla="*/ 94268 w 576721"/>
              <a:gd name="connsiteY5" fmla="*/ 65987 h 593888"/>
              <a:gd name="connsiteX6" fmla="*/ 37707 w 576721"/>
              <a:gd name="connsiteY6" fmla="*/ 150829 h 593888"/>
              <a:gd name="connsiteX7" fmla="*/ 18854 w 576721"/>
              <a:gd name="connsiteY7" fmla="*/ 207389 h 593888"/>
              <a:gd name="connsiteX8" fmla="*/ 9427 w 576721"/>
              <a:gd name="connsiteY8" fmla="*/ 235670 h 593888"/>
              <a:gd name="connsiteX9" fmla="*/ 0 w 576721"/>
              <a:gd name="connsiteY9" fmla="*/ 263950 h 593888"/>
              <a:gd name="connsiteX10" fmla="*/ 9427 w 576721"/>
              <a:gd name="connsiteY10" fmla="*/ 461913 h 593888"/>
              <a:gd name="connsiteX11" fmla="*/ 28281 w 576721"/>
              <a:gd name="connsiteY11" fmla="*/ 490194 h 593888"/>
              <a:gd name="connsiteX12" fmla="*/ 141402 w 576721"/>
              <a:gd name="connsiteY12" fmla="*/ 565608 h 593888"/>
              <a:gd name="connsiteX13" fmla="*/ 197963 w 576721"/>
              <a:gd name="connsiteY13" fmla="*/ 593888 h 593888"/>
              <a:gd name="connsiteX14" fmla="*/ 546755 w 576721"/>
              <a:gd name="connsiteY14" fmla="*/ 584462 h 593888"/>
              <a:gd name="connsiteX15" fmla="*/ 575035 w 576721"/>
              <a:gd name="connsiteY15" fmla="*/ 565608 h 593888"/>
              <a:gd name="connsiteX16" fmla="*/ 565608 w 576721"/>
              <a:gd name="connsiteY16" fmla="*/ 405352 h 593888"/>
              <a:gd name="connsiteX17" fmla="*/ 556182 w 576721"/>
              <a:gd name="connsiteY17" fmla="*/ 377072 h 593888"/>
              <a:gd name="connsiteX18" fmla="*/ 490194 w 576721"/>
              <a:gd name="connsiteY18" fmla="*/ 348792 h 593888"/>
              <a:gd name="connsiteX19" fmla="*/ 405353 w 576721"/>
              <a:gd name="connsiteY19" fmla="*/ 339365 h 593888"/>
              <a:gd name="connsiteX20" fmla="*/ 386499 w 576721"/>
              <a:gd name="connsiteY20" fmla="*/ 311084 h 593888"/>
              <a:gd name="connsiteX21" fmla="*/ 386499 w 576721"/>
              <a:gd name="connsiteY21" fmla="*/ 216816 h 593888"/>
              <a:gd name="connsiteX22" fmla="*/ 414780 w 576721"/>
              <a:gd name="connsiteY22" fmla="*/ 197963 h 593888"/>
              <a:gd name="connsiteX23" fmla="*/ 452487 w 576721"/>
              <a:gd name="connsiteY23" fmla="*/ 150829 h 593888"/>
              <a:gd name="connsiteX24" fmla="*/ 461914 w 576721"/>
              <a:gd name="connsiteY24" fmla="*/ 113121 h 593888"/>
              <a:gd name="connsiteX25" fmla="*/ 452487 w 576721"/>
              <a:gd name="connsiteY25" fmla="*/ 47134 h 593888"/>
              <a:gd name="connsiteX26" fmla="*/ 424206 w 576721"/>
              <a:gd name="connsiteY26" fmla="*/ 28280 h 593888"/>
              <a:gd name="connsiteX27" fmla="*/ 377072 w 576721"/>
              <a:gd name="connsiteY27" fmla="*/ 18853 h 593888"/>
              <a:gd name="connsiteX28" fmla="*/ 339365 w 576721"/>
              <a:gd name="connsiteY28" fmla="*/ 0 h 593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576721" h="593888">
                <a:moveTo>
                  <a:pt x="339365" y="0"/>
                </a:moveTo>
                <a:lnTo>
                  <a:pt x="339365" y="0"/>
                </a:lnTo>
                <a:cubicBezTo>
                  <a:pt x="301658" y="3142"/>
                  <a:pt x="263567" y="3207"/>
                  <a:pt x="226244" y="9427"/>
                </a:cubicBezTo>
                <a:cubicBezTo>
                  <a:pt x="206641" y="12694"/>
                  <a:pt x="188963" y="23460"/>
                  <a:pt x="169683" y="28280"/>
                </a:cubicBezTo>
                <a:lnTo>
                  <a:pt x="131975" y="37707"/>
                </a:lnTo>
                <a:cubicBezTo>
                  <a:pt x="119406" y="47134"/>
                  <a:pt x="105377" y="54877"/>
                  <a:pt x="94268" y="65987"/>
                </a:cubicBezTo>
                <a:cubicBezTo>
                  <a:pt x="79765" y="80490"/>
                  <a:pt x="45185" y="134378"/>
                  <a:pt x="37707" y="150829"/>
                </a:cubicBezTo>
                <a:cubicBezTo>
                  <a:pt x="29483" y="168921"/>
                  <a:pt x="25138" y="188536"/>
                  <a:pt x="18854" y="207389"/>
                </a:cubicBezTo>
                <a:lnTo>
                  <a:pt x="9427" y="235670"/>
                </a:lnTo>
                <a:lnTo>
                  <a:pt x="0" y="263950"/>
                </a:lnTo>
                <a:cubicBezTo>
                  <a:pt x="3142" y="329938"/>
                  <a:pt x="1233" y="396361"/>
                  <a:pt x="9427" y="461913"/>
                </a:cubicBezTo>
                <a:cubicBezTo>
                  <a:pt x="10832" y="473155"/>
                  <a:pt x="19860" y="482615"/>
                  <a:pt x="28281" y="490194"/>
                </a:cubicBezTo>
                <a:cubicBezTo>
                  <a:pt x="107364" y="561369"/>
                  <a:pt x="78977" y="529936"/>
                  <a:pt x="141402" y="565608"/>
                </a:cubicBezTo>
                <a:cubicBezTo>
                  <a:pt x="192567" y="594845"/>
                  <a:pt x="146116" y="576607"/>
                  <a:pt x="197963" y="593888"/>
                </a:cubicBezTo>
                <a:cubicBezTo>
                  <a:pt x="314227" y="590746"/>
                  <a:pt x="430774" y="593160"/>
                  <a:pt x="546755" y="584462"/>
                </a:cubicBezTo>
                <a:cubicBezTo>
                  <a:pt x="558053" y="583615"/>
                  <a:pt x="573849" y="576875"/>
                  <a:pt x="575035" y="565608"/>
                </a:cubicBezTo>
                <a:cubicBezTo>
                  <a:pt x="580637" y="512391"/>
                  <a:pt x="570932" y="458597"/>
                  <a:pt x="565608" y="405352"/>
                </a:cubicBezTo>
                <a:cubicBezTo>
                  <a:pt x="564619" y="395465"/>
                  <a:pt x="562389" y="384831"/>
                  <a:pt x="556182" y="377072"/>
                </a:cubicBezTo>
                <a:cubicBezTo>
                  <a:pt x="541643" y="358898"/>
                  <a:pt x="510852" y="351970"/>
                  <a:pt x="490194" y="348792"/>
                </a:cubicBezTo>
                <a:cubicBezTo>
                  <a:pt x="462070" y="344465"/>
                  <a:pt x="433633" y="342507"/>
                  <a:pt x="405353" y="339365"/>
                </a:cubicBezTo>
                <a:cubicBezTo>
                  <a:pt x="399068" y="329938"/>
                  <a:pt x="391566" y="321218"/>
                  <a:pt x="386499" y="311084"/>
                </a:cubicBezTo>
                <a:cubicBezTo>
                  <a:pt x="371588" y="281263"/>
                  <a:pt x="372216" y="248951"/>
                  <a:pt x="386499" y="216816"/>
                </a:cubicBezTo>
                <a:cubicBezTo>
                  <a:pt x="391101" y="206463"/>
                  <a:pt x="405353" y="204247"/>
                  <a:pt x="414780" y="197963"/>
                </a:cubicBezTo>
                <a:cubicBezTo>
                  <a:pt x="445593" y="105513"/>
                  <a:pt x="395637" y="236102"/>
                  <a:pt x="452487" y="150829"/>
                </a:cubicBezTo>
                <a:cubicBezTo>
                  <a:pt x="459674" y="140049"/>
                  <a:pt x="458772" y="125690"/>
                  <a:pt x="461914" y="113121"/>
                </a:cubicBezTo>
                <a:cubicBezTo>
                  <a:pt x="458772" y="91125"/>
                  <a:pt x="461511" y="67438"/>
                  <a:pt x="452487" y="47134"/>
                </a:cubicBezTo>
                <a:cubicBezTo>
                  <a:pt x="447885" y="36781"/>
                  <a:pt x="434814" y="32258"/>
                  <a:pt x="424206" y="28280"/>
                </a:cubicBezTo>
                <a:cubicBezTo>
                  <a:pt x="409204" y="22654"/>
                  <a:pt x="392713" y="22329"/>
                  <a:pt x="377072" y="18853"/>
                </a:cubicBezTo>
                <a:cubicBezTo>
                  <a:pt x="317507" y="5617"/>
                  <a:pt x="345649" y="3142"/>
                  <a:pt x="339365" y="0"/>
                </a:cubicBezTo>
                <a:close/>
              </a:path>
            </a:pathLst>
          </a:custGeom>
          <a:gradFill flip="none" rotWithShape="1">
            <a:gsLst>
              <a:gs pos="56000">
                <a:srgbClr val="3C1A56"/>
              </a:gs>
              <a:gs pos="100000">
                <a:schemeClr val="bg1"/>
              </a:gs>
              <a:gs pos="12000">
                <a:srgbClr val="7030A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38DE8607-F270-FB41-1F8B-4CE624E456ED}"/>
              </a:ext>
            </a:extLst>
          </p:cNvPr>
          <p:cNvSpPr/>
          <p:nvPr/>
        </p:nvSpPr>
        <p:spPr>
          <a:xfrm>
            <a:off x="3553870" y="1796025"/>
            <a:ext cx="531881" cy="496044"/>
          </a:xfrm>
          <a:custGeom>
            <a:avLst/>
            <a:gdLst>
              <a:gd name="connsiteX0" fmla="*/ 641356 w 1061407"/>
              <a:gd name="connsiteY0" fmla="*/ 330740 h 989892"/>
              <a:gd name="connsiteX1" fmla="*/ 641356 w 1061407"/>
              <a:gd name="connsiteY1" fmla="*/ 330740 h 989892"/>
              <a:gd name="connsiteX2" fmla="*/ 631629 w 1061407"/>
              <a:gd name="connsiteY2" fmla="*/ 243191 h 989892"/>
              <a:gd name="connsiteX3" fmla="*/ 621901 w 1061407"/>
              <a:gd name="connsiteY3" fmla="*/ 214008 h 989892"/>
              <a:gd name="connsiteX4" fmla="*/ 612173 w 1061407"/>
              <a:gd name="connsiteY4" fmla="*/ 175098 h 989892"/>
              <a:gd name="connsiteX5" fmla="*/ 602446 w 1061407"/>
              <a:gd name="connsiteY5" fmla="*/ 126460 h 989892"/>
              <a:gd name="connsiteX6" fmla="*/ 582990 w 1061407"/>
              <a:gd name="connsiteY6" fmla="*/ 107004 h 989892"/>
              <a:gd name="connsiteX7" fmla="*/ 553807 w 1061407"/>
              <a:gd name="connsiteY7" fmla="*/ 68094 h 989892"/>
              <a:gd name="connsiteX8" fmla="*/ 475986 w 1061407"/>
              <a:gd name="connsiteY8" fmla="*/ 0 h 989892"/>
              <a:gd name="connsiteX9" fmla="*/ 446803 w 1061407"/>
              <a:gd name="connsiteY9" fmla="*/ 9728 h 989892"/>
              <a:gd name="connsiteX10" fmla="*/ 437076 w 1061407"/>
              <a:gd name="connsiteY10" fmla="*/ 38911 h 989892"/>
              <a:gd name="connsiteX11" fmla="*/ 417620 w 1061407"/>
              <a:gd name="connsiteY11" fmla="*/ 58366 h 989892"/>
              <a:gd name="connsiteX12" fmla="*/ 388437 w 1061407"/>
              <a:gd name="connsiteY12" fmla="*/ 126460 h 989892"/>
              <a:gd name="connsiteX13" fmla="*/ 368982 w 1061407"/>
              <a:gd name="connsiteY13" fmla="*/ 184825 h 989892"/>
              <a:gd name="connsiteX14" fmla="*/ 349527 w 1061407"/>
              <a:gd name="connsiteY14" fmla="*/ 243191 h 989892"/>
              <a:gd name="connsiteX15" fmla="*/ 310616 w 1061407"/>
              <a:gd name="connsiteY15" fmla="*/ 291830 h 989892"/>
              <a:gd name="connsiteX16" fmla="*/ 38242 w 1061407"/>
              <a:gd name="connsiteY16" fmla="*/ 301557 h 989892"/>
              <a:gd name="connsiteX17" fmla="*/ 28514 w 1061407"/>
              <a:gd name="connsiteY17" fmla="*/ 515566 h 989892"/>
              <a:gd name="connsiteX18" fmla="*/ 47969 w 1061407"/>
              <a:gd name="connsiteY18" fmla="*/ 544749 h 989892"/>
              <a:gd name="connsiteX19" fmla="*/ 106335 w 1061407"/>
              <a:gd name="connsiteY19" fmla="*/ 564204 h 989892"/>
              <a:gd name="connsiteX20" fmla="*/ 135518 w 1061407"/>
              <a:gd name="connsiteY20" fmla="*/ 573932 h 989892"/>
              <a:gd name="connsiteX21" fmla="*/ 164701 w 1061407"/>
              <a:gd name="connsiteY21" fmla="*/ 593387 h 989892"/>
              <a:gd name="connsiteX22" fmla="*/ 213339 w 1061407"/>
              <a:gd name="connsiteY22" fmla="*/ 603115 h 989892"/>
              <a:gd name="connsiteX23" fmla="*/ 271705 w 1061407"/>
              <a:gd name="connsiteY23" fmla="*/ 622570 h 989892"/>
              <a:gd name="connsiteX24" fmla="*/ 291161 w 1061407"/>
              <a:gd name="connsiteY24" fmla="*/ 642025 h 989892"/>
              <a:gd name="connsiteX25" fmla="*/ 281433 w 1061407"/>
              <a:gd name="connsiteY25" fmla="*/ 680936 h 989892"/>
              <a:gd name="connsiteX26" fmla="*/ 242522 w 1061407"/>
              <a:gd name="connsiteY26" fmla="*/ 729574 h 989892"/>
              <a:gd name="connsiteX27" fmla="*/ 223067 w 1061407"/>
              <a:gd name="connsiteY27" fmla="*/ 768485 h 989892"/>
              <a:gd name="connsiteX28" fmla="*/ 184156 w 1061407"/>
              <a:gd name="connsiteY28" fmla="*/ 836579 h 989892"/>
              <a:gd name="connsiteX29" fmla="*/ 174429 w 1061407"/>
              <a:gd name="connsiteY29" fmla="*/ 865762 h 989892"/>
              <a:gd name="connsiteX30" fmla="*/ 184156 w 1061407"/>
              <a:gd name="connsiteY30" fmla="*/ 982494 h 989892"/>
              <a:gd name="connsiteX31" fmla="*/ 242522 w 1061407"/>
              <a:gd name="connsiteY31" fmla="*/ 972766 h 989892"/>
              <a:gd name="connsiteX32" fmla="*/ 281433 w 1061407"/>
              <a:gd name="connsiteY32" fmla="*/ 914400 h 989892"/>
              <a:gd name="connsiteX33" fmla="*/ 330071 w 1061407"/>
              <a:gd name="connsiteY33" fmla="*/ 875489 h 989892"/>
              <a:gd name="connsiteX34" fmla="*/ 359254 w 1061407"/>
              <a:gd name="connsiteY34" fmla="*/ 856034 h 989892"/>
              <a:gd name="connsiteX35" fmla="*/ 398165 w 1061407"/>
              <a:gd name="connsiteY35" fmla="*/ 817123 h 989892"/>
              <a:gd name="connsiteX36" fmla="*/ 407893 w 1061407"/>
              <a:gd name="connsiteY36" fmla="*/ 787940 h 989892"/>
              <a:gd name="connsiteX37" fmla="*/ 563535 w 1061407"/>
              <a:gd name="connsiteY37" fmla="*/ 807396 h 989892"/>
              <a:gd name="connsiteX38" fmla="*/ 592718 w 1061407"/>
              <a:gd name="connsiteY38" fmla="*/ 826851 h 989892"/>
              <a:gd name="connsiteX39" fmla="*/ 651084 w 1061407"/>
              <a:gd name="connsiteY39" fmla="*/ 846306 h 989892"/>
              <a:gd name="connsiteX40" fmla="*/ 680267 w 1061407"/>
              <a:gd name="connsiteY40" fmla="*/ 856034 h 989892"/>
              <a:gd name="connsiteX41" fmla="*/ 709450 w 1061407"/>
              <a:gd name="connsiteY41" fmla="*/ 865762 h 989892"/>
              <a:gd name="connsiteX42" fmla="*/ 777544 w 1061407"/>
              <a:gd name="connsiteY42" fmla="*/ 894945 h 989892"/>
              <a:gd name="connsiteX43" fmla="*/ 904003 w 1061407"/>
              <a:gd name="connsiteY43" fmla="*/ 885217 h 989892"/>
              <a:gd name="connsiteX44" fmla="*/ 952642 w 1061407"/>
              <a:gd name="connsiteY44" fmla="*/ 875489 h 989892"/>
              <a:gd name="connsiteX45" fmla="*/ 972097 w 1061407"/>
              <a:gd name="connsiteY45" fmla="*/ 846306 h 989892"/>
              <a:gd name="connsiteX46" fmla="*/ 962369 w 1061407"/>
              <a:gd name="connsiteY46" fmla="*/ 817123 h 989892"/>
              <a:gd name="connsiteX47" fmla="*/ 904003 w 1061407"/>
              <a:gd name="connsiteY47" fmla="*/ 778213 h 989892"/>
              <a:gd name="connsiteX48" fmla="*/ 816454 w 1061407"/>
              <a:gd name="connsiteY48" fmla="*/ 739302 h 989892"/>
              <a:gd name="connsiteX49" fmla="*/ 787271 w 1061407"/>
              <a:gd name="connsiteY49" fmla="*/ 729574 h 989892"/>
              <a:gd name="connsiteX50" fmla="*/ 758088 w 1061407"/>
              <a:gd name="connsiteY50" fmla="*/ 719847 h 989892"/>
              <a:gd name="connsiteX51" fmla="*/ 719178 w 1061407"/>
              <a:gd name="connsiteY51" fmla="*/ 671208 h 989892"/>
              <a:gd name="connsiteX52" fmla="*/ 767816 w 1061407"/>
              <a:gd name="connsiteY52" fmla="*/ 642025 h 989892"/>
              <a:gd name="connsiteX53" fmla="*/ 855365 w 1061407"/>
              <a:gd name="connsiteY53" fmla="*/ 612842 h 989892"/>
              <a:gd name="connsiteX54" fmla="*/ 972097 w 1061407"/>
              <a:gd name="connsiteY54" fmla="*/ 593387 h 989892"/>
              <a:gd name="connsiteX55" fmla="*/ 1030463 w 1061407"/>
              <a:gd name="connsiteY55" fmla="*/ 573932 h 989892"/>
              <a:gd name="connsiteX56" fmla="*/ 1049918 w 1061407"/>
              <a:gd name="connsiteY56" fmla="*/ 544749 h 989892"/>
              <a:gd name="connsiteX57" fmla="*/ 1049918 w 1061407"/>
              <a:gd name="connsiteY57" fmla="*/ 447472 h 989892"/>
              <a:gd name="connsiteX58" fmla="*/ 1020735 w 1061407"/>
              <a:gd name="connsiteY58" fmla="*/ 437745 h 989892"/>
              <a:gd name="connsiteX59" fmla="*/ 1001280 w 1061407"/>
              <a:gd name="connsiteY59" fmla="*/ 418289 h 989892"/>
              <a:gd name="connsiteX60" fmla="*/ 933186 w 1061407"/>
              <a:gd name="connsiteY60" fmla="*/ 398834 h 989892"/>
              <a:gd name="connsiteX61" fmla="*/ 651084 w 1061407"/>
              <a:gd name="connsiteY61" fmla="*/ 389106 h 989892"/>
              <a:gd name="connsiteX62" fmla="*/ 641356 w 1061407"/>
              <a:gd name="connsiteY62" fmla="*/ 330740 h 989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061407" h="989892">
                <a:moveTo>
                  <a:pt x="641356" y="330740"/>
                </a:moveTo>
                <a:lnTo>
                  <a:pt x="641356" y="330740"/>
                </a:lnTo>
                <a:cubicBezTo>
                  <a:pt x="638114" y="301557"/>
                  <a:pt x="636456" y="272154"/>
                  <a:pt x="631629" y="243191"/>
                </a:cubicBezTo>
                <a:cubicBezTo>
                  <a:pt x="629943" y="233077"/>
                  <a:pt x="624718" y="223867"/>
                  <a:pt x="621901" y="214008"/>
                </a:cubicBezTo>
                <a:cubicBezTo>
                  <a:pt x="618228" y="201153"/>
                  <a:pt x="615073" y="188149"/>
                  <a:pt x="612173" y="175098"/>
                </a:cubicBezTo>
                <a:cubicBezTo>
                  <a:pt x="608586" y="158958"/>
                  <a:pt x="608959" y="141657"/>
                  <a:pt x="602446" y="126460"/>
                </a:cubicBezTo>
                <a:cubicBezTo>
                  <a:pt x="598833" y="118030"/>
                  <a:pt x="588862" y="114050"/>
                  <a:pt x="582990" y="107004"/>
                </a:cubicBezTo>
                <a:cubicBezTo>
                  <a:pt x="572611" y="94549"/>
                  <a:pt x="564578" y="80211"/>
                  <a:pt x="553807" y="68094"/>
                </a:cubicBezTo>
                <a:cubicBezTo>
                  <a:pt x="512419" y="21533"/>
                  <a:pt x="516335" y="26899"/>
                  <a:pt x="475986" y="0"/>
                </a:cubicBezTo>
                <a:cubicBezTo>
                  <a:pt x="466258" y="3243"/>
                  <a:pt x="454054" y="2477"/>
                  <a:pt x="446803" y="9728"/>
                </a:cubicBezTo>
                <a:cubicBezTo>
                  <a:pt x="439553" y="16979"/>
                  <a:pt x="442352" y="30118"/>
                  <a:pt x="437076" y="38911"/>
                </a:cubicBezTo>
                <a:cubicBezTo>
                  <a:pt x="432357" y="46775"/>
                  <a:pt x="424105" y="51881"/>
                  <a:pt x="417620" y="58366"/>
                </a:cubicBezTo>
                <a:cubicBezTo>
                  <a:pt x="386316" y="152285"/>
                  <a:pt x="436509" y="6281"/>
                  <a:pt x="388437" y="126460"/>
                </a:cubicBezTo>
                <a:cubicBezTo>
                  <a:pt x="380821" y="145501"/>
                  <a:pt x="375467" y="165370"/>
                  <a:pt x="368982" y="184825"/>
                </a:cubicBezTo>
                <a:lnTo>
                  <a:pt x="349527" y="243191"/>
                </a:lnTo>
                <a:cubicBezTo>
                  <a:pt x="342596" y="263985"/>
                  <a:pt x="340926" y="288897"/>
                  <a:pt x="310616" y="291830"/>
                </a:cubicBezTo>
                <a:cubicBezTo>
                  <a:pt x="220189" y="300581"/>
                  <a:pt x="129033" y="298315"/>
                  <a:pt x="38242" y="301557"/>
                </a:cubicBezTo>
                <a:cubicBezTo>
                  <a:pt x="-25080" y="364879"/>
                  <a:pt x="3833" y="326347"/>
                  <a:pt x="28514" y="515566"/>
                </a:cubicBezTo>
                <a:cubicBezTo>
                  <a:pt x="30026" y="527159"/>
                  <a:pt x="38055" y="538553"/>
                  <a:pt x="47969" y="544749"/>
                </a:cubicBezTo>
                <a:cubicBezTo>
                  <a:pt x="65359" y="555618"/>
                  <a:pt x="86880" y="557719"/>
                  <a:pt x="106335" y="564204"/>
                </a:cubicBezTo>
                <a:cubicBezTo>
                  <a:pt x="116063" y="567447"/>
                  <a:pt x="126986" y="568244"/>
                  <a:pt x="135518" y="573932"/>
                </a:cubicBezTo>
                <a:cubicBezTo>
                  <a:pt x="145246" y="580417"/>
                  <a:pt x="153754" y="589282"/>
                  <a:pt x="164701" y="593387"/>
                </a:cubicBezTo>
                <a:cubicBezTo>
                  <a:pt x="180182" y="599192"/>
                  <a:pt x="197388" y="598765"/>
                  <a:pt x="213339" y="603115"/>
                </a:cubicBezTo>
                <a:cubicBezTo>
                  <a:pt x="233124" y="608511"/>
                  <a:pt x="271705" y="622570"/>
                  <a:pt x="271705" y="622570"/>
                </a:cubicBezTo>
                <a:cubicBezTo>
                  <a:pt x="278190" y="629055"/>
                  <a:pt x="289653" y="632978"/>
                  <a:pt x="291161" y="642025"/>
                </a:cubicBezTo>
                <a:cubicBezTo>
                  <a:pt x="293359" y="655213"/>
                  <a:pt x="286699" y="668647"/>
                  <a:pt x="281433" y="680936"/>
                </a:cubicBezTo>
                <a:cubicBezTo>
                  <a:pt x="272229" y="702413"/>
                  <a:pt x="258213" y="713884"/>
                  <a:pt x="242522" y="729574"/>
                </a:cubicBezTo>
                <a:cubicBezTo>
                  <a:pt x="236037" y="742544"/>
                  <a:pt x="230261" y="755894"/>
                  <a:pt x="223067" y="768485"/>
                </a:cubicBezTo>
                <a:cubicBezTo>
                  <a:pt x="195156" y="817329"/>
                  <a:pt x="209351" y="777790"/>
                  <a:pt x="184156" y="836579"/>
                </a:cubicBezTo>
                <a:cubicBezTo>
                  <a:pt x="180117" y="846004"/>
                  <a:pt x="177671" y="856034"/>
                  <a:pt x="174429" y="865762"/>
                </a:cubicBezTo>
                <a:cubicBezTo>
                  <a:pt x="177671" y="904673"/>
                  <a:pt x="163194" y="949553"/>
                  <a:pt x="184156" y="982494"/>
                </a:cubicBezTo>
                <a:cubicBezTo>
                  <a:pt x="194745" y="999134"/>
                  <a:pt x="226364" y="984077"/>
                  <a:pt x="242522" y="972766"/>
                </a:cubicBezTo>
                <a:cubicBezTo>
                  <a:pt x="261678" y="959357"/>
                  <a:pt x="261978" y="927370"/>
                  <a:pt x="281433" y="914400"/>
                </a:cubicBezTo>
                <a:cubicBezTo>
                  <a:pt x="371255" y="854520"/>
                  <a:pt x="260766" y="930934"/>
                  <a:pt x="330071" y="875489"/>
                </a:cubicBezTo>
                <a:cubicBezTo>
                  <a:pt x="339200" y="868186"/>
                  <a:pt x="350377" y="863642"/>
                  <a:pt x="359254" y="856034"/>
                </a:cubicBezTo>
                <a:cubicBezTo>
                  <a:pt x="373181" y="844097"/>
                  <a:pt x="398165" y="817123"/>
                  <a:pt x="398165" y="817123"/>
                </a:cubicBezTo>
                <a:cubicBezTo>
                  <a:pt x="401408" y="807395"/>
                  <a:pt x="397758" y="789499"/>
                  <a:pt x="407893" y="787940"/>
                </a:cubicBezTo>
                <a:cubicBezTo>
                  <a:pt x="461568" y="779682"/>
                  <a:pt x="512898" y="794736"/>
                  <a:pt x="563535" y="807396"/>
                </a:cubicBezTo>
                <a:cubicBezTo>
                  <a:pt x="573263" y="813881"/>
                  <a:pt x="582034" y="822103"/>
                  <a:pt x="592718" y="826851"/>
                </a:cubicBezTo>
                <a:cubicBezTo>
                  <a:pt x="611458" y="835180"/>
                  <a:pt x="631629" y="839821"/>
                  <a:pt x="651084" y="846306"/>
                </a:cubicBezTo>
                <a:lnTo>
                  <a:pt x="680267" y="856034"/>
                </a:lnTo>
                <a:cubicBezTo>
                  <a:pt x="689995" y="859277"/>
                  <a:pt x="700279" y="861176"/>
                  <a:pt x="709450" y="865762"/>
                </a:cubicBezTo>
                <a:cubicBezTo>
                  <a:pt x="757532" y="889803"/>
                  <a:pt x="734604" y="880631"/>
                  <a:pt x="777544" y="894945"/>
                </a:cubicBezTo>
                <a:cubicBezTo>
                  <a:pt x="819697" y="891702"/>
                  <a:pt x="861984" y="889886"/>
                  <a:pt x="904003" y="885217"/>
                </a:cubicBezTo>
                <a:cubicBezTo>
                  <a:pt x="920436" y="883391"/>
                  <a:pt x="938286" y="883692"/>
                  <a:pt x="952642" y="875489"/>
                </a:cubicBezTo>
                <a:cubicBezTo>
                  <a:pt x="962793" y="869689"/>
                  <a:pt x="965612" y="856034"/>
                  <a:pt x="972097" y="846306"/>
                </a:cubicBezTo>
                <a:cubicBezTo>
                  <a:pt x="968854" y="836578"/>
                  <a:pt x="969620" y="824374"/>
                  <a:pt x="962369" y="817123"/>
                </a:cubicBezTo>
                <a:cubicBezTo>
                  <a:pt x="945835" y="800589"/>
                  <a:pt x="923458" y="791183"/>
                  <a:pt x="904003" y="778213"/>
                </a:cubicBezTo>
                <a:cubicBezTo>
                  <a:pt x="857753" y="747380"/>
                  <a:pt x="885918" y="762457"/>
                  <a:pt x="816454" y="739302"/>
                </a:cubicBezTo>
                <a:lnTo>
                  <a:pt x="787271" y="729574"/>
                </a:lnTo>
                <a:lnTo>
                  <a:pt x="758088" y="719847"/>
                </a:lnTo>
                <a:cubicBezTo>
                  <a:pt x="752828" y="714586"/>
                  <a:pt x="715088" y="679388"/>
                  <a:pt x="719178" y="671208"/>
                </a:cubicBezTo>
                <a:cubicBezTo>
                  <a:pt x="727634" y="654297"/>
                  <a:pt x="750905" y="650481"/>
                  <a:pt x="767816" y="642025"/>
                </a:cubicBezTo>
                <a:cubicBezTo>
                  <a:pt x="794739" y="628563"/>
                  <a:pt x="825644" y="618415"/>
                  <a:pt x="855365" y="612842"/>
                </a:cubicBezTo>
                <a:cubicBezTo>
                  <a:pt x="894137" y="605572"/>
                  <a:pt x="934674" y="605861"/>
                  <a:pt x="972097" y="593387"/>
                </a:cubicBezTo>
                <a:lnTo>
                  <a:pt x="1030463" y="573932"/>
                </a:lnTo>
                <a:cubicBezTo>
                  <a:pt x="1036948" y="564204"/>
                  <a:pt x="1044690" y="555206"/>
                  <a:pt x="1049918" y="544749"/>
                </a:cubicBezTo>
                <a:cubicBezTo>
                  <a:pt x="1064893" y="514800"/>
                  <a:pt x="1065578" y="478791"/>
                  <a:pt x="1049918" y="447472"/>
                </a:cubicBezTo>
                <a:cubicBezTo>
                  <a:pt x="1045332" y="438301"/>
                  <a:pt x="1030463" y="440987"/>
                  <a:pt x="1020735" y="437745"/>
                </a:cubicBezTo>
                <a:cubicBezTo>
                  <a:pt x="1014250" y="431260"/>
                  <a:pt x="1009144" y="423008"/>
                  <a:pt x="1001280" y="418289"/>
                </a:cubicBezTo>
                <a:cubicBezTo>
                  <a:pt x="993271" y="413484"/>
                  <a:pt x="937899" y="399120"/>
                  <a:pt x="933186" y="398834"/>
                </a:cubicBezTo>
                <a:cubicBezTo>
                  <a:pt x="839268" y="393142"/>
                  <a:pt x="745118" y="392349"/>
                  <a:pt x="651084" y="389106"/>
                </a:cubicBezTo>
                <a:cubicBezTo>
                  <a:pt x="619608" y="357630"/>
                  <a:pt x="642977" y="340468"/>
                  <a:pt x="641356" y="330740"/>
                </a:cubicBezTo>
                <a:close/>
              </a:path>
            </a:pathLst>
          </a:custGeom>
          <a:gradFill flip="none" rotWithShape="1">
            <a:gsLst>
              <a:gs pos="56000">
                <a:srgbClr val="3C1A56"/>
              </a:gs>
              <a:gs pos="100000">
                <a:schemeClr val="bg1"/>
              </a:gs>
              <a:gs pos="12000">
                <a:srgbClr val="7030A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441C338C-47CB-DCF6-EE6C-E467441DD8C3}"/>
              </a:ext>
            </a:extLst>
          </p:cNvPr>
          <p:cNvSpPr/>
          <p:nvPr/>
        </p:nvSpPr>
        <p:spPr>
          <a:xfrm>
            <a:off x="2571560" y="2600137"/>
            <a:ext cx="354701" cy="490506"/>
          </a:xfrm>
          <a:custGeom>
            <a:avLst/>
            <a:gdLst>
              <a:gd name="connsiteX0" fmla="*/ 272374 w 527578"/>
              <a:gd name="connsiteY0" fmla="*/ 0 h 729574"/>
              <a:gd name="connsiteX1" fmla="*/ 272374 w 527578"/>
              <a:gd name="connsiteY1" fmla="*/ 0 h 729574"/>
              <a:gd name="connsiteX2" fmla="*/ 214008 w 527578"/>
              <a:gd name="connsiteY2" fmla="*/ 136187 h 729574"/>
              <a:gd name="connsiteX3" fmla="*/ 145915 w 527578"/>
              <a:gd name="connsiteY3" fmla="*/ 408561 h 729574"/>
              <a:gd name="connsiteX4" fmla="*/ 126459 w 527578"/>
              <a:gd name="connsiteY4" fmla="*/ 466927 h 729574"/>
              <a:gd name="connsiteX5" fmla="*/ 107004 w 527578"/>
              <a:gd name="connsiteY5" fmla="*/ 505838 h 729574"/>
              <a:gd name="connsiteX6" fmla="*/ 87549 w 527578"/>
              <a:gd name="connsiteY6" fmla="*/ 583659 h 729574"/>
              <a:gd name="connsiteX7" fmla="*/ 38910 w 527578"/>
              <a:gd name="connsiteY7" fmla="*/ 661481 h 729574"/>
              <a:gd name="connsiteX8" fmla="*/ 19455 w 527578"/>
              <a:gd name="connsiteY8" fmla="*/ 700391 h 729574"/>
              <a:gd name="connsiteX9" fmla="*/ 0 w 527578"/>
              <a:gd name="connsiteY9" fmla="*/ 729574 h 729574"/>
              <a:gd name="connsiteX10" fmla="*/ 38910 w 527578"/>
              <a:gd name="connsiteY10" fmla="*/ 642025 h 729574"/>
              <a:gd name="connsiteX11" fmla="*/ 77821 w 527578"/>
              <a:gd name="connsiteY11" fmla="*/ 583659 h 729574"/>
              <a:gd name="connsiteX12" fmla="*/ 107004 w 527578"/>
              <a:gd name="connsiteY12" fmla="*/ 573932 h 729574"/>
              <a:gd name="connsiteX13" fmla="*/ 116732 w 527578"/>
              <a:gd name="connsiteY13" fmla="*/ 544749 h 729574"/>
              <a:gd name="connsiteX14" fmla="*/ 204281 w 527578"/>
              <a:gd name="connsiteY14" fmla="*/ 515566 h 729574"/>
              <a:gd name="connsiteX15" fmla="*/ 496110 w 527578"/>
              <a:gd name="connsiteY15" fmla="*/ 505838 h 729574"/>
              <a:gd name="connsiteX16" fmla="*/ 525293 w 527578"/>
              <a:gd name="connsiteY16" fmla="*/ 389106 h 729574"/>
              <a:gd name="connsiteX17" fmla="*/ 496110 w 527578"/>
              <a:gd name="connsiteY17" fmla="*/ 243191 h 729574"/>
              <a:gd name="connsiteX18" fmla="*/ 466927 w 527578"/>
              <a:gd name="connsiteY18" fmla="*/ 233464 h 729574"/>
              <a:gd name="connsiteX19" fmla="*/ 369651 w 527578"/>
              <a:gd name="connsiteY19" fmla="*/ 214008 h 729574"/>
              <a:gd name="connsiteX20" fmla="*/ 369651 w 527578"/>
              <a:gd name="connsiteY20" fmla="*/ 58366 h 729574"/>
              <a:gd name="connsiteX21" fmla="*/ 350196 w 527578"/>
              <a:gd name="connsiteY21" fmla="*/ 29183 h 729574"/>
              <a:gd name="connsiteX22" fmla="*/ 321013 w 527578"/>
              <a:gd name="connsiteY22" fmla="*/ 19455 h 729574"/>
              <a:gd name="connsiteX23" fmla="*/ 272374 w 527578"/>
              <a:gd name="connsiteY23" fmla="*/ 0 h 729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27578" h="729574">
                <a:moveTo>
                  <a:pt x="272374" y="0"/>
                </a:moveTo>
                <a:lnTo>
                  <a:pt x="272374" y="0"/>
                </a:lnTo>
                <a:cubicBezTo>
                  <a:pt x="242007" y="60734"/>
                  <a:pt x="230109" y="75360"/>
                  <a:pt x="214008" y="136187"/>
                </a:cubicBezTo>
                <a:cubicBezTo>
                  <a:pt x="190060" y="226657"/>
                  <a:pt x="175510" y="319778"/>
                  <a:pt x="145915" y="408561"/>
                </a:cubicBezTo>
                <a:cubicBezTo>
                  <a:pt x="139430" y="428016"/>
                  <a:pt x="135630" y="448584"/>
                  <a:pt x="126459" y="466927"/>
                </a:cubicBezTo>
                <a:lnTo>
                  <a:pt x="107004" y="505838"/>
                </a:lnTo>
                <a:cubicBezTo>
                  <a:pt x="101296" y="534378"/>
                  <a:pt x="98764" y="557491"/>
                  <a:pt x="87549" y="583659"/>
                </a:cubicBezTo>
                <a:cubicBezTo>
                  <a:pt x="60663" y="646394"/>
                  <a:pt x="76995" y="600546"/>
                  <a:pt x="38910" y="661481"/>
                </a:cubicBezTo>
                <a:cubicBezTo>
                  <a:pt x="31225" y="673778"/>
                  <a:pt x="26649" y="687801"/>
                  <a:pt x="19455" y="700391"/>
                </a:cubicBezTo>
                <a:cubicBezTo>
                  <a:pt x="13655" y="710542"/>
                  <a:pt x="6485" y="719846"/>
                  <a:pt x="0" y="729574"/>
                </a:cubicBezTo>
                <a:cubicBezTo>
                  <a:pt x="17365" y="625380"/>
                  <a:pt x="-7969" y="707655"/>
                  <a:pt x="38910" y="642025"/>
                </a:cubicBezTo>
                <a:cubicBezTo>
                  <a:pt x="56645" y="617197"/>
                  <a:pt x="51795" y="599274"/>
                  <a:pt x="77821" y="583659"/>
                </a:cubicBezTo>
                <a:cubicBezTo>
                  <a:pt x="86614" y="578383"/>
                  <a:pt x="97276" y="577174"/>
                  <a:pt x="107004" y="573932"/>
                </a:cubicBezTo>
                <a:cubicBezTo>
                  <a:pt x="110247" y="564204"/>
                  <a:pt x="109481" y="552000"/>
                  <a:pt x="116732" y="544749"/>
                </a:cubicBezTo>
                <a:cubicBezTo>
                  <a:pt x="133603" y="527878"/>
                  <a:pt x="183413" y="516758"/>
                  <a:pt x="204281" y="515566"/>
                </a:cubicBezTo>
                <a:cubicBezTo>
                  <a:pt x="301453" y="510013"/>
                  <a:pt x="398834" y="509081"/>
                  <a:pt x="496110" y="505838"/>
                </a:cubicBezTo>
                <a:cubicBezTo>
                  <a:pt x="521803" y="428761"/>
                  <a:pt x="512195" y="467701"/>
                  <a:pt x="525293" y="389106"/>
                </a:cubicBezTo>
                <a:cubicBezTo>
                  <a:pt x="522201" y="348902"/>
                  <a:pt x="543869" y="271846"/>
                  <a:pt x="496110" y="243191"/>
                </a:cubicBezTo>
                <a:cubicBezTo>
                  <a:pt x="487317" y="237916"/>
                  <a:pt x="476918" y="235770"/>
                  <a:pt x="466927" y="233464"/>
                </a:cubicBezTo>
                <a:cubicBezTo>
                  <a:pt x="434706" y="226028"/>
                  <a:pt x="369651" y="214008"/>
                  <a:pt x="369651" y="214008"/>
                </a:cubicBezTo>
                <a:cubicBezTo>
                  <a:pt x="376627" y="151230"/>
                  <a:pt x="387658" y="118389"/>
                  <a:pt x="369651" y="58366"/>
                </a:cubicBezTo>
                <a:cubicBezTo>
                  <a:pt x="366292" y="47168"/>
                  <a:pt x="359325" y="36486"/>
                  <a:pt x="350196" y="29183"/>
                </a:cubicBezTo>
                <a:cubicBezTo>
                  <a:pt x="342189" y="22777"/>
                  <a:pt x="330741" y="22698"/>
                  <a:pt x="321013" y="19455"/>
                </a:cubicBezTo>
                <a:cubicBezTo>
                  <a:pt x="292386" y="-9171"/>
                  <a:pt x="280480" y="3242"/>
                  <a:pt x="272374" y="0"/>
                </a:cubicBezTo>
                <a:close/>
              </a:path>
            </a:pathLst>
          </a:custGeom>
          <a:gradFill flip="none" rotWithShape="1">
            <a:gsLst>
              <a:gs pos="56000">
                <a:srgbClr val="3C1A56"/>
              </a:gs>
              <a:gs pos="100000">
                <a:schemeClr val="bg1"/>
              </a:gs>
              <a:gs pos="12000">
                <a:srgbClr val="7030A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Moon 43">
            <a:extLst>
              <a:ext uri="{FF2B5EF4-FFF2-40B4-BE49-F238E27FC236}">
                <a16:creationId xmlns:a16="http://schemas.microsoft.com/office/drawing/2014/main" id="{40E9BE2A-497B-926B-4B6F-85F273FE8E35}"/>
              </a:ext>
            </a:extLst>
          </p:cNvPr>
          <p:cNvSpPr/>
          <p:nvPr/>
        </p:nvSpPr>
        <p:spPr>
          <a:xfrm rot="20382263">
            <a:off x="6559237" y="1409074"/>
            <a:ext cx="256108" cy="351771"/>
          </a:xfrm>
          <a:prstGeom prst="mo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A6774DD-360F-DE48-4CF3-DB323FBC5259}"/>
              </a:ext>
            </a:extLst>
          </p:cNvPr>
          <p:cNvCxnSpPr>
            <a:cxnSpLocks/>
          </p:cNvCxnSpPr>
          <p:nvPr/>
        </p:nvCxnSpPr>
        <p:spPr>
          <a:xfrm flipV="1">
            <a:off x="3983474" y="1688676"/>
            <a:ext cx="215301" cy="216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3BB4FDC-66E5-C45D-C18B-FB6FC5EAB109}"/>
              </a:ext>
            </a:extLst>
          </p:cNvPr>
          <p:cNvCxnSpPr>
            <a:cxnSpLocks/>
          </p:cNvCxnSpPr>
          <p:nvPr/>
        </p:nvCxnSpPr>
        <p:spPr>
          <a:xfrm flipV="1">
            <a:off x="2967461" y="2189476"/>
            <a:ext cx="586409" cy="4673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Star: 5 Points 61">
            <a:extLst>
              <a:ext uri="{FF2B5EF4-FFF2-40B4-BE49-F238E27FC236}">
                <a16:creationId xmlns:a16="http://schemas.microsoft.com/office/drawing/2014/main" id="{9B62FCFC-615E-1A9C-5ACD-1AB598601D85}"/>
              </a:ext>
            </a:extLst>
          </p:cNvPr>
          <p:cNvSpPr/>
          <p:nvPr/>
        </p:nvSpPr>
        <p:spPr>
          <a:xfrm>
            <a:off x="5855951" y="1826751"/>
            <a:ext cx="459343" cy="399282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B8F2B6B-7A75-A863-CEE1-FEC1D77FB7AA}"/>
              </a:ext>
            </a:extLst>
          </p:cNvPr>
          <p:cNvCxnSpPr>
            <a:cxnSpLocks/>
          </p:cNvCxnSpPr>
          <p:nvPr/>
        </p:nvCxnSpPr>
        <p:spPr>
          <a:xfrm flipV="1">
            <a:off x="6276825" y="1667241"/>
            <a:ext cx="215301" cy="216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16B7760-4E65-8534-B2BE-66F2E87A299C}"/>
              </a:ext>
            </a:extLst>
          </p:cNvPr>
          <p:cNvCxnSpPr>
            <a:cxnSpLocks/>
          </p:cNvCxnSpPr>
          <p:nvPr/>
        </p:nvCxnSpPr>
        <p:spPr>
          <a:xfrm>
            <a:off x="4238817" y="2098580"/>
            <a:ext cx="1564864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70C1BD76-B9E4-6092-35CF-57DB302960A5}"/>
              </a:ext>
            </a:extLst>
          </p:cNvPr>
          <p:cNvSpPr txBox="1"/>
          <p:nvPr/>
        </p:nvSpPr>
        <p:spPr>
          <a:xfrm>
            <a:off x="8145787" y="1241716"/>
            <a:ext cx="3455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Mathematical concepts are “crisper idealizations” 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68218729-C8A2-804A-9F1C-52C35AE34322}"/>
              </a:ext>
            </a:extLst>
          </p:cNvPr>
          <p:cNvCxnSpPr>
            <a:cxnSpLocks/>
          </p:cNvCxnSpPr>
          <p:nvPr/>
        </p:nvCxnSpPr>
        <p:spPr>
          <a:xfrm flipH="1">
            <a:off x="6465235" y="1658371"/>
            <a:ext cx="1578927" cy="3613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0A9FC63F-81A3-82BD-D701-A6248E5E344B}"/>
              </a:ext>
            </a:extLst>
          </p:cNvPr>
          <p:cNvSpPr txBox="1"/>
          <p:nvPr/>
        </p:nvSpPr>
        <p:spPr>
          <a:xfrm>
            <a:off x="158812" y="3253669"/>
            <a:ext cx="29641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Some physical concepts may not be formalized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28392AF-34FC-6FE4-7B85-C5706279A65E}"/>
              </a:ext>
            </a:extLst>
          </p:cNvPr>
          <p:cNvSpPr txBox="1"/>
          <p:nvPr/>
        </p:nvSpPr>
        <p:spPr>
          <a:xfrm>
            <a:off x="392603" y="1289537"/>
            <a:ext cx="2743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Physical objects are “fuzzy”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D6A0193-06F3-CBEC-2B88-034B2F194460}"/>
              </a:ext>
            </a:extLst>
          </p:cNvPr>
          <p:cNvSpPr txBox="1"/>
          <p:nvPr/>
        </p:nvSpPr>
        <p:spPr>
          <a:xfrm>
            <a:off x="7663143" y="2641547"/>
            <a:ext cx="2964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Mapping may not be unique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D7753F1E-2089-136D-B8E3-C57B443FCC5E}"/>
              </a:ext>
            </a:extLst>
          </p:cNvPr>
          <p:cNvCxnSpPr>
            <a:cxnSpLocks/>
          </p:cNvCxnSpPr>
          <p:nvPr/>
        </p:nvCxnSpPr>
        <p:spPr>
          <a:xfrm>
            <a:off x="3028463" y="1586403"/>
            <a:ext cx="535048" cy="2193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21FDEB44-D357-9382-1B22-6E19387F6590}"/>
              </a:ext>
            </a:extLst>
          </p:cNvPr>
          <p:cNvCxnSpPr>
            <a:cxnSpLocks/>
          </p:cNvCxnSpPr>
          <p:nvPr/>
        </p:nvCxnSpPr>
        <p:spPr>
          <a:xfrm flipV="1">
            <a:off x="2024507" y="2889351"/>
            <a:ext cx="532483" cy="3439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FCA91CB-0934-98FF-8A7D-F2AF56D496D2}"/>
              </a:ext>
            </a:extLst>
          </p:cNvPr>
          <p:cNvSpPr/>
          <p:nvPr/>
        </p:nvSpPr>
        <p:spPr>
          <a:xfrm>
            <a:off x="3650953" y="3133255"/>
            <a:ext cx="117308" cy="125097"/>
          </a:xfrm>
          <a:custGeom>
            <a:avLst/>
            <a:gdLst>
              <a:gd name="connsiteX0" fmla="*/ 84063 w 200795"/>
              <a:gd name="connsiteY0" fmla="*/ 9846 h 214127"/>
              <a:gd name="connsiteX1" fmla="*/ 84063 w 200795"/>
              <a:gd name="connsiteY1" fmla="*/ 9846 h 214127"/>
              <a:gd name="connsiteX2" fmla="*/ 6242 w 200795"/>
              <a:gd name="connsiteY2" fmla="*/ 48757 h 214127"/>
              <a:gd name="connsiteX3" fmla="*/ 35425 w 200795"/>
              <a:gd name="connsiteY3" fmla="*/ 184944 h 214127"/>
              <a:gd name="connsiteX4" fmla="*/ 93791 w 200795"/>
              <a:gd name="connsiteY4" fmla="*/ 214127 h 214127"/>
              <a:gd name="connsiteX5" fmla="*/ 181340 w 200795"/>
              <a:gd name="connsiteY5" fmla="*/ 184944 h 214127"/>
              <a:gd name="connsiteX6" fmla="*/ 200795 w 200795"/>
              <a:gd name="connsiteY6" fmla="*/ 155761 h 214127"/>
              <a:gd name="connsiteX7" fmla="*/ 181340 w 200795"/>
              <a:gd name="connsiteY7" fmla="*/ 48757 h 214127"/>
              <a:gd name="connsiteX8" fmla="*/ 161884 w 200795"/>
              <a:gd name="connsiteY8" fmla="*/ 29301 h 214127"/>
              <a:gd name="connsiteX9" fmla="*/ 103518 w 200795"/>
              <a:gd name="connsiteY9" fmla="*/ 118 h 214127"/>
              <a:gd name="connsiteX10" fmla="*/ 84063 w 200795"/>
              <a:gd name="connsiteY10" fmla="*/ 9846 h 214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0795" h="214127">
                <a:moveTo>
                  <a:pt x="84063" y="9846"/>
                </a:moveTo>
                <a:lnTo>
                  <a:pt x="84063" y="9846"/>
                </a:lnTo>
                <a:cubicBezTo>
                  <a:pt x="58123" y="22816"/>
                  <a:pt x="18507" y="22476"/>
                  <a:pt x="6242" y="48757"/>
                </a:cubicBezTo>
                <a:cubicBezTo>
                  <a:pt x="-8915" y="81235"/>
                  <a:pt x="4570" y="154090"/>
                  <a:pt x="35425" y="184944"/>
                </a:cubicBezTo>
                <a:cubicBezTo>
                  <a:pt x="54282" y="203801"/>
                  <a:pt x="70056" y="206215"/>
                  <a:pt x="93791" y="214127"/>
                </a:cubicBezTo>
                <a:cubicBezTo>
                  <a:pt x="132920" y="207605"/>
                  <a:pt x="153984" y="212300"/>
                  <a:pt x="181340" y="184944"/>
                </a:cubicBezTo>
                <a:cubicBezTo>
                  <a:pt x="189607" y="176677"/>
                  <a:pt x="194310" y="165489"/>
                  <a:pt x="200795" y="155761"/>
                </a:cubicBezTo>
                <a:cubicBezTo>
                  <a:pt x="199455" y="145039"/>
                  <a:pt x="195545" y="72432"/>
                  <a:pt x="181340" y="48757"/>
                </a:cubicBezTo>
                <a:cubicBezTo>
                  <a:pt x="176621" y="40892"/>
                  <a:pt x="169046" y="35030"/>
                  <a:pt x="161884" y="29301"/>
                </a:cubicBezTo>
                <a:cubicBezTo>
                  <a:pt x="142756" y="13998"/>
                  <a:pt x="127491" y="4913"/>
                  <a:pt x="103518" y="118"/>
                </a:cubicBezTo>
                <a:cubicBezTo>
                  <a:pt x="97159" y="-1154"/>
                  <a:pt x="87306" y="8225"/>
                  <a:pt x="84063" y="9846"/>
                </a:cubicBezTo>
                <a:close/>
              </a:path>
            </a:pathLst>
          </a:custGeom>
          <a:gradFill flip="none" rotWithShape="1">
            <a:gsLst>
              <a:gs pos="56000">
                <a:srgbClr val="3C1A56"/>
              </a:gs>
              <a:gs pos="100000">
                <a:schemeClr val="bg1"/>
              </a:gs>
              <a:gs pos="12000">
                <a:srgbClr val="7030A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8B598C9-3A02-EEDA-DCB1-E86BB1DB9BF6}"/>
              </a:ext>
            </a:extLst>
          </p:cNvPr>
          <p:cNvSpPr/>
          <p:nvPr/>
        </p:nvSpPr>
        <p:spPr>
          <a:xfrm>
            <a:off x="4224562" y="2675715"/>
            <a:ext cx="104142" cy="113662"/>
          </a:xfrm>
          <a:custGeom>
            <a:avLst/>
            <a:gdLst>
              <a:gd name="connsiteX0" fmla="*/ 0 w 178259"/>
              <a:gd name="connsiteY0" fmla="*/ 29183 h 194554"/>
              <a:gd name="connsiteX1" fmla="*/ 0 w 178259"/>
              <a:gd name="connsiteY1" fmla="*/ 29183 h 194554"/>
              <a:gd name="connsiteX2" fmla="*/ 87549 w 178259"/>
              <a:gd name="connsiteY2" fmla="*/ 9728 h 194554"/>
              <a:gd name="connsiteX3" fmla="*/ 116732 w 178259"/>
              <a:gd name="connsiteY3" fmla="*/ 0 h 194554"/>
              <a:gd name="connsiteX4" fmla="*/ 145915 w 178259"/>
              <a:gd name="connsiteY4" fmla="*/ 9728 h 194554"/>
              <a:gd name="connsiteX5" fmla="*/ 155643 w 178259"/>
              <a:gd name="connsiteY5" fmla="*/ 184826 h 194554"/>
              <a:gd name="connsiteX6" fmla="*/ 126460 w 178259"/>
              <a:gd name="connsiteY6" fmla="*/ 194554 h 194554"/>
              <a:gd name="connsiteX7" fmla="*/ 29183 w 178259"/>
              <a:gd name="connsiteY7" fmla="*/ 184826 h 194554"/>
              <a:gd name="connsiteX8" fmla="*/ 19455 w 178259"/>
              <a:gd name="connsiteY8" fmla="*/ 155643 h 194554"/>
              <a:gd name="connsiteX9" fmla="*/ 29183 w 178259"/>
              <a:gd name="connsiteY9" fmla="*/ 48639 h 194554"/>
              <a:gd name="connsiteX10" fmla="*/ 0 w 178259"/>
              <a:gd name="connsiteY10" fmla="*/ 29183 h 194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8259" h="194554">
                <a:moveTo>
                  <a:pt x="0" y="29183"/>
                </a:moveTo>
                <a:lnTo>
                  <a:pt x="0" y="29183"/>
                </a:lnTo>
                <a:cubicBezTo>
                  <a:pt x="29183" y="22698"/>
                  <a:pt x="58547" y="16979"/>
                  <a:pt x="87549" y="9728"/>
                </a:cubicBezTo>
                <a:cubicBezTo>
                  <a:pt x="97497" y="7241"/>
                  <a:pt x="106478" y="0"/>
                  <a:pt x="116732" y="0"/>
                </a:cubicBezTo>
                <a:cubicBezTo>
                  <a:pt x="126986" y="0"/>
                  <a:pt x="136187" y="6485"/>
                  <a:pt x="145915" y="9728"/>
                </a:cubicBezTo>
                <a:cubicBezTo>
                  <a:pt x="187370" y="71912"/>
                  <a:pt x="187158" y="58762"/>
                  <a:pt x="155643" y="184826"/>
                </a:cubicBezTo>
                <a:cubicBezTo>
                  <a:pt x="153156" y="194774"/>
                  <a:pt x="136188" y="191311"/>
                  <a:pt x="126460" y="194554"/>
                </a:cubicBezTo>
                <a:cubicBezTo>
                  <a:pt x="94034" y="191311"/>
                  <a:pt x="59808" y="195963"/>
                  <a:pt x="29183" y="184826"/>
                </a:cubicBezTo>
                <a:cubicBezTo>
                  <a:pt x="19546" y="181322"/>
                  <a:pt x="19455" y="165897"/>
                  <a:pt x="19455" y="155643"/>
                </a:cubicBezTo>
                <a:cubicBezTo>
                  <a:pt x="19455" y="119828"/>
                  <a:pt x="26436" y="84349"/>
                  <a:pt x="29183" y="48639"/>
                </a:cubicBezTo>
                <a:cubicBezTo>
                  <a:pt x="29680" y="42173"/>
                  <a:pt x="4864" y="32426"/>
                  <a:pt x="0" y="29183"/>
                </a:cubicBezTo>
                <a:close/>
              </a:path>
            </a:pathLst>
          </a:custGeom>
          <a:gradFill flip="none" rotWithShape="1">
            <a:gsLst>
              <a:gs pos="56000">
                <a:srgbClr val="3C1A56"/>
              </a:gs>
              <a:gs pos="100000">
                <a:schemeClr val="bg1"/>
              </a:gs>
              <a:gs pos="12000">
                <a:srgbClr val="7030A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FF83AC8-30B0-66CC-F13C-86ECE501D892}"/>
              </a:ext>
            </a:extLst>
          </p:cNvPr>
          <p:cNvSpPr/>
          <p:nvPr/>
        </p:nvSpPr>
        <p:spPr>
          <a:xfrm>
            <a:off x="3984966" y="2907228"/>
            <a:ext cx="113662" cy="119345"/>
          </a:xfrm>
          <a:custGeom>
            <a:avLst/>
            <a:gdLst>
              <a:gd name="connsiteX0" fmla="*/ 87549 w 194553"/>
              <a:gd name="connsiteY0" fmla="*/ 0 h 204281"/>
              <a:gd name="connsiteX1" fmla="*/ 87549 w 194553"/>
              <a:gd name="connsiteY1" fmla="*/ 0 h 204281"/>
              <a:gd name="connsiteX2" fmla="*/ 0 w 194553"/>
              <a:gd name="connsiteY2" fmla="*/ 107004 h 204281"/>
              <a:gd name="connsiteX3" fmla="*/ 9727 w 194553"/>
              <a:gd name="connsiteY3" fmla="*/ 204281 h 204281"/>
              <a:gd name="connsiteX4" fmla="*/ 145914 w 194553"/>
              <a:gd name="connsiteY4" fmla="*/ 184825 h 204281"/>
              <a:gd name="connsiteX5" fmla="*/ 194553 w 194553"/>
              <a:gd name="connsiteY5" fmla="*/ 155642 h 204281"/>
              <a:gd name="connsiteX6" fmla="*/ 175097 w 194553"/>
              <a:gd name="connsiteY6" fmla="*/ 68093 h 204281"/>
              <a:gd name="connsiteX7" fmla="*/ 116731 w 194553"/>
              <a:gd name="connsiteY7" fmla="*/ 38910 h 204281"/>
              <a:gd name="connsiteX8" fmla="*/ 87549 w 194553"/>
              <a:gd name="connsiteY8" fmla="*/ 0 h 204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4553" h="204281">
                <a:moveTo>
                  <a:pt x="87549" y="0"/>
                </a:moveTo>
                <a:lnTo>
                  <a:pt x="87549" y="0"/>
                </a:lnTo>
                <a:cubicBezTo>
                  <a:pt x="78780" y="8769"/>
                  <a:pt x="0" y="64345"/>
                  <a:pt x="0" y="107004"/>
                </a:cubicBezTo>
                <a:cubicBezTo>
                  <a:pt x="0" y="139591"/>
                  <a:pt x="6485" y="171855"/>
                  <a:pt x="9727" y="204281"/>
                </a:cubicBezTo>
                <a:cubicBezTo>
                  <a:pt x="55123" y="197796"/>
                  <a:pt x="113488" y="217250"/>
                  <a:pt x="145914" y="184825"/>
                </a:cubicBezTo>
                <a:cubicBezTo>
                  <a:pt x="172621" y="158120"/>
                  <a:pt x="156669" y="168270"/>
                  <a:pt x="194553" y="155642"/>
                </a:cubicBezTo>
                <a:cubicBezTo>
                  <a:pt x="194453" y="155044"/>
                  <a:pt x="185180" y="80697"/>
                  <a:pt x="175097" y="68093"/>
                </a:cubicBezTo>
                <a:cubicBezTo>
                  <a:pt x="164755" y="55166"/>
                  <a:pt x="132997" y="41621"/>
                  <a:pt x="116731" y="38910"/>
                </a:cubicBezTo>
                <a:cubicBezTo>
                  <a:pt x="107136" y="37311"/>
                  <a:pt x="92413" y="6485"/>
                  <a:pt x="87549" y="0"/>
                </a:cubicBezTo>
                <a:close/>
              </a:path>
            </a:pathLst>
          </a:custGeom>
          <a:gradFill flip="none" rotWithShape="1">
            <a:gsLst>
              <a:gs pos="56000">
                <a:srgbClr val="3C1A56"/>
              </a:gs>
              <a:gs pos="100000">
                <a:schemeClr val="bg1"/>
              </a:gs>
              <a:gs pos="12000">
                <a:srgbClr val="7030A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1AA0FC4D-0791-0997-9CA3-544AC0342F8B}"/>
              </a:ext>
            </a:extLst>
          </p:cNvPr>
          <p:cNvSpPr/>
          <p:nvPr/>
        </p:nvSpPr>
        <p:spPr>
          <a:xfrm>
            <a:off x="4005949" y="3237138"/>
            <a:ext cx="125028" cy="153444"/>
          </a:xfrm>
          <a:custGeom>
            <a:avLst/>
            <a:gdLst>
              <a:gd name="connsiteX0" fmla="*/ 0 w 214008"/>
              <a:gd name="connsiteY0" fmla="*/ 136188 h 262647"/>
              <a:gd name="connsiteX1" fmla="*/ 0 w 214008"/>
              <a:gd name="connsiteY1" fmla="*/ 136188 h 262647"/>
              <a:gd name="connsiteX2" fmla="*/ 9728 w 214008"/>
              <a:gd name="connsiteY2" fmla="*/ 48639 h 262647"/>
              <a:gd name="connsiteX3" fmla="*/ 38911 w 214008"/>
              <a:gd name="connsiteY3" fmla="*/ 38911 h 262647"/>
              <a:gd name="connsiteX4" fmla="*/ 77821 w 214008"/>
              <a:gd name="connsiteY4" fmla="*/ 19456 h 262647"/>
              <a:gd name="connsiteX5" fmla="*/ 116732 w 214008"/>
              <a:gd name="connsiteY5" fmla="*/ 9728 h 262647"/>
              <a:gd name="connsiteX6" fmla="*/ 145915 w 214008"/>
              <a:gd name="connsiteY6" fmla="*/ 0 h 262647"/>
              <a:gd name="connsiteX7" fmla="*/ 175098 w 214008"/>
              <a:gd name="connsiteY7" fmla="*/ 9728 h 262647"/>
              <a:gd name="connsiteX8" fmla="*/ 214008 w 214008"/>
              <a:gd name="connsiteY8" fmla="*/ 68094 h 262647"/>
              <a:gd name="connsiteX9" fmla="*/ 204281 w 214008"/>
              <a:gd name="connsiteY9" fmla="*/ 223737 h 262647"/>
              <a:gd name="connsiteX10" fmla="*/ 184825 w 214008"/>
              <a:gd name="connsiteY10" fmla="*/ 243192 h 262647"/>
              <a:gd name="connsiteX11" fmla="*/ 126459 w 214008"/>
              <a:gd name="connsiteY11" fmla="*/ 262647 h 262647"/>
              <a:gd name="connsiteX12" fmla="*/ 87549 w 214008"/>
              <a:gd name="connsiteY12" fmla="*/ 252920 h 262647"/>
              <a:gd name="connsiteX13" fmla="*/ 68093 w 214008"/>
              <a:gd name="connsiteY13" fmla="*/ 233464 h 262647"/>
              <a:gd name="connsiteX14" fmla="*/ 19455 w 214008"/>
              <a:gd name="connsiteY14" fmla="*/ 145915 h 262647"/>
              <a:gd name="connsiteX15" fmla="*/ 0 w 214008"/>
              <a:gd name="connsiteY15" fmla="*/ 136188 h 26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14008" h="262647">
                <a:moveTo>
                  <a:pt x="0" y="136188"/>
                </a:moveTo>
                <a:lnTo>
                  <a:pt x="0" y="136188"/>
                </a:lnTo>
                <a:cubicBezTo>
                  <a:pt x="3243" y="107005"/>
                  <a:pt x="-1177" y="75901"/>
                  <a:pt x="9728" y="48639"/>
                </a:cubicBezTo>
                <a:cubicBezTo>
                  <a:pt x="13536" y="39119"/>
                  <a:pt x="29486" y="42950"/>
                  <a:pt x="38911" y="38911"/>
                </a:cubicBezTo>
                <a:cubicBezTo>
                  <a:pt x="52239" y="33199"/>
                  <a:pt x="64243" y="24548"/>
                  <a:pt x="77821" y="19456"/>
                </a:cubicBezTo>
                <a:cubicBezTo>
                  <a:pt x="90339" y="14762"/>
                  <a:pt x="103877" y="13401"/>
                  <a:pt x="116732" y="9728"/>
                </a:cubicBezTo>
                <a:cubicBezTo>
                  <a:pt x="126591" y="6911"/>
                  <a:pt x="136187" y="3243"/>
                  <a:pt x="145915" y="0"/>
                </a:cubicBezTo>
                <a:cubicBezTo>
                  <a:pt x="155643" y="3243"/>
                  <a:pt x="167847" y="2477"/>
                  <a:pt x="175098" y="9728"/>
                </a:cubicBezTo>
                <a:cubicBezTo>
                  <a:pt x="191632" y="26262"/>
                  <a:pt x="214008" y="68094"/>
                  <a:pt x="214008" y="68094"/>
                </a:cubicBezTo>
                <a:cubicBezTo>
                  <a:pt x="210766" y="119975"/>
                  <a:pt x="212827" y="172462"/>
                  <a:pt x="204281" y="223737"/>
                </a:cubicBezTo>
                <a:cubicBezTo>
                  <a:pt x="202773" y="232784"/>
                  <a:pt x="193028" y="239091"/>
                  <a:pt x="184825" y="243192"/>
                </a:cubicBezTo>
                <a:cubicBezTo>
                  <a:pt x="166482" y="252363"/>
                  <a:pt x="126459" y="262647"/>
                  <a:pt x="126459" y="262647"/>
                </a:cubicBezTo>
                <a:cubicBezTo>
                  <a:pt x="113489" y="259405"/>
                  <a:pt x="99507" y="258899"/>
                  <a:pt x="87549" y="252920"/>
                </a:cubicBezTo>
                <a:cubicBezTo>
                  <a:pt x="79346" y="248818"/>
                  <a:pt x="73596" y="240801"/>
                  <a:pt x="68093" y="233464"/>
                </a:cubicBezTo>
                <a:cubicBezTo>
                  <a:pt x="40924" y="197239"/>
                  <a:pt x="28934" y="183829"/>
                  <a:pt x="19455" y="145915"/>
                </a:cubicBezTo>
                <a:cubicBezTo>
                  <a:pt x="18669" y="142769"/>
                  <a:pt x="3242" y="137809"/>
                  <a:pt x="0" y="136188"/>
                </a:cubicBezTo>
                <a:close/>
              </a:path>
            </a:pathLst>
          </a:custGeom>
          <a:gradFill flip="none" rotWithShape="1">
            <a:gsLst>
              <a:gs pos="56000">
                <a:srgbClr val="3C1A56"/>
              </a:gs>
              <a:gs pos="100000">
                <a:schemeClr val="bg1"/>
              </a:gs>
              <a:gs pos="12000">
                <a:srgbClr val="7030A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9DC511A-F9A6-01C4-3014-E08EC153BC94}"/>
              </a:ext>
            </a:extLst>
          </p:cNvPr>
          <p:cNvSpPr/>
          <p:nvPr/>
        </p:nvSpPr>
        <p:spPr>
          <a:xfrm>
            <a:off x="6359030" y="3109347"/>
            <a:ext cx="106205" cy="1062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8690E2B-F8C0-B10A-92D8-E28CED2FC954}"/>
              </a:ext>
            </a:extLst>
          </p:cNvPr>
          <p:cNvSpPr/>
          <p:nvPr/>
        </p:nvSpPr>
        <p:spPr>
          <a:xfrm>
            <a:off x="6002534" y="2724558"/>
            <a:ext cx="106205" cy="1062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CB470CD-019A-2FB8-5D57-56262E6A26E0}"/>
              </a:ext>
            </a:extLst>
          </p:cNvPr>
          <p:cNvSpPr/>
          <p:nvPr/>
        </p:nvSpPr>
        <p:spPr>
          <a:xfrm>
            <a:off x="6009499" y="3391910"/>
            <a:ext cx="106205" cy="1062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AB7E8D1-8C5A-DDFD-83D7-29526ACA1F5C}"/>
              </a:ext>
            </a:extLst>
          </p:cNvPr>
          <p:cNvCxnSpPr>
            <a:cxnSpLocks/>
          </p:cNvCxnSpPr>
          <p:nvPr/>
        </p:nvCxnSpPr>
        <p:spPr>
          <a:xfrm>
            <a:off x="6142105" y="2828292"/>
            <a:ext cx="197791" cy="2683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A41A256-E723-1955-B253-E8D80768BD45}"/>
              </a:ext>
            </a:extLst>
          </p:cNvPr>
          <p:cNvCxnSpPr>
            <a:cxnSpLocks/>
          </p:cNvCxnSpPr>
          <p:nvPr/>
        </p:nvCxnSpPr>
        <p:spPr>
          <a:xfrm flipV="1">
            <a:off x="4705135" y="2821245"/>
            <a:ext cx="1219300" cy="8598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729A473-4752-C407-030B-FB89665ABBDC}"/>
              </a:ext>
            </a:extLst>
          </p:cNvPr>
          <p:cNvCxnSpPr>
            <a:cxnSpLocks/>
          </p:cNvCxnSpPr>
          <p:nvPr/>
        </p:nvCxnSpPr>
        <p:spPr>
          <a:xfrm>
            <a:off x="4386687" y="2722865"/>
            <a:ext cx="1537749" cy="4974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393F49C-105A-BE0D-2FD9-8813AC4FC51E}"/>
              </a:ext>
            </a:extLst>
          </p:cNvPr>
          <p:cNvCxnSpPr>
            <a:cxnSpLocks/>
          </p:cNvCxnSpPr>
          <p:nvPr/>
        </p:nvCxnSpPr>
        <p:spPr>
          <a:xfrm flipH="1">
            <a:off x="4601680" y="3195804"/>
            <a:ext cx="1680369" cy="19477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8EE54F3E-9ED2-E255-DF1D-BD5798BD9BDC}"/>
              </a:ext>
            </a:extLst>
          </p:cNvPr>
          <p:cNvSpPr/>
          <p:nvPr/>
        </p:nvSpPr>
        <p:spPr>
          <a:xfrm>
            <a:off x="3790023" y="3514992"/>
            <a:ext cx="99322" cy="123686"/>
          </a:xfrm>
          <a:custGeom>
            <a:avLst/>
            <a:gdLst>
              <a:gd name="connsiteX0" fmla="*/ 85725 w 114300"/>
              <a:gd name="connsiteY0" fmla="*/ 3084 h 142338"/>
              <a:gd name="connsiteX1" fmla="*/ 61912 w 114300"/>
              <a:gd name="connsiteY1" fmla="*/ 12609 h 142338"/>
              <a:gd name="connsiteX2" fmla="*/ 9525 w 114300"/>
              <a:gd name="connsiteY2" fmla="*/ 50709 h 142338"/>
              <a:gd name="connsiteX3" fmla="*/ 0 w 114300"/>
              <a:gd name="connsiteY3" fmla="*/ 69759 h 142338"/>
              <a:gd name="connsiteX4" fmla="*/ 9525 w 114300"/>
              <a:gd name="connsiteY4" fmla="*/ 131671 h 142338"/>
              <a:gd name="connsiteX5" fmla="*/ 100012 w 114300"/>
              <a:gd name="connsiteY5" fmla="*/ 117384 h 142338"/>
              <a:gd name="connsiteX6" fmla="*/ 114300 w 114300"/>
              <a:gd name="connsiteY6" fmla="*/ 69759 h 142338"/>
              <a:gd name="connsiteX7" fmla="*/ 85725 w 114300"/>
              <a:gd name="connsiteY7" fmla="*/ 3084 h 14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4300" h="142338">
                <a:moveTo>
                  <a:pt x="85725" y="3084"/>
                </a:moveTo>
                <a:cubicBezTo>
                  <a:pt x="76994" y="-6441"/>
                  <a:pt x="69559" y="8786"/>
                  <a:pt x="61912" y="12609"/>
                </a:cubicBezTo>
                <a:cubicBezTo>
                  <a:pt x="40323" y="23403"/>
                  <a:pt x="23911" y="31528"/>
                  <a:pt x="9525" y="50709"/>
                </a:cubicBezTo>
                <a:cubicBezTo>
                  <a:pt x="5265" y="56389"/>
                  <a:pt x="3175" y="63409"/>
                  <a:pt x="0" y="69759"/>
                </a:cubicBezTo>
                <a:cubicBezTo>
                  <a:pt x="3175" y="90396"/>
                  <a:pt x="-4683" y="116370"/>
                  <a:pt x="9525" y="131671"/>
                </a:cubicBezTo>
                <a:cubicBezTo>
                  <a:pt x="34455" y="158519"/>
                  <a:pt x="79914" y="127433"/>
                  <a:pt x="100012" y="117384"/>
                </a:cubicBezTo>
                <a:cubicBezTo>
                  <a:pt x="100565" y="115725"/>
                  <a:pt x="114300" y="76954"/>
                  <a:pt x="114300" y="69759"/>
                </a:cubicBezTo>
                <a:cubicBezTo>
                  <a:pt x="114300" y="-1041"/>
                  <a:pt x="94456" y="12609"/>
                  <a:pt x="85725" y="3084"/>
                </a:cubicBezTo>
                <a:close/>
              </a:path>
            </a:pathLst>
          </a:custGeom>
          <a:gradFill flip="none" rotWithShape="1">
            <a:gsLst>
              <a:gs pos="56000">
                <a:srgbClr val="3C1A56"/>
              </a:gs>
              <a:gs pos="100000">
                <a:schemeClr val="bg1"/>
              </a:gs>
              <a:gs pos="12000">
                <a:srgbClr val="7030A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9BA1404-D7A5-6BB3-ADD6-06D3F275E562}"/>
              </a:ext>
            </a:extLst>
          </p:cNvPr>
          <p:cNvSpPr/>
          <p:nvPr/>
        </p:nvSpPr>
        <p:spPr>
          <a:xfrm>
            <a:off x="4361588" y="3115188"/>
            <a:ext cx="50196" cy="50384"/>
          </a:xfrm>
          <a:custGeom>
            <a:avLst/>
            <a:gdLst>
              <a:gd name="connsiteX0" fmla="*/ 39719 w 57766"/>
              <a:gd name="connsiteY0" fmla="*/ 0 h 57982"/>
              <a:gd name="connsiteX1" fmla="*/ 1619 w 57766"/>
              <a:gd name="connsiteY1" fmla="*/ 52387 h 57982"/>
              <a:gd name="connsiteX2" fmla="*/ 34956 w 57766"/>
              <a:gd name="connsiteY2" fmla="*/ 57150 h 57982"/>
              <a:gd name="connsiteX3" fmla="*/ 54006 w 57766"/>
              <a:gd name="connsiteY3" fmla="*/ 52387 h 57982"/>
              <a:gd name="connsiteX4" fmla="*/ 39719 w 57766"/>
              <a:gd name="connsiteY4" fmla="*/ 0 h 57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766" h="57982">
                <a:moveTo>
                  <a:pt x="39719" y="0"/>
                </a:moveTo>
                <a:cubicBezTo>
                  <a:pt x="30988" y="0"/>
                  <a:pt x="-8398" y="32353"/>
                  <a:pt x="1619" y="52387"/>
                </a:cubicBezTo>
                <a:cubicBezTo>
                  <a:pt x="6639" y="62427"/>
                  <a:pt x="23844" y="55562"/>
                  <a:pt x="34956" y="57150"/>
                </a:cubicBezTo>
                <a:cubicBezTo>
                  <a:pt x="41306" y="55562"/>
                  <a:pt x="50079" y="57623"/>
                  <a:pt x="54006" y="52387"/>
                </a:cubicBezTo>
                <a:cubicBezTo>
                  <a:pt x="65276" y="37361"/>
                  <a:pt x="48450" y="0"/>
                  <a:pt x="39719" y="0"/>
                </a:cubicBezTo>
                <a:close/>
              </a:path>
            </a:pathLst>
          </a:custGeom>
          <a:gradFill flip="none" rotWithShape="1">
            <a:gsLst>
              <a:gs pos="56000">
                <a:srgbClr val="3C1A56"/>
              </a:gs>
              <a:gs pos="100000">
                <a:schemeClr val="bg1"/>
              </a:gs>
              <a:gs pos="12000">
                <a:srgbClr val="7030A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359DF187-D341-6BE1-20C2-E4D2AE89D963}"/>
              </a:ext>
            </a:extLst>
          </p:cNvPr>
          <p:cNvSpPr/>
          <p:nvPr/>
        </p:nvSpPr>
        <p:spPr>
          <a:xfrm>
            <a:off x="4464365" y="3360923"/>
            <a:ext cx="77061" cy="145592"/>
          </a:xfrm>
          <a:custGeom>
            <a:avLst/>
            <a:gdLst>
              <a:gd name="connsiteX0" fmla="*/ 45820 w 88682"/>
              <a:gd name="connsiteY0" fmla="*/ 230 h 167547"/>
              <a:gd name="connsiteX1" fmla="*/ 17245 w 88682"/>
              <a:gd name="connsiteY1" fmla="*/ 24043 h 167547"/>
              <a:gd name="connsiteX2" fmla="*/ 7720 w 88682"/>
              <a:gd name="connsiteY2" fmla="*/ 105005 h 167547"/>
              <a:gd name="connsiteX3" fmla="*/ 50582 w 88682"/>
              <a:gd name="connsiteY3" fmla="*/ 133580 h 167547"/>
              <a:gd name="connsiteX4" fmla="*/ 79157 w 88682"/>
              <a:gd name="connsiteY4" fmla="*/ 166918 h 167547"/>
              <a:gd name="connsiteX5" fmla="*/ 88682 w 88682"/>
              <a:gd name="connsiteY5" fmla="*/ 105005 h 167547"/>
              <a:gd name="connsiteX6" fmla="*/ 79157 w 88682"/>
              <a:gd name="connsiteY6" fmla="*/ 57380 h 167547"/>
              <a:gd name="connsiteX7" fmla="*/ 69632 w 88682"/>
              <a:gd name="connsiteY7" fmla="*/ 38330 h 167547"/>
              <a:gd name="connsiteX8" fmla="*/ 45820 w 88682"/>
              <a:gd name="connsiteY8" fmla="*/ 230 h 167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8682" h="167547">
                <a:moveTo>
                  <a:pt x="45820" y="230"/>
                </a:moveTo>
                <a:cubicBezTo>
                  <a:pt x="37089" y="-2151"/>
                  <a:pt x="25096" y="14447"/>
                  <a:pt x="17245" y="24043"/>
                </a:cubicBezTo>
                <a:cubicBezTo>
                  <a:pt x="294" y="44761"/>
                  <a:pt x="-6535" y="80772"/>
                  <a:pt x="7720" y="105005"/>
                </a:cubicBezTo>
                <a:cubicBezTo>
                  <a:pt x="16426" y="119806"/>
                  <a:pt x="50582" y="133580"/>
                  <a:pt x="50582" y="133580"/>
                </a:cubicBezTo>
                <a:cubicBezTo>
                  <a:pt x="52820" y="136937"/>
                  <a:pt x="75307" y="172693"/>
                  <a:pt x="79157" y="166918"/>
                </a:cubicBezTo>
                <a:cubicBezTo>
                  <a:pt x="90739" y="149544"/>
                  <a:pt x="85507" y="125643"/>
                  <a:pt x="88682" y="105005"/>
                </a:cubicBezTo>
                <a:cubicBezTo>
                  <a:pt x="85507" y="89130"/>
                  <a:pt x="83605" y="72946"/>
                  <a:pt x="79157" y="57380"/>
                </a:cubicBezTo>
                <a:cubicBezTo>
                  <a:pt x="77207" y="50554"/>
                  <a:pt x="71877" y="45065"/>
                  <a:pt x="69632" y="38330"/>
                </a:cubicBezTo>
                <a:cubicBezTo>
                  <a:pt x="57466" y="1830"/>
                  <a:pt x="54551" y="2611"/>
                  <a:pt x="45820" y="230"/>
                </a:cubicBezTo>
                <a:close/>
              </a:path>
            </a:pathLst>
          </a:custGeom>
          <a:gradFill flip="none" rotWithShape="1">
            <a:gsLst>
              <a:gs pos="56000">
                <a:srgbClr val="3C1A56"/>
              </a:gs>
              <a:gs pos="100000">
                <a:schemeClr val="bg1"/>
              </a:gs>
              <a:gs pos="12000">
                <a:srgbClr val="7030A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52D59315-D90B-6939-AE24-260A874CD860}"/>
              </a:ext>
            </a:extLst>
          </p:cNvPr>
          <p:cNvSpPr/>
          <p:nvPr/>
        </p:nvSpPr>
        <p:spPr>
          <a:xfrm>
            <a:off x="4601295" y="2828292"/>
            <a:ext cx="103840" cy="140706"/>
          </a:xfrm>
          <a:custGeom>
            <a:avLst/>
            <a:gdLst>
              <a:gd name="connsiteX0" fmla="*/ 0 w 119499"/>
              <a:gd name="connsiteY0" fmla="*/ 152400 h 161925"/>
              <a:gd name="connsiteX1" fmla="*/ 38100 w 119499"/>
              <a:gd name="connsiteY1" fmla="*/ 19050 h 161925"/>
              <a:gd name="connsiteX2" fmla="*/ 42863 w 119499"/>
              <a:gd name="connsiteY2" fmla="*/ 4762 h 161925"/>
              <a:gd name="connsiteX3" fmla="*/ 80963 w 119499"/>
              <a:gd name="connsiteY3" fmla="*/ 0 h 161925"/>
              <a:gd name="connsiteX4" fmla="*/ 109538 w 119499"/>
              <a:gd name="connsiteY4" fmla="*/ 4762 h 161925"/>
              <a:gd name="connsiteX5" fmla="*/ 100013 w 119499"/>
              <a:gd name="connsiteY5" fmla="*/ 90487 h 161925"/>
              <a:gd name="connsiteX6" fmla="*/ 61913 w 119499"/>
              <a:gd name="connsiteY6" fmla="*/ 138112 h 161925"/>
              <a:gd name="connsiteX7" fmla="*/ 47625 w 119499"/>
              <a:gd name="connsiteY7" fmla="*/ 147637 h 161925"/>
              <a:gd name="connsiteX8" fmla="*/ 33338 w 119499"/>
              <a:gd name="connsiteY8" fmla="*/ 161925 h 161925"/>
              <a:gd name="connsiteX9" fmla="*/ 0 w 119499"/>
              <a:gd name="connsiteY9" fmla="*/ 152400 h 161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9499" h="161925">
                <a:moveTo>
                  <a:pt x="0" y="152400"/>
                </a:moveTo>
                <a:cubicBezTo>
                  <a:pt x="12700" y="107950"/>
                  <a:pt x="23480" y="62906"/>
                  <a:pt x="38100" y="19050"/>
                </a:cubicBezTo>
                <a:cubicBezTo>
                  <a:pt x="39688" y="14287"/>
                  <a:pt x="38275" y="6801"/>
                  <a:pt x="42863" y="4762"/>
                </a:cubicBezTo>
                <a:cubicBezTo>
                  <a:pt x="54559" y="-436"/>
                  <a:pt x="68263" y="1587"/>
                  <a:pt x="80963" y="0"/>
                </a:cubicBezTo>
                <a:cubicBezTo>
                  <a:pt x="90488" y="1587"/>
                  <a:pt x="102710" y="-2066"/>
                  <a:pt x="109538" y="4762"/>
                </a:cubicBezTo>
                <a:cubicBezTo>
                  <a:pt x="133010" y="28234"/>
                  <a:pt x="108796" y="71824"/>
                  <a:pt x="100013" y="90487"/>
                </a:cubicBezTo>
                <a:cubicBezTo>
                  <a:pt x="91727" y="108094"/>
                  <a:pt x="76706" y="125433"/>
                  <a:pt x="61913" y="138112"/>
                </a:cubicBezTo>
                <a:cubicBezTo>
                  <a:pt x="57567" y="141837"/>
                  <a:pt x="52022" y="143973"/>
                  <a:pt x="47625" y="147637"/>
                </a:cubicBezTo>
                <a:cubicBezTo>
                  <a:pt x="42451" y="151949"/>
                  <a:pt x="38100" y="157162"/>
                  <a:pt x="33338" y="161925"/>
                </a:cubicBezTo>
                <a:lnTo>
                  <a:pt x="0" y="152400"/>
                </a:lnTo>
                <a:close/>
              </a:path>
            </a:pathLst>
          </a:custGeom>
          <a:gradFill flip="none" rotWithShape="1">
            <a:gsLst>
              <a:gs pos="56000">
                <a:srgbClr val="3C1A56"/>
              </a:gs>
              <a:gs pos="100000">
                <a:schemeClr val="bg1"/>
              </a:gs>
              <a:gs pos="12000">
                <a:srgbClr val="7030A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FD5C014A-3D93-5444-9A33-2AED1D08AAF2}"/>
              </a:ext>
            </a:extLst>
          </p:cNvPr>
          <p:cNvSpPr/>
          <p:nvPr/>
        </p:nvSpPr>
        <p:spPr>
          <a:xfrm>
            <a:off x="3663715" y="2723978"/>
            <a:ext cx="138865" cy="97267"/>
          </a:xfrm>
          <a:custGeom>
            <a:avLst/>
            <a:gdLst>
              <a:gd name="connsiteX0" fmla="*/ 112181 w 159806"/>
              <a:gd name="connsiteY0" fmla="*/ 2397 h 111935"/>
              <a:gd name="connsiteX1" fmla="*/ 88368 w 159806"/>
              <a:gd name="connsiteY1" fmla="*/ 7160 h 111935"/>
              <a:gd name="connsiteX2" fmla="*/ 26456 w 159806"/>
              <a:gd name="connsiteY2" fmla="*/ 11922 h 111935"/>
              <a:gd name="connsiteX3" fmla="*/ 12168 w 159806"/>
              <a:gd name="connsiteY3" fmla="*/ 21447 h 111935"/>
              <a:gd name="connsiteX4" fmla="*/ 7406 w 159806"/>
              <a:gd name="connsiteY4" fmla="*/ 54785 h 111935"/>
              <a:gd name="connsiteX5" fmla="*/ 2643 w 159806"/>
              <a:gd name="connsiteY5" fmla="*/ 83360 h 111935"/>
              <a:gd name="connsiteX6" fmla="*/ 78843 w 159806"/>
              <a:gd name="connsiteY6" fmla="*/ 111935 h 111935"/>
              <a:gd name="connsiteX7" fmla="*/ 135993 w 159806"/>
              <a:gd name="connsiteY7" fmla="*/ 102410 h 111935"/>
              <a:gd name="connsiteX8" fmla="*/ 159806 w 159806"/>
              <a:gd name="connsiteY8" fmla="*/ 50022 h 111935"/>
              <a:gd name="connsiteX9" fmla="*/ 112181 w 159806"/>
              <a:gd name="connsiteY9" fmla="*/ 2397 h 111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9806" h="111935">
                <a:moveTo>
                  <a:pt x="112181" y="2397"/>
                </a:moveTo>
                <a:cubicBezTo>
                  <a:pt x="100275" y="-4747"/>
                  <a:pt x="96413" y="6266"/>
                  <a:pt x="88368" y="7160"/>
                </a:cubicBezTo>
                <a:cubicBezTo>
                  <a:pt x="67796" y="9446"/>
                  <a:pt x="46800" y="8108"/>
                  <a:pt x="26456" y="11922"/>
                </a:cubicBezTo>
                <a:cubicBezTo>
                  <a:pt x="20830" y="12977"/>
                  <a:pt x="16931" y="18272"/>
                  <a:pt x="12168" y="21447"/>
                </a:cubicBezTo>
                <a:cubicBezTo>
                  <a:pt x="10581" y="32560"/>
                  <a:pt x="9113" y="43690"/>
                  <a:pt x="7406" y="54785"/>
                </a:cubicBezTo>
                <a:cubicBezTo>
                  <a:pt x="5938" y="64329"/>
                  <a:pt x="-4897" y="77328"/>
                  <a:pt x="2643" y="83360"/>
                </a:cubicBezTo>
                <a:cubicBezTo>
                  <a:pt x="23826" y="100306"/>
                  <a:pt x="78843" y="111935"/>
                  <a:pt x="78843" y="111935"/>
                </a:cubicBezTo>
                <a:cubicBezTo>
                  <a:pt x="97893" y="108760"/>
                  <a:pt x="118062" y="109583"/>
                  <a:pt x="135993" y="102410"/>
                </a:cubicBezTo>
                <a:cubicBezTo>
                  <a:pt x="150826" y="96477"/>
                  <a:pt x="157403" y="58432"/>
                  <a:pt x="159806" y="50022"/>
                </a:cubicBezTo>
                <a:cubicBezTo>
                  <a:pt x="154149" y="-885"/>
                  <a:pt x="124087" y="9541"/>
                  <a:pt x="112181" y="2397"/>
                </a:cubicBezTo>
                <a:close/>
              </a:path>
            </a:pathLst>
          </a:custGeom>
          <a:gradFill flip="none" rotWithShape="1">
            <a:gsLst>
              <a:gs pos="56000">
                <a:srgbClr val="3C1A56"/>
              </a:gs>
              <a:gs pos="100000">
                <a:schemeClr val="bg1"/>
              </a:gs>
              <a:gs pos="12000">
                <a:srgbClr val="7030A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97C3284-AC4D-7D21-175E-C4E5A2461991}"/>
              </a:ext>
            </a:extLst>
          </p:cNvPr>
          <p:cNvSpPr/>
          <p:nvPr/>
        </p:nvSpPr>
        <p:spPr>
          <a:xfrm>
            <a:off x="6421359" y="2603701"/>
            <a:ext cx="106205" cy="1062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D071E01-3551-50B8-479C-BC5A494ADB47}"/>
              </a:ext>
            </a:extLst>
          </p:cNvPr>
          <p:cNvSpPr/>
          <p:nvPr/>
        </p:nvSpPr>
        <p:spPr>
          <a:xfrm>
            <a:off x="6340014" y="3537627"/>
            <a:ext cx="106205" cy="1062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74EC309-9E13-053D-018A-7982FBDF909A}"/>
              </a:ext>
            </a:extLst>
          </p:cNvPr>
          <p:cNvCxnSpPr>
            <a:cxnSpLocks/>
          </p:cNvCxnSpPr>
          <p:nvPr/>
        </p:nvCxnSpPr>
        <p:spPr>
          <a:xfrm flipH="1">
            <a:off x="4464365" y="3144734"/>
            <a:ext cx="1776635" cy="1771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715B1FB-596D-3120-5622-23929476F2B0}"/>
              </a:ext>
            </a:extLst>
          </p:cNvPr>
          <p:cNvCxnSpPr>
            <a:cxnSpLocks/>
          </p:cNvCxnSpPr>
          <p:nvPr/>
        </p:nvCxnSpPr>
        <p:spPr>
          <a:xfrm flipH="1">
            <a:off x="4529814" y="3002354"/>
            <a:ext cx="83125" cy="311506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61DBFA10-E3B8-B70D-659B-7FE2BA1BE9BD}"/>
              </a:ext>
            </a:extLst>
          </p:cNvPr>
          <p:cNvCxnSpPr>
            <a:cxnSpLocks/>
          </p:cNvCxnSpPr>
          <p:nvPr/>
        </p:nvCxnSpPr>
        <p:spPr>
          <a:xfrm>
            <a:off x="4288833" y="2828292"/>
            <a:ext cx="79886" cy="260782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8C8A9744-B843-3BE6-32EC-BCD8129E3796}"/>
              </a:ext>
            </a:extLst>
          </p:cNvPr>
          <p:cNvCxnSpPr>
            <a:cxnSpLocks/>
          </p:cNvCxnSpPr>
          <p:nvPr/>
        </p:nvCxnSpPr>
        <p:spPr>
          <a:xfrm>
            <a:off x="4725200" y="1584959"/>
            <a:ext cx="1564864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9AF5856A-8736-429C-7ACB-AC17134FD15F}"/>
              </a:ext>
            </a:extLst>
          </p:cNvPr>
          <p:cNvCxnSpPr>
            <a:cxnSpLocks/>
          </p:cNvCxnSpPr>
          <p:nvPr/>
        </p:nvCxnSpPr>
        <p:spPr>
          <a:xfrm flipH="1">
            <a:off x="5670915" y="2873683"/>
            <a:ext cx="1887773" cy="1998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839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8" grpId="0" animBg="1"/>
      <p:bldP spid="9" grpId="0"/>
      <p:bldP spid="3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EBAC487-BEE7-759B-DE15-6BA6A83E93E3}"/>
              </a:ext>
            </a:extLst>
          </p:cNvPr>
          <p:cNvSpPr/>
          <p:nvPr/>
        </p:nvSpPr>
        <p:spPr>
          <a:xfrm>
            <a:off x="7037294" y="313766"/>
            <a:ext cx="77259" cy="20618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92C0585-271C-699B-8E4D-339A8B924C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7223"/>
          <a:stretch/>
        </p:blipFill>
        <p:spPr>
          <a:xfrm>
            <a:off x="276926" y="274645"/>
            <a:ext cx="6692929" cy="24530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4E646AE-8D94-C14C-D5C0-9870FF24C781}"/>
              </a:ext>
            </a:extLst>
          </p:cNvPr>
          <p:cNvSpPr txBox="1"/>
          <p:nvPr/>
        </p:nvSpPr>
        <p:spPr>
          <a:xfrm>
            <a:off x="7253100" y="226684"/>
            <a:ext cx="45709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Informal intuitive requirement</a:t>
            </a:r>
          </a:p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(something that makes sense to a physicist or an engineer) </a:t>
            </a:r>
          </a:p>
        </p:txBody>
      </p:sp>
    </p:spTree>
    <p:extLst>
      <p:ext uri="{BB962C8B-B14F-4D97-AF65-F5344CB8AC3E}">
        <p14:creationId xmlns:p14="http://schemas.microsoft.com/office/powerpoint/2010/main" val="3241786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4C697-A815-6B75-08D1-7A2B080D9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FFE51D8-2D68-E377-3878-1ADC600F5D4E}"/>
              </a:ext>
            </a:extLst>
          </p:cNvPr>
          <p:cNvSpPr/>
          <p:nvPr/>
        </p:nvSpPr>
        <p:spPr>
          <a:xfrm>
            <a:off x="7037294" y="519954"/>
            <a:ext cx="77259" cy="198749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376FE6-8B85-8C0F-F752-EB10A2770E2B}"/>
              </a:ext>
            </a:extLst>
          </p:cNvPr>
          <p:cNvSpPr/>
          <p:nvPr/>
        </p:nvSpPr>
        <p:spPr>
          <a:xfrm>
            <a:off x="7037294" y="313766"/>
            <a:ext cx="77259" cy="20618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06694C7-9C22-00F2-CADA-99B9D31729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4718"/>
          <a:stretch/>
        </p:blipFill>
        <p:spPr>
          <a:xfrm>
            <a:off x="276926" y="274646"/>
            <a:ext cx="6692929" cy="2232808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A6955F78-63C3-02A8-F888-7E25B5820911}"/>
              </a:ext>
            </a:extLst>
          </p:cNvPr>
          <p:cNvSpPr/>
          <p:nvPr/>
        </p:nvSpPr>
        <p:spPr>
          <a:xfrm>
            <a:off x="419100" y="512332"/>
            <a:ext cx="777240" cy="196328"/>
          </a:xfrm>
          <a:prstGeom prst="rect">
            <a:avLst/>
          </a:prstGeom>
          <a:noFill/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562252-04BE-0363-1D1F-179628D41347}"/>
              </a:ext>
            </a:extLst>
          </p:cNvPr>
          <p:cNvSpPr txBox="1"/>
          <p:nvPr/>
        </p:nvSpPr>
        <p:spPr>
          <a:xfrm>
            <a:off x="7253100" y="226684"/>
            <a:ext cx="45709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Informal intuitive requirement</a:t>
            </a:r>
          </a:p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(something that makes sense to a physicist or an engineer)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205709-E73E-78E8-0C43-44B5856B3944}"/>
              </a:ext>
            </a:extLst>
          </p:cNvPr>
          <p:cNvSpPr txBox="1"/>
          <p:nvPr/>
        </p:nvSpPr>
        <p:spPr>
          <a:xfrm>
            <a:off x="7253100" y="1259302"/>
            <a:ext cx="36260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Formal definition</a:t>
            </a:r>
          </a:p>
          <a:p>
            <a:r>
              <a:rPr lang="en-US" sz="1400" dirty="0">
                <a:solidFill>
                  <a:schemeClr val="accent4">
                    <a:lumMod val="75000"/>
                  </a:schemeClr>
                </a:solidFill>
              </a:rPr>
              <a:t>(something a mathematician will find precise) </a:t>
            </a:r>
          </a:p>
        </p:txBody>
      </p:sp>
    </p:spTree>
    <p:extLst>
      <p:ext uri="{BB962C8B-B14F-4D97-AF65-F5344CB8AC3E}">
        <p14:creationId xmlns:p14="http://schemas.microsoft.com/office/powerpoint/2010/main" val="1402826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69D14-F961-FB1B-1B55-7B3119A8B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849DA16-BC8B-4ACF-EF57-5410463310A7}"/>
              </a:ext>
            </a:extLst>
          </p:cNvPr>
          <p:cNvSpPr/>
          <p:nvPr/>
        </p:nvSpPr>
        <p:spPr>
          <a:xfrm>
            <a:off x="7037294" y="2507456"/>
            <a:ext cx="77259" cy="181002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7AB716-90C8-674B-6645-ED43312155F6}"/>
              </a:ext>
            </a:extLst>
          </p:cNvPr>
          <p:cNvSpPr/>
          <p:nvPr/>
        </p:nvSpPr>
        <p:spPr>
          <a:xfrm>
            <a:off x="7037294" y="519954"/>
            <a:ext cx="77259" cy="198749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E39B586-C693-2FAC-2F04-C59BFDE0653B}"/>
              </a:ext>
            </a:extLst>
          </p:cNvPr>
          <p:cNvSpPr/>
          <p:nvPr/>
        </p:nvSpPr>
        <p:spPr>
          <a:xfrm>
            <a:off x="7037294" y="313766"/>
            <a:ext cx="77259" cy="20618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7095D75-F070-F9D4-80DB-8AB86109DA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5578"/>
          <a:stretch/>
        </p:blipFill>
        <p:spPr>
          <a:xfrm>
            <a:off x="276926" y="274645"/>
            <a:ext cx="6692929" cy="304005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F4BB0E9-F718-0972-70B4-C0A83393F4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3485" b="22907"/>
          <a:stretch>
            <a:fillRect/>
          </a:stretch>
        </p:blipFill>
        <p:spPr>
          <a:xfrm>
            <a:off x="273986" y="3115615"/>
            <a:ext cx="6692929" cy="1201862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0773D634-5366-26FD-DD48-FA61848D9F6C}"/>
              </a:ext>
            </a:extLst>
          </p:cNvPr>
          <p:cNvSpPr/>
          <p:nvPr/>
        </p:nvSpPr>
        <p:spPr>
          <a:xfrm>
            <a:off x="419100" y="512332"/>
            <a:ext cx="777240" cy="196328"/>
          </a:xfrm>
          <a:prstGeom prst="rect">
            <a:avLst/>
          </a:prstGeom>
          <a:noFill/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5C2B99A-52ED-041E-5E15-D79175322F99}"/>
              </a:ext>
            </a:extLst>
          </p:cNvPr>
          <p:cNvSpPr/>
          <p:nvPr/>
        </p:nvSpPr>
        <p:spPr>
          <a:xfrm>
            <a:off x="670560" y="2509245"/>
            <a:ext cx="982980" cy="196328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34C8BD-E547-B3C3-F977-33394F734AFC}"/>
              </a:ext>
            </a:extLst>
          </p:cNvPr>
          <p:cNvSpPr/>
          <p:nvPr/>
        </p:nvSpPr>
        <p:spPr>
          <a:xfrm>
            <a:off x="273986" y="4003040"/>
            <a:ext cx="6979114" cy="314437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9E41224-9A3D-F449-B9E6-59059E96A68D}"/>
                  </a:ext>
                </a:extLst>
              </p:cNvPr>
              <p:cNvSpPr/>
              <p:nvPr/>
            </p:nvSpPr>
            <p:spPr>
              <a:xfrm>
                <a:off x="802640" y="4714240"/>
                <a:ext cx="711200" cy="66040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9E41224-9A3D-F449-B9E6-59059E96A6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640" y="4714240"/>
                <a:ext cx="711200" cy="660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7A10A8A-F028-03BD-DF08-1AE5D5CBA264}"/>
                  </a:ext>
                </a:extLst>
              </p:cNvPr>
              <p:cNvSpPr/>
              <p:nvPr/>
            </p:nvSpPr>
            <p:spPr>
              <a:xfrm>
                <a:off x="802640" y="5685268"/>
                <a:ext cx="711200" cy="66040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7A10A8A-F028-03BD-DF08-1AE5D5CBA2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640" y="5685268"/>
                <a:ext cx="711200" cy="6604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0297C5C0-F9DD-32CC-39FB-6250CE5018D8}"/>
              </a:ext>
            </a:extLst>
          </p:cNvPr>
          <p:cNvSpPr/>
          <p:nvPr/>
        </p:nvSpPr>
        <p:spPr>
          <a:xfrm>
            <a:off x="670560" y="4576762"/>
            <a:ext cx="2105978" cy="1899667"/>
          </a:xfrm>
          <a:prstGeom prst="rect">
            <a:avLst/>
          </a:prstGeom>
          <a:noFill/>
          <a:ln w="3810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731BB3F-1B71-066F-8D32-15C51D6AACEF}"/>
              </a:ext>
            </a:extLst>
          </p:cNvPr>
          <p:cNvCxnSpPr>
            <a:cxnSpLocks/>
          </p:cNvCxnSpPr>
          <p:nvPr/>
        </p:nvCxnSpPr>
        <p:spPr>
          <a:xfrm>
            <a:off x="1573530" y="5044440"/>
            <a:ext cx="552636" cy="330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2101C30-C3FC-D871-C0E9-A347BB16D2F9}"/>
              </a:ext>
            </a:extLst>
          </p:cNvPr>
          <p:cNvCxnSpPr>
            <a:cxnSpLocks/>
          </p:cNvCxnSpPr>
          <p:nvPr/>
        </p:nvCxnSpPr>
        <p:spPr>
          <a:xfrm flipV="1">
            <a:off x="1570961" y="5617736"/>
            <a:ext cx="555205" cy="391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CBF92C0-651A-E59E-C7E9-1500DEC57CE3}"/>
              </a:ext>
            </a:extLst>
          </p:cNvPr>
          <p:cNvGrpSpPr/>
          <p:nvPr/>
        </p:nvGrpSpPr>
        <p:grpSpPr>
          <a:xfrm>
            <a:off x="2151073" y="5327734"/>
            <a:ext cx="436017" cy="371316"/>
            <a:chOff x="2620499" y="4833143"/>
            <a:chExt cx="436017" cy="371316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D05D442-0FFD-B52E-D2E0-04B6C8E70A7D}"/>
                </a:ext>
              </a:extLst>
            </p:cNvPr>
            <p:cNvSpPr/>
            <p:nvPr/>
          </p:nvSpPr>
          <p:spPr>
            <a:xfrm>
              <a:off x="2662239" y="4861561"/>
              <a:ext cx="342898" cy="34289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99C6A281-F904-BB8A-38C8-AA2664B169A4}"/>
                    </a:ext>
                  </a:extLst>
                </p:cNvPr>
                <p:cNvSpPr txBox="1"/>
                <p:nvPr/>
              </p:nvSpPr>
              <p:spPr>
                <a:xfrm>
                  <a:off x="2620499" y="4833143"/>
                  <a:ext cx="436017" cy="35753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6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99C6A281-F904-BB8A-38C8-AA2664B169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20499" y="4833143"/>
                  <a:ext cx="436017" cy="357534"/>
                </a:xfrm>
                <a:prstGeom prst="rect">
                  <a:avLst/>
                </a:prstGeom>
                <a:blipFill>
                  <a:blip r:embed="rId5"/>
                  <a:stretch>
                    <a:fillRect b="-16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1B5D089-FB12-64B3-3678-1E464DFFD20A}"/>
              </a:ext>
            </a:extLst>
          </p:cNvPr>
          <p:cNvCxnSpPr>
            <a:cxnSpLocks/>
          </p:cNvCxnSpPr>
          <p:nvPr/>
        </p:nvCxnSpPr>
        <p:spPr>
          <a:xfrm>
            <a:off x="2624137" y="5527601"/>
            <a:ext cx="16716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66D90A0-8DB8-27CB-D570-F27F5E35D858}"/>
                  </a:ext>
                </a:extLst>
              </p:cNvPr>
              <p:cNvSpPr txBox="1"/>
              <p:nvPr/>
            </p:nvSpPr>
            <p:spPr>
              <a:xfrm>
                <a:off x="1679443" y="4897125"/>
                <a:ext cx="38786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66D90A0-8DB8-27CB-D570-F27F5E35D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9443" y="4897125"/>
                <a:ext cx="387863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6CE4A75-D71E-4E6B-8A5E-E439BF5BE963}"/>
                  </a:ext>
                </a:extLst>
              </p:cNvPr>
              <p:cNvSpPr txBox="1"/>
              <p:nvPr/>
            </p:nvSpPr>
            <p:spPr>
              <a:xfrm>
                <a:off x="1723549" y="5782340"/>
                <a:ext cx="39203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6CE4A75-D71E-4E6B-8A5E-E439BF5BE9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549" y="5782340"/>
                <a:ext cx="392030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054AC64-1678-A963-2729-F4CB8C994AA8}"/>
                  </a:ext>
                </a:extLst>
              </p:cNvPr>
              <p:cNvSpPr txBox="1"/>
              <p:nvPr/>
            </p:nvSpPr>
            <p:spPr>
              <a:xfrm>
                <a:off x="2776538" y="5200662"/>
                <a:ext cx="143552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𝑝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054AC64-1678-A963-2729-F4CB8C994A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6538" y="5200662"/>
                <a:ext cx="1435521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D5C0B2F3-1F1F-B0DA-8554-67D056546D93}"/>
              </a:ext>
            </a:extLst>
          </p:cNvPr>
          <p:cNvSpPr txBox="1"/>
          <p:nvPr/>
        </p:nvSpPr>
        <p:spPr>
          <a:xfrm>
            <a:off x="5740297" y="4620159"/>
            <a:ext cx="24532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Clear idea of what</a:t>
            </a:r>
            <a:br>
              <a:rPr lang="en-US" sz="24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is being modelled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66F0777-E4B8-81BE-AF49-A959DD09994D}"/>
              </a:ext>
            </a:extLst>
          </p:cNvPr>
          <p:cNvCxnSpPr/>
          <p:nvPr/>
        </p:nvCxnSpPr>
        <p:spPr>
          <a:xfrm flipH="1" flipV="1">
            <a:off x="6388100" y="2705573"/>
            <a:ext cx="76200" cy="1914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582667C-5D09-C72D-B731-A0161577E7CE}"/>
              </a:ext>
            </a:extLst>
          </p:cNvPr>
          <p:cNvCxnSpPr/>
          <p:nvPr/>
        </p:nvCxnSpPr>
        <p:spPr>
          <a:xfrm flipH="1">
            <a:off x="4597400" y="5044440"/>
            <a:ext cx="1079500" cy="54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8CC64DF-A9F6-225F-B713-1558EDB007DE}"/>
                  </a:ext>
                </a:extLst>
              </p:cNvPr>
              <p:cNvSpPr txBox="1"/>
              <p:nvPr/>
            </p:nvSpPr>
            <p:spPr>
              <a:xfrm>
                <a:off x="2833022" y="4512437"/>
                <a:ext cx="4980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8CC64DF-A9F6-225F-B713-1558EDB007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3022" y="4512437"/>
                <a:ext cx="498021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398A039B-2A68-9DB8-C57A-9CF09965A547}"/>
              </a:ext>
            </a:extLst>
          </p:cNvPr>
          <p:cNvSpPr txBox="1"/>
          <p:nvPr/>
        </p:nvSpPr>
        <p:spPr>
          <a:xfrm>
            <a:off x="7253100" y="226684"/>
            <a:ext cx="45709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Informal intuitive requirement</a:t>
            </a:r>
          </a:p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(something that makes sense to a physicist or an engineer)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710AB9-B7EE-4E0D-EB3D-5CAD5F242D11}"/>
              </a:ext>
            </a:extLst>
          </p:cNvPr>
          <p:cNvSpPr txBox="1"/>
          <p:nvPr/>
        </p:nvSpPr>
        <p:spPr>
          <a:xfrm>
            <a:off x="7253100" y="1259302"/>
            <a:ext cx="36260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Formal definition</a:t>
            </a:r>
          </a:p>
          <a:p>
            <a:r>
              <a:rPr lang="en-US" sz="1400" dirty="0">
                <a:solidFill>
                  <a:schemeClr val="accent4">
                    <a:lumMod val="75000"/>
                  </a:schemeClr>
                </a:solidFill>
              </a:rPr>
              <a:t>(something a mathematician will find precise)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7C398D-6458-08E2-D28F-AC1CE2086D36}"/>
              </a:ext>
            </a:extLst>
          </p:cNvPr>
          <p:cNvSpPr txBox="1"/>
          <p:nvPr/>
        </p:nvSpPr>
        <p:spPr>
          <a:xfrm>
            <a:off x="7253100" y="2792448"/>
            <a:ext cx="4747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Show that the formal definition</a:t>
            </a:r>
            <a:br>
              <a:rPr lang="en-US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follows from the intuitive requirement</a:t>
            </a:r>
          </a:p>
        </p:txBody>
      </p:sp>
    </p:spTree>
    <p:extLst>
      <p:ext uri="{BB962C8B-B14F-4D97-AF65-F5344CB8AC3E}">
        <p14:creationId xmlns:p14="http://schemas.microsoft.com/office/powerpoint/2010/main" val="1230959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16616-B3EE-AF8C-E67E-7E2D7EFDE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E15CC68-F47F-3A4E-FDC9-CA3A3C8042B3}"/>
              </a:ext>
            </a:extLst>
          </p:cNvPr>
          <p:cNvSpPr/>
          <p:nvPr/>
        </p:nvSpPr>
        <p:spPr>
          <a:xfrm>
            <a:off x="7037294" y="2507456"/>
            <a:ext cx="77259" cy="143601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FB5A0D-981A-DCD9-CF2A-C73E9839D785}"/>
              </a:ext>
            </a:extLst>
          </p:cNvPr>
          <p:cNvSpPr/>
          <p:nvPr/>
        </p:nvSpPr>
        <p:spPr>
          <a:xfrm>
            <a:off x="7037294" y="519954"/>
            <a:ext cx="77259" cy="198749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EEE956-7450-B35B-FBD0-5DBE3FB7F568}"/>
              </a:ext>
            </a:extLst>
          </p:cNvPr>
          <p:cNvSpPr/>
          <p:nvPr/>
        </p:nvSpPr>
        <p:spPr>
          <a:xfrm>
            <a:off x="7037294" y="313766"/>
            <a:ext cx="77259" cy="20618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1D59870-BC02-3531-0B93-DEFC117310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4718"/>
          <a:stretch>
            <a:fillRect/>
          </a:stretch>
        </p:blipFill>
        <p:spPr>
          <a:xfrm>
            <a:off x="276926" y="274646"/>
            <a:ext cx="6692929" cy="223280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7E8662E-9F36-E292-A6B4-EBE25B53D6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3969" b="1"/>
          <a:stretch>
            <a:fillRect/>
          </a:stretch>
        </p:blipFill>
        <p:spPr>
          <a:xfrm>
            <a:off x="273986" y="2502275"/>
            <a:ext cx="6692929" cy="1415792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4F34F7D-40CF-4A7C-AE43-047F3CC9FDE3}"/>
              </a:ext>
            </a:extLst>
          </p:cNvPr>
          <p:cNvSpPr/>
          <p:nvPr/>
        </p:nvSpPr>
        <p:spPr>
          <a:xfrm>
            <a:off x="419100" y="512332"/>
            <a:ext cx="777240" cy="196328"/>
          </a:xfrm>
          <a:prstGeom prst="rect">
            <a:avLst/>
          </a:prstGeom>
          <a:noFill/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67ECF1-8208-7932-DCE7-DDB9ED81019A}"/>
              </a:ext>
            </a:extLst>
          </p:cNvPr>
          <p:cNvSpPr/>
          <p:nvPr/>
        </p:nvSpPr>
        <p:spPr>
          <a:xfrm>
            <a:off x="273986" y="2318665"/>
            <a:ext cx="6979114" cy="314437"/>
          </a:xfrm>
          <a:prstGeom prst="rect">
            <a:avLst/>
          </a:prstGeom>
          <a:gradFill>
            <a:gsLst>
              <a:gs pos="100000">
                <a:srgbClr val="F9FAFD">
                  <a:alpha val="0"/>
                </a:srgbClr>
              </a:gs>
              <a:gs pos="0">
                <a:schemeClr val="accent1">
                  <a:lumMod val="5000"/>
                  <a:lumOff val="95000"/>
                  <a:alpha val="0"/>
                </a:schemeClr>
              </a:gs>
              <a:gs pos="5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B67D2EF-D33D-FBE5-90DF-D96DBF197DCF}"/>
                  </a:ext>
                </a:extLst>
              </p:cNvPr>
              <p:cNvSpPr/>
              <p:nvPr/>
            </p:nvSpPr>
            <p:spPr>
              <a:xfrm>
                <a:off x="802640" y="4714240"/>
                <a:ext cx="711200" cy="66040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B67D2EF-D33D-FBE5-90DF-D96DBF197D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640" y="4714240"/>
                <a:ext cx="711200" cy="660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2A5044A-719F-B670-4C99-CCA624455BD6}"/>
                  </a:ext>
                </a:extLst>
              </p:cNvPr>
              <p:cNvSpPr/>
              <p:nvPr/>
            </p:nvSpPr>
            <p:spPr>
              <a:xfrm>
                <a:off x="802640" y="5685268"/>
                <a:ext cx="711200" cy="66040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2A5044A-719F-B670-4C99-CCA624455B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640" y="5685268"/>
                <a:ext cx="711200" cy="6604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5AFE67E4-94C6-4676-AAB2-442515337093}"/>
              </a:ext>
            </a:extLst>
          </p:cNvPr>
          <p:cNvSpPr/>
          <p:nvPr/>
        </p:nvSpPr>
        <p:spPr>
          <a:xfrm>
            <a:off x="670560" y="4576762"/>
            <a:ext cx="2105978" cy="1899667"/>
          </a:xfrm>
          <a:prstGeom prst="rect">
            <a:avLst/>
          </a:prstGeom>
          <a:noFill/>
          <a:ln w="3810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3B39135-A308-1542-FD6C-86F36328CC93}"/>
              </a:ext>
            </a:extLst>
          </p:cNvPr>
          <p:cNvCxnSpPr>
            <a:cxnSpLocks/>
          </p:cNvCxnSpPr>
          <p:nvPr/>
        </p:nvCxnSpPr>
        <p:spPr>
          <a:xfrm>
            <a:off x="1573530" y="5044440"/>
            <a:ext cx="552636" cy="330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EE064F8-8FE5-AE67-B331-811CA4789B02}"/>
              </a:ext>
            </a:extLst>
          </p:cNvPr>
          <p:cNvCxnSpPr>
            <a:cxnSpLocks/>
          </p:cNvCxnSpPr>
          <p:nvPr/>
        </p:nvCxnSpPr>
        <p:spPr>
          <a:xfrm flipV="1">
            <a:off x="1570961" y="5617736"/>
            <a:ext cx="555205" cy="391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26884646-5325-E642-1C17-7A0E69974AA8}"/>
              </a:ext>
            </a:extLst>
          </p:cNvPr>
          <p:cNvGrpSpPr/>
          <p:nvPr/>
        </p:nvGrpSpPr>
        <p:grpSpPr>
          <a:xfrm>
            <a:off x="2151073" y="5327734"/>
            <a:ext cx="436017" cy="371316"/>
            <a:chOff x="2620499" y="4833143"/>
            <a:chExt cx="436017" cy="37131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42DBB54-DD03-1E9C-CE8D-B70813BC24A2}"/>
                </a:ext>
              </a:extLst>
            </p:cNvPr>
            <p:cNvSpPr/>
            <p:nvPr/>
          </p:nvSpPr>
          <p:spPr>
            <a:xfrm>
              <a:off x="2662239" y="4861561"/>
              <a:ext cx="342898" cy="34289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7713D2BF-63A3-8A67-E768-442CC39565C1}"/>
                    </a:ext>
                  </a:extLst>
                </p:cNvPr>
                <p:cNvSpPr txBox="1"/>
                <p:nvPr/>
              </p:nvSpPr>
              <p:spPr>
                <a:xfrm>
                  <a:off x="2620499" y="4833143"/>
                  <a:ext cx="436017" cy="35753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6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7713D2BF-63A3-8A67-E768-442CC39565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20499" y="4833143"/>
                  <a:ext cx="436017" cy="357534"/>
                </a:xfrm>
                <a:prstGeom prst="rect">
                  <a:avLst/>
                </a:prstGeom>
                <a:blipFill>
                  <a:blip r:embed="rId5"/>
                  <a:stretch>
                    <a:fillRect b="-16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1A51762-A47E-90EB-D650-FC0EA9A53F3E}"/>
              </a:ext>
            </a:extLst>
          </p:cNvPr>
          <p:cNvCxnSpPr>
            <a:cxnSpLocks/>
          </p:cNvCxnSpPr>
          <p:nvPr/>
        </p:nvCxnSpPr>
        <p:spPr>
          <a:xfrm>
            <a:off x="2624137" y="5527601"/>
            <a:ext cx="16716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76FCE41-D611-1119-EEF3-0B116F781CFD}"/>
                  </a:ext>
                </a:extLst>
              </p:cNvPr>
              <p:cNvSpPr txBox="1"/>
              <p:nvPr/>
            </p:nvSpPr>
            <p:spPr>
              <a:xfrm>
                <a:off x="1679443" y="4897125"/>
                <a:ext cx="38786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76FCE41-D611-1119-EEF3-0B116F781C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9443" y="4897125"/>
                <a:ext cx="387863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6489CC8-06DE-4C72-7596-C07960C4E753}"/>
                  </a:ext>
                </a:extLst>
              </p:cNvPr>
              <p:cNvSpPr txBox="1"/>
              <p:nvPr/>
            </p:nvSpPr>
            <p:spPr>
              <a:xfrm>
                <a:off x="1723549" y="5782340"/>
                <a:ext cx="39203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6489CC8-06DE-4C72-7596-C07960C4E7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549" y="5782340"/>
                <a:ext cx="392030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04688AA-BB3F-2185-27B5-9AFF5E2D93A9}"/>
                  </a:ext>
                </a:extLst>
              </p:cNvPr>
              <p:cNvSpPr txBox="1"/>
              <p:nvPr/>
            </p:nvSpPr>
            <p:spPr>
              <a:xfrm>
                <a:off x="2776538" y="5200662"/>
                <a:ext cx="143552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𝑝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04688AA-BB3F-2185-27B5-9AFF5E2D93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6538" y="5200662"/>
                <a:ext cx="1435521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34A5669-F133-7234-B9B1-AECA3B3E567A}"/>
                  </a:ext>
                </a:extLst>
              </p:cNvPr>
              <p:cNvSpPr txBox="1"/>
              <p:nvPr/>
            </p:nvSpPr>
            <p:spPr>
              <a:xfrm>
                <a:off x="3763543" y="4169803"/>
                <a:ext cx="4258794" cy="5073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=1−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34A5669-F133-7234-B9B1-AECA3B3E56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3543" y="4169803"/>
                <a:ext cx="4258794" cy="50731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255DF65-CEAB-85B8-7EFD-AC903CAD0E22}"/>
              </a:ext>
            </a:extLst>
          </p:cNvPr>
          <p:cNvCxnSpPr/>
          <p:nvPr/>
        </p:nvCxnSpPr>
        <p:spPr>
          <a:xfrm flipH="1" flipV="1">
            <a:off x="3968750" y="3943468"/>
            <a:ext cx="327025" cy="2792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3A91207-8B91-D79D-0FF7-74667D715AF0}"/>
              </a:ext>
            </a:extLst>
          </p:cNvPr>
          <p:cNvSpPr txBox="1"/>
          <p:nvPr/>
        </p:nvSpPr>
        <p:spPr>
          <a:xfrm>
            <a:off x="5297067" y="5111096"/>
            <a:ext cx="33396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Properties justified by</a:t>
            </a:r>
            <a:br>
              <a:rPr lang="en-US" sz="24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understanding the model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F056375-307E-5CD7-9F66-75218EBE3DFB}"/>
              </a:ext>
            </a:extLst>
          </p:cNvPr>
          <p:cNvCxnSpPr/>
          <p:nvPr/>
        </p:nvCxnSpPr>
        <p:spPr>
          <a:xfrm flipH="1" flipV="1">
            <a:off x="6026150" y="3943468"/>
            <a:ext cx="400050" cy="11009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3D62EB4-F8F9-6A6B-57FB-CA5297EF78F2}"/>
                  </a:ext>
                </a:extLst>
              </p:cNvPr>
              <p:cNvSpPr txBox="1"/>
              <p:nvPr/>
            </p:nvSpPr>
            <p:spPr>
              <a:xfrm>
                <a:off x="2833022" y="4512437"/>
                <a:ext cx="4980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3D62EB4-F8F9-6A6B-57FB-CA5297EF78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3022" y="4512437"/>
                <a:ext cx="498021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0830D24F-70CD-2953-8E9D-B05C80F00CBF}"/>
              </a:ext>
            </a:extLst>
          </p:cNvPr>
          <p:cNvSpPr txBox="1"/>
          <p:nvPr/>
        </p:nvSpPr>
        <p:spPr>
          <a:xfrm>
            <a:off x="7253100" y="226684"/>
            <a:ext cx="45709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Informal intuitive requirement</a:t>
            </a:r>
          </a:p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(something that makes sense to a physicist or an engineer)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0AD476-7238-F78D-7685-B6BA9BCE0045}"/>
              </a:ext>
            </a:extLst>
          </p:cNvPr>
          <p:cNvSpPr txBox="1"/>
          <p:nvPr/>
        </p:nvSpPr>
        <p:spPr>
          <a:xfrm>
            <a:off x="7253100" y="1259302"/>
            <a:ext cx="36260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Formal definition</a:t>
            </a:r>
          </a:p>
          <a:p>
            <a:r>
              <a:rPr lang="en-US" sz="1400" dirty="0">
                <a:solidFill>
                  <a:schemeClr val="accent4">
                    <a:lumMod val="75000"/>
                  </a:schemeClr>
                </a:solidFill>
              </a:rPr>
              <a:t>(something a mathematician will find precise)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407AC3C-6D5C-669F-C50E-A23189AD3359}"/>
              </a:ext>
            </a:extLst>
          </p:cNvPr>
          <p:cNvSpPr txBox="1"/>
          <p:nvPr/>
        </p:nvSpPr>
        <p:spPr>
          <a:xfrm>
            <a:off x="7253100" y="2792448"/>
            <a:ext cx="4747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Show that the formal definition</a:t>
            </a:r>
            <a:br>
              <a:rPr lang="en-US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follows from the intuitive requirement</a:t>
            </a:r>
          </a:p>
        </p:txBody>
      </p:sp>
    </p:spTree>
    <p:extLst>
      <p:ext uri="{BB962C8B-B14F-4D97-AF65-F5344CB8AC3E}">
        <p14:creationId xmlns:p14="http://schemas.microsoft.com/office/powerpoint/2010/main" val="35102076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3C4C7-E55E-2729-8B5E-5EE9E410D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004C06E-18FB-AA55-AF99-34C393AA9FFA}"/>
              </a:ext>
            </a:extLst>
          </p:cNvPr>
          <p:cNvSpPr/>
          <p:nvPr/>
        </p:nvSpPr>
        <p:spPr>
          <a:xfrm>
            <a:off x="7037294" y="2507456"/>
            <a:ext cx="77259" cy="143601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FB1810-DADB-1FE5-CC0F-F6139F6C2259}"/>
              </a:ext>
            </a:extLst>
          </p:cNvPr>
          <p:cNvSpPr/>
          <p:nvPr/>
        </p:nvSpPr>
        <p:spPr>
          <a:xfrm>
            <a:off x="7037294" y="519954"/>
            <a:ext cx="77259" cy="198749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955755-795B-A721-219F-C517DFAF6223}"/>
              </a:ext>
            </a:extLst>
          </p:cNvPr>
          <p:cNvSpPr/>
          <p:nvPr/>
        </p:nvSpPr>
        <p:spPr>
          <a:xfrm>
            <a:off x="7037294" y="313766"/>
            <a:ext cx="77259" cy="20618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B0C41C-5749-CB66-C99E-332C89A26ADB}"/>
              </a:ext>
            </a:extLst>
          </p:cNvPr>
          <p:cNvSpPr txBox="1"/>
          <p:nvPr/>
        </p:nvSpPr>
        <p:spPr>
          <a:xfrm>
            <a:off x="7253100" y="226684"/>
            <a:ext cx="45709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Informal intuitive requirement</a:t>
            </a:r>
          </a:p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(something that makes sense to a physicist or an engineer)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92BD337-668C-F2FC-09B5-841D55EA76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4718"/>
          <a:stretch>
            <a:fillRect/>
          </a:stretch>
        </p:blipFill>
        <p:spPr>
          <a:xfrm>
            <a:off x="276926" y="274646"/>
            <a:ext cx="6692929" cy="223280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6B0D257-A527-B67E-2B7A-5946C16696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3969" b="1"/>
          <a:stretch>
            <a:fillRect/>
          </a:stretch>
        </p:blipFill>
        <p:spPr>
          <a:xfrm>
            <a:off x="273986" y="2502275"/>
            <a:ext cx="6692929" cy="141579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31DF5AA-D591-25E5-42AC-8CDCA1A5AB49}"/>
              </a:ext>
            </a:extLst>
          </p:cNvPr>
          <p:cNvSpPr txBox="1"/>
          <p:nvPr/>
        </p:nvSpPr>
        <p:spPr>
          <a:xfrm>
            <a:off x="7253100" y="1259302"/>
            <a:ext cx="36260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Formal definition</a:t>
            </a:r>
          </a:p>
          <a:p>
            <a:r>
              <a:rPr lang="en-US" sz="1400" dirty="0">
                <a:solidFill>
                  <a:schemeClr val="accent4">
                    <a:lumMod val="75000"/>
                  </a:schemeClr>
                </a:solidFill>
              </a:rPr>
              <a:t>(something a mathematician will find precise)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9A8FA9-0938-FCC9-32FA-417F369A44A3}"/>
              </a:ext>
            </a:extLst>
          </p:cNvPr>
          <p:cNvSpPr txBox="1"/>
          <p:nvPr/>
        </p:nvSpPr>
        <p:spPr>
          <a:xfrm>
            <a:off x="7253100" y="2792448"/>
            <a:ext cx="4747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Show that the formal definition</a:t>
            </a:r>
            <a:br>
              <a:rPr lang="en-US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follows from the intuitive requirement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ED57A5-B8E7-599B-CFA8-CAC59786CD6F}"/>
              </a:ext>
            </a:extLst>
          </p:cNvPr>
          <p:cNvSpPr/>
          <p:nvPr/>
        </p:nvSpPr>
        <p:spPr>
          <a:xfrm>
            <a:off x="419100" y="512332"/>
            <a:ext cx="777240" cy="196328"/>
          </a:xfrm>
          <a:prstGeom prst="rect">
            <a:avLst/>
          </a:prstGeom>
          <a:noFill/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4E8CDE-633A-DD4A-D4D2-9F37BED5321B}"/>
              </a:ext>
            </a:extLst>
          </p:cNvPr>
          <p:cNvSpPr/>
          <p:nvPr/>
        </p:nvSpPr>
        <p:spPr>
          <a:xfrm>
            <a:off x="273986" y="2318665"/>
            <a:ext cx="6979114" cy="314437"/>
          </a:xfrm>
          <a:prstGeom prst="rect">
            <a:avLst/>
          </a:prstGeom>
          <a:gradFill>
            <a:gsLst>
              <a:gs pos="100000">
                <a:srgbClr val="F9FAFD">
                  <a:alpha val="0"/>
                </a:srgbClr>
              </a:gs>
              <a:gs pos="0">
                <a:schemeClr val="accent1">
                  <a:lumMod val="5000"/>
                  <a:lumOff val="95000"/>
                  <a:alpha val="0"/>
                </a:schemeClr>
              </a:gs>
              <a:gs pos="5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3587660-3A95-506C-5F42-42EBAF9BD88A}"/>
              </a:ext>
            </a:extLst>
          </p:cNvPr>
          <p:cNvSpPr txBox="1"/>
          <p:nvPr/>
        </p:nvSpPr>
        <p:spPr>
          <a:xfrm>
            <a:off x="273986" y="4618990"/>
            <a:ext cx="8441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The properties are justified by, are a consequence of, what the model describes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C234F0-0B27-DCB1-622E-27A4A7E0E20D}"/>
              </a:ext>
            </a:extLst>
          </p:cNvPr>
          <p:cNvSpPr txBox="1"/>
          <p:nvPr/>
        </p:nvSpPr>
        <p:spPr>
          <a:xfrm>
            <a:off x="273986" y="4142158"/>
            <a:ext cx="5497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There is no question as to what the math describes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E75277-85CB-BF3C-5D06-0D8A2C79516B}"/>
              </a:ext>
            </a:extLst>
          </p:cNvPr>
          <p:cNvSpPr txBox="1"/>
          <p:nvPr/>
        </p:nvSpPr>
        <p:spPr>
          <a:xfrm>
            <a:off x="273985" y="5095822"/>
            <a:ext cx="50470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Every math proof can be understood physically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48941EF-EBCE-9A70-EC92-99B715D87549}"/>
                  </a:ext>
                </a:extLst>
              </p:cNvPr>
              <p:cNvSpPr txBox="1"/>
              <p:nvPr/>
            </p:nvSpPr>
            <p:spPr>
              <a:xfrm>
                <a:off x="273985" y="5572654"/>
                <a:ext cx="4497578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000" dirty="0"/>
                  <a:t> The math describes and only describes</a:t>
                </a:r>
                <a:br>
                  <a:rPr lang="en-US" sz="2000" dirty="0"/>
                </a:br>
                <a:r>
                  <a:rPr lang="en-US" sz="2000" dirty="0"/>
                  <a:t>physically meaningful concepts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48941EF-EBCE-9A70-EC92-99B715D87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985" y="5572654"/>
                <a:ext cx="4497578" cy="707886"/>
              </a:xfrm>
              <a:prstGeom prst="rect">
                <a:avLst/>
              </a:prstGeom>
              <a:blipFill>
                <a:blip r:embed="rId3"/>
                <a:stretch>
                  <a:fillRect l="-1491" t="-4310" r="-407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864C995F-EE8E-8CC6-D92D-53BDBA121764}"/>
              </a:ext>
            </a:extLst>
          </p:cNvPr>
          <p:cNvSpPr txBox="1"/>
          <p:nvPr/>
        </p:nvSpPr>
        <p:spPr>
          <a:xfrm>
            <a:off x="5200535" y="5723258"/>
            <a:ext cx="38280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It’s physical mathematics</a:t>
            </a:r>
          </a:p>
        </p:txBody>
      </p:sp>
    </p:spTree>
    <p:extLst>
      <p:ext uri="{BB962C8B-B14F-4D97-AF65-F5344CB8AC3E}">
        <p14:creationId xmlns:p14="http://schemas.microsoft.com/office/powerpoint/2010/main" val="14400046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71D9F5-19C2-26D1-8CDD-A0C4918E422E}"/>
              </a:ext>
            </a:extLst>
          </p:cNvPr>
          <p:cNvSpPr txBox="1"/>
          <p:nvPr/>
        </p:nvSpPr>
        <p:spPr>
          <a:xfrm>
            <a:off x="2840270" y="1623744"/>
            <a:ext cx="592976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/>
              <a:t>We have a methodology!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362EB7-8A51-3B6B-6F63-6534459815F1}"/>
              </a:ext>
            </a:extLst>
          </p:cNvPr>
          <p:cNvSpPr txBox="1"/>
          <p:nvPr/>
        </p:nvSpPr>
        <p:spPr>
          <a:xfrm>
            <a:off x="2027422" y="2934283"/>
            <a:ext cx="755546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/>
              <a:t>What are the most basic objects</a:t>
            </a:r>
            <a:br>
              <a:rPr lang="en-US" sz="4400" dirty="0"/>
            </a:br>
            <a:r>
              <a:rPr lang="en-US" sz="4400" dirty="0"/>
              <a:t>for our base theory?</a:t>
            </a:r>
          </a:p>
        </p:txBody>
      </p:sp>
    </p:spTree>
    <p:extLst>
      <p:ext uri="{BB962C8B-B14F-4D97-AF65-F5344CB8AC3E}">
        <p14:creationId xmlns:p14="http://schemas.microsoft.com/office/powerpoint/2010/main" val="28920980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FCD76-87E6-235A-A635-D67FABA88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1C3931-E301-90A3-B191-F6312B980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334" y="429579"/>
            <a:ext cx="11155332" cy="704948"/>
          </a:xfrm>
          <a:prstGeom prst="rect">
            <a:avLst/>
          </a:prstGeom>
        </p:spPr>
      </p:pic>
      <p:graphicFrame>
        <p:nvGraphicFramePr>
          <p:cNvPr id="4" name="Table 52">
            <a:extLst>
              <a:ext uri="{FF2B5EF4-FFF2-40B4-BE49-F238E27FC236}">
                <a16:creationId xmlns:a16="http://schemas.microsoft.com/office/drawing/2014/main" id="{BB5B8DFA-9E74-673F-9809-B3365BDF8B8B}"/>
              </a:ext>
            </a:extLst>
          </p:cNvPr>
          <p:cNvGraphicFramePr>
            <a:graphicFrameLocks noGrp="1"/>
          </p:cNvGraphicFramePr>
          <p:nvPr/>
        </p:nvGraphicFramePr>
        <p:xfrm>
          <a:off x="3671346" y="2667000"/>
          <a:ext cx="3423847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1909">
                  <a:extLst>
                    <a:ext uri="{9D8B030D-6E8A-4147-A177-3AD203B41FA5}">
                      <a16:colId xmlns:a16="http://schemas.microsoft.com/office/drawing/2014/main" val="3919644959"/>
                    </a:ext>
                  </a:extLst>
                </a:gridCol>
                <a:gridCol w="2371938">
                  <a:extLst>
                    <a:ext uri="{9D8B030D-6E8A-4147-A177-3AD203B41FA5}">
                      <a16:colId xmlns:a16="http://schemas.microsoft.com/office/drawing/2014/main" val="3379705832"/>
                    </a:ext>
                  </a:extLst>
                </a:gridCol>
              </a:tblGrid>
              <a:tr h="26915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Statement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Test Result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8586678"/>
                  </a:ext>
                </a:extLst>
              </a:tr>
              <a:tr h="269155"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SUCCESS (in finite time)</a:t>
                      </a:r>
                      <a:endParaRPr lang="en-US" sz="14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576678"/>
                  </a:ext>
                </a:extLst>
              </a:tr>
              <a:tr h="269155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UNDEFINED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5337734"/>
                  </a:ext>
                </a:extLst>
              </a:tr>
              <a:tr h="269155"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UNDEFINED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8961383"/>
                  </a:ext>
                </a:extLst>
              </a:tr>
              <a:tr h="269155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FAILURE (in finite time)</a:t>
                      </a:r>
                      <a:endParaRPr lang="en-US" sz="1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85643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1FBE3F-D8C4-D237-BCB1-2F7C50B68BEE}"/>
                  </a:ext>
                </a:extLst>
              </p:cNvPr>
              <p:cNvSpPr txBox="1"/>
              <p:nvPr/>
            </p:nvSpPr>
            <p:spPr>
              <a:xfrm>
                <a:off x="778390" y="1364750"/>
                <a:ext cx="1063521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800" dirty="0">
                    <a:solidFill>
                      <a:schemeClr val="accent6">
                        <a:lumMod val="75000"/>
                      </a:schemeClr>
                    </a:solidFill>
                  </a:rPr>
                  <a:t> Science is about statements that are associated to experimental tests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8E3A581-5556-303C-C8F1-939F289652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390" y="1364750"/>
                <a:ext cx="10635219" cy="523220"/>
              </a:xfrm>
              <a:prstGeom prst="rect">
                <a:avLst/>
              </a:prstGeom>
              <a:blipFill>
                <a:blip r:embed="rId3"/>
                <a:stretch>
                  <a:fillRect t="-11628" r="-172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F0707C9-7BD3-6E06-1A0D-B21CEA9E9C0D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2828397" y="2508871"/>
            <a:ext cx="842949" cy="2917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130E0A8-B185-CF0F-5F11-F17C6C609980}"/>
              </a:ext>
            </a:extLst>
          </p:cNvPr>
          <p:cNvSpPr txBox="1"/>
          <p:nvPr/>
        </p:nvSpPr>
        <p:spPr>
          <a:xfrm>
            <a:off x="518334" y="2047206"/>
            <a:ext cx="23100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Statements must be either true or false for everybody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7C37DE-2326-EA0B-872A-6E0012D023DF}"/>
              </a:ext>
            </a:extLst>
          </p:cNvPr>
          <p:cNvSpPr txBox="1"/>
          <p:nvPr/>
        </p:nvSpPr>
        <p:spPr>
          <a:xfrm>
            <a:off x="8164689" y="2343834"/>
            <a:ext cx="31931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Tests may or may not terminate (i.e. be conclusive)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4AB2633-13F0-2C6F-C880-76DD4E950128}"/>
              </a:ext>
            </a:extLst>
          </p:cNvPr>
          <p:cNvCxnSpPr>
            <a:cxnSpLocks/>
          </p:cNvCxnSpPr>
          <p:nvPr/>
        </p:nvCxnSpPr>
        <p:spPr>
          <a:xfrm flipH="1">
            <a:off x="7321740" y="2654760"/>
            <a:ext cx="770356" cy="1458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52">
            <a:extLst>
              <a:ext uri="{FF2B5EF4-FFF2-40B4-BE49-F238E27FC236}">
                <a16:creationId xmlns:a16="http://schemas.microsoft.com/office/drawing/2014/main" id="{7CB7471C-DA5C-FCAD-81F2-E09CBD5197AF}"/>
              </a:ext>
            </a:extLst>
          </p:cNvPr>
          <p:cNvGraphicFramePr>
            <a:graphicFrameLocks noGrp="1"/>
          </p:cNvGraphicFramePr>
          <p:nvPr/>
        </p:nvGraphicFramePr>
        <p:xfrm>
          <a:off x="3671346" y="4722844"/>
          <a:ext cx="3423847" cy="1432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1909">
                  <a:extLst>
                    <a:ext uri="{9D8B030D-6E8A-4147-A177-3AD203B41FA5}">
                      <a16:colId xmlns:a16="http://schemas.microsoft.com/office/drawing/2014/main" val="3919644959"/>
                    </a:ext>
                  </a:extLst>
                </a:gridCol>
                <a:gridCol w="2371938">
                  <a:extLst>
                    <a:ext uri="{9D8B030D-6E8A-4147-A177-3AD203B41FA5}">
                      <a16:colId xmlns:a16="http://schemas.microsoft.com/office/drawing/2014/main" val="3379705832"/>
                    </a:ext>
                  </a:extLst>
                </a:gridCol>
              </a:tblGrid>
              <a:tr h="26915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Verifiable statement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Test Result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8586678"/>
                  </a:ext>
                </a:extLst>
              </a:tr>
              <a:tr h="26915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SUCCESS (in finite time)</a:t>
                      </a:r>
                      <a:endParaRPr lang="en-US" sz="14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576678"/>
                  </a:ext>
                </a:extLst>
              </a:tr>
              <a:tr h="269155"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UNDEFINED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8961383"/>
                  </a:ext>
                </a:extLst>
              </a:tr>
              <a:tr h="269155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FAILURE (in finite time)</a:t>
                      </a:r>
                      <a:endParaRPr lang="en-US" sz="1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8564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44082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671982-EA3F-DE0D-5317-6B54000B855E}"/>
              </a:ext>
            </a:extLst>
          </p:cNvPr>
          <p:cNvSpPr txBox="1"/>
          <p:nvPr/>
        </p:nvSpPr>
        <p:spPr>
          <a:xfrm>
            <a:off x="1606726" y="221799"/>
            <a:ext cx="31181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Axioms of logic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B2936-1DE3-36E1-7C63-DDB7DFFFCE07}"/>
              </a:ext>
            </a:extLst>
          </p:cNvPr>
          <p:cNvSpPr txBox="1"/>
          <p:nvPr/>
        </p:nvSpPr>
        <p:spPr>
          <a:xfrm>
            <a:off x="6998764" y="221799"/>
            <a:ext cx="42341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Axioms of verifiability</a:t>
            </a:r>
          </a:p>
        </p:txBody>
      </p:sp>
      <p:pic>
        <p:nvPicPr>
          <p:cNvPr id="6" name="Content Placeholder 7">
            <a:extLst>
              <a:ext uri="{FF2B5EF4-FFF2-40B4-BE49-F238E27FC236}">
                <a16:creationId xmlns:a16="http://schemas.microsoft.com/office/drawing/2014/main" id="{AB0DEAA7-CC58-D2C1-0F24-9C67110322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46" t="13194" r="2799" b="10975"/>
          <a:stretch/>
        </p:blipFill>
        <p:spPr>
          <a:xfrm>
            <a:off x="299769" y="1048972"/>
            <a:ext cx="5481074" cy="6726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88B14B-A006-F721-C6CC-D2CACE5A34E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19" r="1"/>
          <a:stretch/>
        </p:blipFill>
        <p:spPr>
          <a:xfrm>
            <a:off x="299769" y="1941347"/>
            <a:ext cx="5481074" cy="7103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EA07FCA-AEC5-6526-8C65-886B4FBB51B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11"/>
          <a:stretch/>
        </p:blipFill>
        <p:spPr>
          <a:xfrm>
            <a:off x="299769" y="2871415"/>
            <a:ext cx="5481074" cy="7177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DF51706-2C85-7BBE-1544-7B739F7B8B6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27" t="7926" r="547"/>
          <a:stretch/>
        </p:blipFill>
        <p:spPr>
          <a:xfrm>
            <a:off x="6375313" y="3279490"/>
            <a:ext cx="5481074" cy="7620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8011C55-642E-53A6-C3E1-FA35A055119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91" t="10845" r="1181"/>
          <a:stretch/>
        </p:blipFill>
        <p:spPr>
          <a:xfrm>
            <a:off x="6375313" y="2504549"/>
            <a:ext cx="5481074" cy="62114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A89EAAD-C132-F415-91E1-E0F9814BB047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251" t="10074" r="343" b="1724"/>
          <a:stretch/>
        </p:blipFill>
        <p:spPr>
          <a:xfrm>
            <a:off x="6375313" y="1048972"/>
            <a:ext cx="5481074" cy="1301777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424D434-7ED6-2433-8CBD-24DB240B9701}"/>
              </a:ext>
            </a:extLst>
          </p:cNvPr>
          <p:cNvCxnSpPr>
            <a:cxnSpLocks/>
          </p:cNvCxnSpPr>
          <p:nvPr/>
        </p:nvCxnSpPr>
        <p:spPr>
          <a:xfrm flipV="1">
            <a:off x="2072651" y="3785528"/>
            <a:ext cx="177554" cy="5207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3C5D3F5-225D-7F7F-166E-13BDF4DAFB06}"/>
              </a:ext>
            </a:extLst>
          </p:cNvPr>
          <p:cNvSpPr txBox="1"/>
          <p:nvPr/>
        </p:nvSpPr>
        <p:spPr>
          <a:xfrm>
            <a:off x="381740" y="4421303"/>
            <a:ext cx="3381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Lead to standard logic</a:t>
            </a:r>
            <a:br>
              <a:rPr lang="en-US" sz="2800" dirty="0"/>
            </a:br>
            <a:r>
              <a:rPr lang="en-US" sz="2800" dirty="0"/>
              <a:t>(i.e. Boolean algebra)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8780B6-13EC-6696-F42B-DE5E4A2FA43A}"/>
              </a:ext>
            </a:extLst>
          </p:cNvPr>
          <p:cNvSpPr txBox="1"/>
          <p:nvPr/>
        </p:nvSpPr>
        <p:spPr>
          <a:xfrm>
            <a:off x="5439523" y="4773641"/>
            <a:ext cx="367632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Lead to intuitionist logic</a:t>
            </a:r>
            <a:br>
              <a:rPr lang="en-US" sz="2800" dirty="0"/>
            </a:br>
            <a:r>
              <a:rPr lang="en-US" sz="2800" dirty="0"/>
              <a:t>(i.e. </a:t>
            </a:r>
            <a:r>
              <a:rPr lang="en-US" sz="2800" dirty="0" err="1"/>
              <a:t>Heyting</a:t>
            </a:r>
            <a:r>
              <a:rPr lang="en-US" sz="2800" dirty="0"/>
              <a:t> algebra)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62BB0D8-E4CF-D5D9-C72E-226F8D1FCCEE}"/>
              </a:ext>
            </a:extLst>
          </p:cNvPr>
          <p:cNvCxnSpPr>
            <a:cxnSpLocks/>
          </p:cNvCxnSpPr>
          <p:nvPr/>
        </p:nvCxnSpPr>
        <p:spPr>
          <a:xfrm flipV="1">
            <a:off x="7618521" y="4269901"/>
            <a:ext cx="177554" cy="5207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C19F81D-8015-A044-ED3D-B793C333DE10}"/>
              </a:ext>
            </a:extLst>
          </p:cNvPr>
          <p:cNvSpPr txBox="1"/>
          <p:nvPr/>
        </p:nvSpPr>
        <p:spPr>
          <a:xfrm>
            <a:off x="1379736" y="5419971"/>
            <a:ext cx="13858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two-valued logic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579586-FAB1-40D0-F482-788E33F5C113}"/>
              </a:ext>
            </a:extLst>
          </p:cNvPr>
          <p:cNvSpPr txBox="1"/>
          <p:nvPr/>
        </p:nvSpPr>
        <p:spPr>
          <a:xfrm>
            <a:off x="6528218" y="5727748"/>
            <a:ext cx="14989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three-valued logic</a:t>
            </a:r>
          </a:p>
        </p:txBody>
      </p:sp>
    </p:spTree>
    <p:extLst>
      <p:ext uri="{BB962C8B-B14F-4D97-AF65-F5344CB8AC3E}">
        <p14:creationId xmlns:p14="http://schemas.microsoft.com/office/powerpoint/2010/main" val="20488633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9C3B7-DB04-0284-B1DD-F84C2AC42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3BE27B8-817B-156B-583A-65156DC1E61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93431" y="136525"/>
                <a:ext cx="11843238" cy="897425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en-US" dirty="0"/>
                  <a:t>Topology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-algebra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7C284AB-0322-494C-AD97-CF62D6AB5E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93431" y="136525"/>
                <a:ext cx="11843238" cy="897425"/>
              </a:xfrm>
              <a:blipFill>
                <a:blip r:embed="rId2"/>
                <a:stretch>
                  <a:fillRect t="-9459" b="-209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1" name="Group 100">
            <a:extLst>
              <a:ext uri="{FF2B5EF4-FFF2-40B4-BE49-F238E27FC236}">
                <a16:creationId xmlns:a16="http://schemas.microsoft.com/office/drawing/2014/main" id="{8B09E795-3AF4-F030-D3B6-1C288C19BE36}"/>
              </a:ext>
            </a:extLst>
          </p:cNvPr>
          <p:cNvGrpSpPr/>
          <p:nvPr/>
        </p:nvGrpSpPr>
        <p:grpSpPr>
          <a:xfrm>
            <a:off x="292581" y="1008555"/>
            <a:ext cx="2990369" cy="2684357"/>
            <a:chOff x="1041881" y="1285108"/>
            <a:chExt cx="2990369" cy="268435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24383B92-6297-A745-456C-8230F314927D}"/>
                </a:ext>
              </a:extLst>
            </p:cNvPr>
            <p:cNvSpPr/>
            <p:nvPr/>
          </p:nvSpPr>
          <p:spPr>
            <a:xfrm>
              <a:off x="1085855" y="1285108"/>
              <a:ext cx="2946395" cy="134577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2FD32458-ACF0-0C5C-95AB-6E844A95BB81}"/>
                </a:ext>
              </a:extLst>
            </p:cNvPr>
            <p:cNvSpPr/>
            <p:nvPr/>
          </p:nvSpPr>
          <p:spPr>
            <a:xfrm>
              <a:off x="2581027" y="1755678"/>
              <a:ext cx="1362635" cy="62814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0939B05-4D36-C591-DF71-93A082CC7CC1}"/>
                </a:ext>
              </a:extLst>
            </p:cNvPr>
            <p:cNvSpPr txBox="1"/>
            <p:nvPr/>
          </p:nvSpPr>
          <p:spPr>
            <a:xfrm>
              <a:off x="2849723" y="1909004"/>
              <a:ext cx="103387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Possibilities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0BB2EE8-28D8-F809-E422-DE869C0EC853}"/>
                </a:ext>
              </a:extLst>
            </p:cNvPr>
            <p:cNvSpPr txBox="1"/>
            <p:nvPr/>
          </p:nvSpPr>
          <p:spPr>
            <a:xfrm>
              <a:off x="1531887" y="1297809"/>
              <a:ext cx="18632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Theoretical statements</a:t>
              </a: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E55DF84B-A33E-E269-FB9A-B66949EA2F96}"/>
                </a:ext>
              </a:extLst>
            </p:cNvPr>
            <p:cNvSpPr/>
            <p:nvPr/>
          </p:nvSpPr>
          <p:spPr>
            <a:xfrm>
              <a:off x="1189256" y="1598740"/>
              <a:ext cx="1687294" cy="89742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778EA6F-50CB-A61A-175E-486C3032B98F}"/>
                </a:ext>
              </a:extLst>
            </p:cNvPr>
            <p:cNvSpPr txBox="1"/>
            <p:nvPr/>
          </p:nvSpPr>
          <p:spPr>
            <a:xfrm>
              <a:off x="1463536" y="1774599"/>
              <a:ext cx="10023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Verifiable</a:t>
              </a:r>
              <a:br>
                <a:rPr lang="en-US" sz="1400" dirty="0"/>
              </a:br>
              <a:r>
                <a:rPr lang="en-US" sz="1400" dirty="0"/>
                <a:t>statements</a:t>
              </a:r>
            </a:p>
          </p:txBody>
        </p: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02A670DF-958E-4D56-18CA-70D581E3384E}"/>
                </a:ext>
              </a:extLst>
            </p:cNvPr>
            <p:cNvGrpSpPr/>
            <p:nvPr/>
          </p:nvGrpSpPr>
          <p:grpSpPr>
            <a:xfrm>
              <a:off x="3045795" y="3193936"/>
              <a:ext cx="889000" cy="365125"/>
              <a:chOff x="4648201" y="4642103"/>
              <a:chExt cx="889000" cy="365125"/>
            </a:xfrm>
          </p:grpSpPr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796299C0-ED64-DA15-EDE0-975525B1407B}"/>
                  </a:ext>
                </a:extLst>
              </p:cNvPr>
              <p:cNvSpPr/>
              <p:nvPr/>
            </p:nvSpPr>
            <p:spPr>
              <a:xfrm>
                <a:off x="4648201" y="4642103"/>
                <a:ext cx="889000" cy="36512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EE72722D-2AD7-4677-5D99-49A1EB2CF1B4}"/>
                  </a:ext>
                </a:extLst>
              </p:cNvPr>
              <p:cNvSpPr txBox="1"/>
              <p:nvPr/>
            </p:nvSpPr>
            <p:spPr>
              <a:xfrm>
                <a:off x="4788946" y="4655388"/>
                <a:ext cx="63466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Points</a:t>
                </a:r>
              </a:p>
            </p:txBody>
          </p:sp>
        </p:grp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552CDF4C-6F91-149A-4917-BD04C81A48EE}"/>
                </a:ext>
              </a:extLst>
            </p:cNvPr>
            <p:cNvCxnSpPr>
              <a:cxnSpLocks/>
            </p:cNvCxnSpPr>
            <p:nvPr/>
          </p:nvCxnSpPr>
          <p:spPr>
            <a:xfrm>
              <a:off x="3390875" y="2397103"/>
              <a:ext cx="32835" cy="772487"/>
            </a:xfrm>
            <a:prstGeom prst="straightConnector1">
              <a:avLst/>
            </a:prstGeom>
            <a:ln w="38100">
              <a:solidFill>
                <a:srgbClr val="008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BE146169-F66E-484E-7C36-FE22050C095D}"/>
                </a:ext>
              </a:extLst>
            </p:cNvPr>
            <p:cNvCxnSpPr>
              <a:cxnSpLocks/>
            </p:cNvCxnSpPr>
            <p:nvPr/>
          </p:nvCxnSpPr>
          <p:spPr>
            <a:xfrm>
              <a:off x="1981428" y="2512494"/>
              <a:ext cx="0" cy="666799"/>
            </a:xfrm>
            <a:prstGeom prst="straightConnector1">
              <a:avLst/>
            </a:prstGeom>
            <a:ln w="38100">
              <a:solidFill>
                <a:srgbClr val="008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057F6D2D-E9BC-52B7-ACF7-6DC73B03BE2C}"/>
                </a:ext>
              </a:extLst>
            </p:cNvPr>
            <p:cNvCxnSpPr>
              <a:cxnSpLocks/>
            </p:cNvCxnSpPr>
            <p:nvPr/>
          </p:nvCxnSpPr>
          <p:spPr>
            <a:xfrm>
              <a:off x="1500669" y="2643585"/>
              <a:ext cx="0" cy="403423"/>
            </a:xfrm>
            <a:prstGeom prst="straightConnector1">
              <a:avLst/>
            </a:prstGeom>
            <a:ln w="38100">
              <a:solidFill>
                <a:srgbClr val="008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Rectangle: Rounded Corners 89">
              <a:extLst>
                <a:ext uri="{FF2B5EF4-FFF2-40B4-BE49-F238E27FC236}">
                  <a16:creationId xmlns:a16="http://schemas.microsoft.com/office/drawing/2014/main" id="{2D1A269D-F94B-A393-4F6A-668DAEAA9519}"/>
                </a:ext>
              </a:extLst>
            </p:cNvPr>
            <p:cNvSpPr/>
            <p:nvPr/>
          </p:nvSpPr>
          <p:spPr>
            <a:xfrm>
              <a:off x="1041881" y="3073171"/>
              <a:ext cx="1644170" cy="89629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2B2F8F6A-F953-529E-EF58-C8D8B80782A0}"/>
                </a:ext>
              </a:extLst>
            </p:cNvPr>
            <p:cNvSpPr txBox="1"/>
            <p:nvPr/>
          </p:nvSpPr>
          <p:spPr>
            <a:xfrm>
              <a:off x="1060931" y="3636288"/>
              <a:ext cx="89947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Borel</a:t>
              </a:r>
              <a:r>
                <a:rPr lang="en-US" sz="1400" dirty="0"/>
                <a:t> sets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ABA581EC-B9F5-806B-A04C-CE8DEC41FD88}"/>
                </a:ext>
              </a:extLst>
            </p:cNvPr>
            <p:cNvSpPr txBox="1"/>
            <p:nvPr/>
          </p:nvSpPr>
          <p:spPr>
            <a:xfrm>
              <a:off x="1511761" y="3250918"/>
              <a:ext cx="9130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Open sets</a:t>
              </a:r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AF54093E-1151-FBC7-754E-A90B29E738F7}"/>
                </a:ext>
              </a:extLst>
            </p:cNvPr>
            <p:cNvSpPr/>
            <p:nvPr/>
          </p:nvSpPr>
          <p:spPr>
            <a:xfrm>
              <a:off x="1445065" y="3201606"/>
              <a:ext cx="1077868" cy="42574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4" name="Table 52">
                <a:extLst>
                  <a:ext uri="{FF2B5EF4-FFF2-40B4-BE49-F238E27FC236}">
                    <a16:creationId xmlns:a16="http://schemas.microsoft.com/office/drawing/2014/main" id="{57A20569-DC99-ABD3-3282-BF8E3C93E91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083858" y="1246455"/>
              <a:ext cx="2220608" cy="15240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31633">
                      <a:extLst>
                        <a:ext uri="{9D8B030D-6E8A-4147-A177-3AD203B41FA5}">
                          <a16:colId xmlns:a16="http://schemas.microsoft.com/office/drawing/2014/main" val="3919644959"/>
                        </a:ext>
                      </a:extLst>
                    </a:gridCol>
                    <a:gridCol w="1888975">
                      <a:extLst>
                        <a:ext uri="{9D8B030D-6E8A-4147-A177-3AD203B41FA5}">
                          <a16:colId xmlns:a16="http://schemas.microsoft.com/office/drawing/2014/main" val="3379705832"/>
                        </a:ext>
                      </a:extLst>
                    </a:gridCol>
                  </a:tblGrid>
                  <a:tr h="26915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Test Result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48586678"/>
                      </a:ext>
                    </a:extLst>
                  </a:tr>
                  <a:tr h="269155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T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solidFill>
                                <a:schemeClr val="accent6"/>
                              </a:solidFill>
                            </a:rPr>
                            <a:t>SUCCESS (in finite time)</a:t>
                          </a:r>
                          <a:endParaRPr lang="en-US" sz="1400" dirty="0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9576678"/>
                      </a:ext>
                    </a:extLst>
                  </a:tr>
                  <a:tr h="269155">
                    <a:tc v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UNDEFINED</a:t>
                          </a: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5337734"/>
                      </a:ext>
                    </a:extLst>
                  </a:tr>
                  <a:tr h="269155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F</a:t>
                          </a: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UNDEFINED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8961383"/>
                      </a:ext>
                    </a:extLst>
                  </a:tr>
                  <a:tr h="269155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rgbClr val="FF0000"/>
                              </a:solidFill>
                            </a:rPr>
                            <a:t>FAILURE (in finite time)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085643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4" name="Table 52">
                <a:extLst>
                  <a:ext uri="{FF2B5EF4-FFF2-40B4-BE49-F238E27FC236}">
                    <a16:creationId xmlns:a16="http://schemas.microsoft.com/office/drawing/2014/main" id="{7A02F71F-2C61-0DF1-BB14-43D1E4BF4F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2336136"/>
                  </p:ext>
                </p:extLst>
              </p:nvPr>
            </p:nvGraphicFramePr>
            <p:xfrm>
              <a:off x="4083858" y="1246455"/>
              <a:ext cx="2220608" cy="15240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31633">
                      <a:extLst>
                        <a:ext uri="{9D8B030D-6E8A-4147-A177-3AD203B41FA5}">
                          <a16:colId xmlns:a16="http://schemas.microsoft.com/office/drawing/2014/main" val="3919644959"/>
                        </a:ext>
                      </a:extLst>
                    </a:gridCol>
                    <a:gridCol w="1888975">
                      <a:extLst>
                        <a:ext uri="{9D8B030D-6E8A-4147-A177-3AD203B41FA5}">
                          <a16:colId xmlns:a16="http://schemas.microsoft.com/office/drawing/2014/main" val="3379705832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2000" r="-567273" b="-4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Test Result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48586678"/>
                      </a:ext>
                    </a:extLst>
                  </a:tr>
                  <a:tr h="30480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T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solidFill>
                                <a:schemeClr val="accent6"/>
                              </a:solidFill>
                            </a:rPr>
                            <a:t>SUCCESS (in finite time)</a:t>
                          </a:r>
                          <a:endParaRPr lang="en-US" sz="1400" dirty="0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9576678"/>
                      </a:ext>
                    </a:extLst>
                  </a:tr>
                  <a:tr h="304800">
                    <a:tc v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UNDEFINED</a:t>
                          </a: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5337734"/>
                      </a:ext>
                    </a:extLst>
                  </a:tr>
                  <a:tr h="30480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F</a:t>
                          </a: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UNDEFINED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8961383"/>
                      </a:ext>
                    </a:extLst>
                  </a:tr>
                  <a:tr h="30480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rgbClr val="FF0000"/>
                              </a:solidFill>
                            </a:rPr>
                            <a:t>FAILURE (in finite time)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085643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9EC027B-6D93-D6D7-F01A-0C538E4AF697}"/>
                  </a:ext>
                </a:extLst>
              </p:cNvPr>
              <p:cNvSpPr txBox="1"/>
              <p:nvPr/>
            </p:nvSpPr>
            <p:spPr>
              <a:xfrm>
                <a:off x="6784362" y="1044075"/>
                <a:ext cx="282359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𝑖𝑛𝑡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/>
                  <a:t> corresponds to the verifiable</a:t>
                </a:r>
                <a:br>
                  <a:rPr lang="en-US" sz="1400" dirty="0"/>
                </a:br>
                <a:r>
                  <a:rPr lang="en-US" sz="1400" dirty="0"/>
                  <a:t>part of a statement</a:t>
                </a:r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146473DB-15A1-5A3B-F821-B1A9E37B1D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4362" y="1044075"/>
                <a:ext cx="2823593" cy="523220"/>
              </a:xfrm>
              <a:prstGeom prst="rect">
                <a:avLst/>
              </a:prstGeom>
              <a:blipFill>
                <a:blip r:embed="rId4"/>
                <a:stretch>
                  <a:fillRect l="-648" t="-1163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F6C03E84-CC92-1E08-A52F-14C849345500}"/>
                  </a:ext>
                </a:extLst>
              </p:cNvPr>
              <p:cNvSpPr txBox="1"/>
              <p:nvPr/>
            </p:nvSpPr>
            <p:spPr>
              <a:xfrm>
                <a:off x="6784362" y="2505113"/>
                <a:ext cx="286828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𝑒𝑥𝑡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/>
                  <a:t> corresponds to the falsifiable</a:t>
                </a:r>
                <a:br>
                  <a:rPr lang="en-US" sz="1400" dirty="0"/>
                </a:br>
                <a:r>
                  <a:rPr lang="en-US" sz="1400" dirty="0"/>
                  <a:t>part of a statement</a:t>
                </a:r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454905A6-3528-522C-259E-DE542E6F21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4362" y="2505113"/>
                <a:ext cx="2868286" cy="523220"/>
              </a:xfrm>
              <a:prstGeom prst="rect">
                <a:avLst/>
              </a:prstGeom>
              <a:blipFill>
                <a:blip r:embed="rId5"/>
                <a:stretch>
                  <a:fillRect l="-638" t="-2326" b="-104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BC75F79E-89D9-D64E-3F71-CC28C1FFCF41}"/>
                  </a:ext>
                </a:extLst>
              </p:cNvPr>
              <p:cNvSpPr txBox="1"/>
              <p:nvPr/>
            </p:nvSpPr>
            <p:spPr>
              <a:xfrm>
                <a:off x="6784362" y="1802627"/>
                <a:ext cx="275684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400" dirty="0"/>
                  <a:t> corresponds to the undecidable</a:t>
                </a:r>
                <a:br>
                  <a:rPr lang="en-US" sz="1400" dirty="0"/>
                </a:br>
                <a:r>
                  <a:rPr lang="en-US" sz="1400" dirty="0"/>
                  <a:t>part of a statement</a:t>
                </a:r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D224C124-004C-5CC6-2275-A54E978054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4362" y="1802627"/>
                <a:ext cx="2756845" cy="523220"/>
              </a:xfrm>
              <a:prstGeom prst="rect">
                <a:avLst/>
              </a:prstGeom>
              <a:blipFill>
                <a:blip r:embed="rId6"/>
                <a:stretch>
                  <a:fillRect l="-664" t="-2326" b="-104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31B179E6-E615-4D74-32D8-ED9164E48C6F}"/>
              </a:ext>
            </a:extLst>
          </p:cNvPr>
          <p:cNvCxnSpPr>
            <a:endCxn id="105" idx="1"/>
          </p:cNvCxnSpPr>
          <p:nvPr/>
        </p:nvCxnSpPr>
        <p:spPr>
          <a:xfrm flipV="1">
            <a:off x="6304466" y="1305685"/>
            <a:ext cx="479896" cy="3847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D4CAEFF3-7A3B-7708-865D-0FEBB68D0836}"/>
              </a:ext>
            </a:extLst>
          </p:cNvPr>
          <p:cNvCxnSpPr>
            <a:endCxn id="107" idx="1"/>
          </p:cNvCxnSpPr>
          <p:nvPr/>
        </p:nvCxnSpPr>
        <p:spPr>
          <a:xfrm flipV="1">
            <a:off x="6304466" y="2064237"/>
            <a:ext cx="479896" cy="115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46499A0F-D0B6-7FED-94DA-AFCC2899BCC4}"/>
              </a:ext>
            </a:extLst>
          </p:cNvPr>
          <p:cNvCxnSpPr>
            <a:endCxn id="106" idx="1"/>
          </p:cNvCxnSpPr>
          <p:nvPr/>
        </p:nvCxnSpPr>
        <p:spPr>
          <a:xfrm>
            <a:off x="6304466" y="2585964"/>
            <a:ext cx="479896" cy="1807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1FF4F065-BADE-8DD1-5343-FDA4A06E3104}"/>
                  </a:ext>
                </a:extLst>
              </p:cNvPr>
              <p:cNvSpPr txBox="1"/>
              <p:nvPr/>
            </p:nvSpPr>
            <p:spPr>
              <a:xfrm>
                <a:off x="3432310" y="3651209"/>
                <a:ext cx="92853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Borel set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ℚ</m:t>
                    </m:r>
                  </m:oMath>
                </a14:m>
                <a:r>
                  <a:rPr lang="en-US" sz="1400" dirty="0"/>
                  <a:t> (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𝑖𝑛𝑡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ℚ</m:t>
                        </m:r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𝑒𝑥𝑡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ℚ</m:t>
                        </m:r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en-US" sz="1400" dirty="0"/>
                  <a:t>)</a:t>
                </a:r>
                <a:r>
                  <a:rPr lang="en-US" sz="1400" b="0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 </m:t>
                    </m:r>
                  </m:oMath>
                </a14:m>
                <a:r>
                  <a:rPr lang="en-US" sz="1400" dirty="0"/>
                  <a:t>Theoretical “the mass of the electron in KeV is a rational number” (undecidable)</a:t>
                </a:r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CA942268-AA18-2EB0-8682-A2A7105DB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2310" y="3651209"/>
                <a:ext cx="9285320" cy="307777"/>
              </a:xfrm>
              <a:prstGeom prst="rect">
                <a:avLst/>
              </a:prstGeom>
              <a:blipFill>
                <a:blip r:embed="rId7"/>
                <a:stretch>
                  <a:fillRect l="-197" t="-2000" b="-2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B1B95723-E7D7-2BC8-5E2D-304FC7D6ABBD}"/>
                  </a:ext>
                </a:extLst>
              </p:cNvPr>
              <p:cNvSpPr/>
              <p:nvPr/>
            </p:nvSpPr>
            <p:spPr>
              <a:xfrm>
                <a:off x="3432311" y="3049260"/>
                <a:ext cx="6096000" cy="30777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US" sz="1400" dirty="0"/>
                  <a:t>Open set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sz="1400" dirty="0"/>
                      <m:t>5</m:t>
                    </m:r>
                    <m:r>
                      <m:rPr>
                        <m:nor/>
                      </m:rPr>
                      <a:rPr lang="en-US" sz="1400" b="0" i="0" dirty="0" smtClean="0"/>
                      <m:t>09.5, 510.5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</m:oMath>
                </a14:m>
                <a:r>
                  <a:rPr lang="en-US" sz="1400" dirty="0"/>
                  <a:t> Verifiable “the mass of the electron is 510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en-US" sz="1400" dirty="0"/>
                  <a:t> 0.5 KeV”</a:t>
                </a:r>
              </a:p>
            </p:txBody>
          </p:sp>
        </mc:Choice>
        <mc:Fallback xmlns=""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BAC1419C-9BE1-1F1F-4D2D-23605E2108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2311" y="3049260"/>
                <a:ext cx="6096000" cy="307777"/>
              </a:xfrm>
              <a:prstGeom prst="rect">
                <a:avLst/>
              </a:prstGeom>
              <a:blipFill>
                <a:blip r:embed="rId8"/>
                <a:stretch>
                  <a:fillRect l="-300" t="-3922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E1B9D44A-6BDE-9F04-689B-3C6E249ACB5C}"/>
                  </a:ext>
                </a:extLst>
              </p:cNvPr>
              <p:cNvSpPr/>
              <p:nvPr/>
            </p:nvSpPr>
            <p:spPr>
              <a:xfrm>
                <a:off x="3432311" y="3358436"/>
                <a:ext cx="6096000" cy="30777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US" sz="1400" dirty="0"/>
                  <a:t>Closed set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[510]</m:t>
                    </m:r>
                  </m:oMath>
                </a14:m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</m:oMath>
                </a14:m>
                <a:r>
                  <a:rPr lang="en-US" sz="1400" dirty="0"/>
                  <a:t> Falsifiable “the mass of the electron is exactly 510 KeV”</a:t>
                </a:r>
              </a:p>
            </p:txBody>
          </p:sp>
        </mc:Choice>
        <mc:Fallback xmlns=""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BC65555D-39EA-CDC5-63B8-283EC376DA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2311" y="3358436"/>
                <a:ext cx="6096000" cy="307777"/>
              </a:xfrm>
              <a:prstGeom prst="rect">
                <a:avLst/>
              </a:prstGeom>
              <a:blipFill>
                <a:blip r:embed="rId9"/>
                <a:stretch>
                  <a:fillRect l="-300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5" name="Group 174">
            <a:extLst>
              <a:ext uri="{FF2B5EF4-FFF2-40B4-BE49-F238E27FC236}">
                <a16:creationId xmlns:a16="http://schemas.microsoft.com/office/drawing/2014/main" id="{E66A668D-B91B-C527-0AFA-5E651736D426}"/>
              </a:ext>
            </a:extLst>
          </p:cNvPr>
          <p:cNvGrpSpPr/>
          <p:nvPr/>
        </p:nvGrpSpPr>
        <p:grpSpPr>
          <a:xfrm>
            <a:off x="523158" y="4444668"/>
            <a:ext cx="3208184" cy="1479650"/>
            <a:chOff x="608166" y="1348615"/>
            <a:chExt cx="7780826" cy="3588603"/>
          </a:xfrm>
        </p:grpSpPr>
        <p:grpSp>
          <p:nvGrpSpPr>
            <p:cNvPr id="176" name="Group 175">
              <a:extLst>
                <a:ext uri="{FF2B5EF4-FFF2-40B4-BE49-F238E27FC236}">
                  <a16:creationId xmlns:a16="http://schemas.microsoft.com/office/drawing/2014/main" id="{8575F9E6-3AE4-5F05-DEE6-EE3C0A137AA3}"/>
                </a:ext>
              </a:extLst>
            </p:cNvPr>
            <p:cNvGrpSpPr/>
            <p:nvPr/>
          </p:nvGrpSpPr>
          <p:grpSpPr>
            <a:xfrm>
              <a:off x="1001222" y="3472140"/>
              <a:ext cx="6797787" cy="1465078"/>
              <a:chOff x="2212388" y="3872190"/>
              <a:chExt cx="6797787" cy="1465078"/>
            </a:xfrm>
          </p:grpSpPr>
          <p:grpSp>
            <p:nvGrpSpPr>
              <p:cNvPr id="210" name="Group 209">
                <a:extLst>
                  <a:ext uri="{FF2B5EF4-FFF2-40B4-BE49-F238E27FC236}">
                    <a16:creationId xmlns:a16="http://schemas.microsoft.com/office/drawing/2014/main" id="{C3421F25-5929-7604-C9E1-7AB56EE918FA}"/>
                  </a:ext>
                </a:extLst>
              </p:cNvPr>
              <p:cNvGrpSpPr/>
              <p:nvPr/>
            </p:nvGrpSpPr>
            <p:grpSpPr>
              <a:xfrm>
                <a:off x="7267876" y="3872190"/>
                <a:ext cx="1742299" cy="1465078"/>
                <a:chOff x="7120424" y="4399613"/>
                <a:chExt cx="1742299" cy="1465078"/>
              </a:xfrm>
            </p:grpSpPr>
            <p:sp>
              <p:nvSpPr>
                <p:cNvPr id="224" name="Oval 223">
                  <a:extLst>
                    <a:ext uri="{FF2B5EF4-FFF2-40B4-BE49-F238E27FC236}">
                      <a16:creationId xmlns:a16="http://schemas.microsoft.com/office/drawing/2014/main" id="{0FCECD48-1A40-086B-810B-BB88C06BCEE3}"/>
                    </a:ext>
                  </a:extLst>
                </p:cNvPr>
                <p:cNvSpPr/>
                <p:nvPr/>
              </p:nvSpPr>
              <p:spPr>
                <a:xfrm>
                  <a:off x="7120424" y="4399613"/>
                  <a:ext cx="1742299" cy="1465078"/>
                </a:xfrm>
                <a:prstGeom prst="ellips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5" name="Oval 224">
                  <a:extLst>
                    <a:ext uri="{FF2B5EF4-FFF2-40B4-BE49-F238E27FC236}">
                      <a16:creationId xmlns:a16="http://schemas.microsoft.com/office/drawing/2014/main" id="{BBDB56E8-8543-E6E9-11C4-169A1A356E90}"/>
                    </a:ext>
                  </a:extLst>
                </p:cNvPr>
                <p:cNvSpPr/>
                <p:nvPr/>
              </p:nvSpPr>
              <p:spPr>
                <a:xfrm>
                  <a:off x="8325626" y="4896076"/>
                  <a:ext cx="71021" cy="71021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6" name="Oval 225">
                  <a:extLst>
                    <a:ext uri="{FF2B5EF4-FFF2-40B4-BE49-F238E27FC236}">
                      <a16:creationId xmlns:a16="http://schemas.microsoft.com/office/drawing/2014/main" id="{3EB378B6-864B-ACBD-4D1D-442B3D97A846}"/>
                    </a:ext>
                  </a:extLst>
                </p:cNvPr>
                <p:cNvSpPr/>
                <p:nvPr/>
              </p:nvSpPr>
              <p:spPr>
                <a:xfrm>
                  <a:off x="7407281" y="5122389"/>
                  <a:ext cx="71021" cy="71021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7" name="Oval 226">
                  <a:extLst>
                    <a:ext uri="{FF2B5EF4-FFF2-40B4-BE49-F238E27FC236}">
                      <a16:creationId xmlns:a16="http://schemas.microsoft.com/office/drawing/2014/main" id="{E02C6D9A-2283-BC55-84E2-A3DB15EE9236}"/>
                    </a:ext>
                  </a:extLst>
                </p:cNvPr>
                <p:cNvSpPr/>
                <p:nvPr/>
              </p:nvSpPr>
              <p:spPr>
                <a:xfrm>
                  <a:off x="8090010" y="5489145"/>
                  <a:ext cx="71021" cy="71021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8" name="Oval 227">
                  <a:extLst>
                    <a:ext uri="{FF2B5EF4-FFF2-40B4-BE49-F238E27FC236}">
                      <a16:creationId xmlns:a16="http://schemas.microsoft.com/office/drawing/2014/main" id="{4F0C6D44-BA28-103E-AF9E-ED8495960BF1}"/>
                    </a:ext>
                  </a:extLst>
                </p:cNvPr>
                <p:cNvSpPr/>
                <p:nvPr/>
              </p:nvSpPr>
              <p:spPr>
                <a:xfrm>
                  <a:off x="7930758" y="5202059"/>
                  <a:ext cx="71021" cy="71021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9" name="Oval 228">
                  <a:extLst>
                    <a:ext uri="{FF2B5EF4-FFF2-40B4-BE49-F238E27FC236}">
                      <a16:creationId xmlns:a16="http://schemas.microsoft.com/office/drawing/2014/main" id="{932C2C43-51C8-4475-67AD-B85EB4B9A50C}"/>
                    </a:ext>
                  </a:extLst>
                </p:cNvPr>
                <p:cNvSpPr/>
                <p:nvPr/>
              </p:nvSpPr>
              <p:spPr>
                <a:xfrm>
                  <a:off x="7683115" y="4725385"/>
                  <a:ext cx="71021" cy="71021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11" name="Group 210">
                <a:extLst>
                  <a:ext uri="{FF2B5EF4-FFF2-40B4-BE49-F238E27FC236}">
                    <a16:creationId xmlns:a16="http://schemas.microsoft.com/office/drawing/2014/main" id="{466DBFB4-8E21-8F16-A63B-BEC33ECB9316}"/>
                  </a:ext>
                </a:extLst>
              </p:cNvPr>
              <p:cNvGrpSpPr/>
              <p:nvPr/>
            </p:nvGrpSpPr>
            <p:grpSpPr>
              <a:xfrm>
                <a:off x="2212388" y="3872190"/>
                <a:ext cx="1742299" cy="1465078"/>
                <a:chOff x="1936220" y="4385306"/>
                <a:chExt cx="1742299" cy="1465078"/>
              </a:xfrm>
            </p:grpSpPr>
            <p:sp>
              <p:nvSpPr>
                <p:cNvPr id="215" name="Oval 214">
                  <a:extLst>
                    <a:ext uri="{FF2B5EF4-FFF2-40B4-BE49-F238E27FC236}">
                      <a16:creationId xmlns:a16="http://schemas.microsoft.com/office/drawing/2014/main" id="{6E20C06C-0BCB-C59C-B0C9-9A0E0BD7FDB3}"/>
                    </a:ext>
                  </a:extLst>
                </p:cNvPr>
                <p:cNvSpPr/>
                <p:nvPr/>
              </p:nvSpPr>
              <p:spPr>
                <a:xfrm>
                  <a:off x="1936220" y="4385306"/>
                  <a:ext cx="1742299" cy="1465078"/>
                </a:xfrm>
                <a:prstGeom prst="ellips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6" name="Oval 215">
                  <a:extLst>
                    <a:ext uri="{FF2B5EF4-FFF2-40B4-BE49-F238E27FC236}">
                      <a16:creationId xmlns:a16="http://schemas.microsoft.com/office/drawing/2014/main" id="{5E3A944C-46A9-5FFE-70CB-BB159D5D951B}"/>
                    </a:ext>
                  </a:extLst>
                </p:cNvPr>
                <p:cNvSpPr/>
                <p:nvPr/>
              </p:nvSpPr>
              <p:spPr>
                <a:xfrm>
                  <a:off x="3141422" y="4881769"/>
                  <a:ext cx="71021" cy="71021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7" name="Oval 216">
                  <a:extLst>
                    <a:ext uri="{FF2B5EF4-FFF2-40B4-BE49-F238E27FC236}">
                      <a16:creationId xmlns:a16="http://schemas.microsoft.com/office/drawing/2014/main" id="{E0AA03E9-1D06-9A41-728A-A0D6137E9ABD}"/>
                    </a:ext>
                  </a:extLst>
                </p:cNvPr>
                <p:cNvSpPr/>
                <p:nvPr/>
              </p:nvSpPr>
              <p:spPr>
                <a:xfrm>
                  <a:off x="2199116" y="5217137"/>
                  <a:ext cx="71021" cy="71021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8" name="Oval 217">
                  <a:extLst>
                    <a:ext uri="{FF2B5EF4-FFF2-40B4-BE49-F238E27FC236}">
                      <a16:creationId xmlns:a16="http://schemas.microsoft.com/office/drawing/2014/main" id="{26BAD99C-417D-D975-DE10-094906D7F6DF}"/>
                    </a:ext>
                  </a:extLst>
                </p:cNvPr>
                <p:cNvSpPr/>
                <p:nvPr/>
              </p:nvSpPr>
              <p:spPr>
                <a:xfrm>
                  <a:off x="3296784" y="5217138"/>
                  <a:ext cx="71021" cy="71021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9" name="Oval 218">
                  <a:extLst>
                    <a:ext uri="{FF2B5EF4-FFF2-40B4-BE49-F238E27FC236}">
                      <a16:creationId xmlns:a16="http://schemas.microsoft.com/office/drawing/2014/main" id="{FA96499F-F67C-4403-5093-22027A9673CD}"/>
                    </a:ext>
                  </a:extLst>
                </p:cNvPr>
                <p:cNvSpPr/>
                <p:nvPr/>
              </p:nvSpPr>
              <p:spPr>
                <a:xfrm>
                  <a:off x="2552536" y="5489146"/>
                  <a:ext cx="71021" cy="71021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0" name="Oval 219">
                  <a:extLst>
                    <a:ext uri="{FF2B5EF4-FFF2-40B4-BE49-F238E27FC236}">
                      <a16:creationId xmlns:a16="http://schemas.microsoft.com/office/drawing/2014/main" id="{2F6FC1A7-B6C6-8A18-43B2-BEC0F77E8C5D}"/>
                    </a:ext>
                  </a:extLst>
                </p:cNvPr>
                <p:cNvSpPr/>
                <p:nvPr/>
              </p:nvSpPr>
              <p:spPr>
                <a:xfrm>
                  <a:off x="2727129" y="5043214"/>
                  <a:ext cx="71021" cy="71021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1" name="Oval 220">
                  <a:extLst>
                    <a:ext uri="{FF2B5EF4-FFF2-40B4-BE49-F238E27FC236}">
                      <a16:creationId xmlns:a16="http://schemas.microsoft.com/office/drawing/2014/main" id="{B62D1B9F-EE50-8C19-4A03-9A0DF235C76C}"/>
                    </a:ext>
                  </a:extLst>
                </p:cNvPr>
                <p:cNvSpPr/>
                <p:nvPr/>
              </p:nvSpPr>
              <p:spPr>
                <a:xfrm>
                  <a:off x="3012901" y="5453636"/>
                  <a:ext cx="71021" cy="71021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2" name="Oval 221">
                  <a:extLst>
                    <a:ext uri="{FF2B5EF4-FFF2-40B4-BE49-F238E27FC236}">
                      <a16:creationId xmlns:a16="http://schemas.microsoft.com/office/drawing/2014/main" id="{68AD8D1E-1C8B-6798-FF88-CBFA327AFAED}"/>
                    </a:ext>
                  </a:extLst>
                </p:cNvPr>
                <p:cNvSpPr/>
                <p:nvPr/>
              </p:nvSpPr>
              <p:spPr>
                <a:xfrm>
                  <a:off x="2790957" y="4616737"/>
                  <a:ext cx="71021" cy="71021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3" name="Oval 222">
                  <a:extLst>
                    <a:ext uri="{FF2B5EF4-FFF2-40B4-BE49-F238E27FC236}">
                      <a16:creationId xmlns:a16="http://schemas.microsoft.com/office/drawing/2014/main" id="{EBA1745F-0B1F-4EDF-C805-EA86EE504C26}"/>
                    </a:ext>
                  </a:extLst>
                </p:cNvPr>
                <p:cNvSpPr/>
                <p:nvPr/>
              </p:nvSpPr>
              <p:spPr>
                <a:xfrm>
                  <a:off x="2262534" y="4820790"/>
                  <a:ext cx="71021" cy="71021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212" name="Straight Connector 211">
                <a:extLst>
                  <a:ext uri="{FF2B5EF4-FFF2-40B4-BE49-F238E27FC236}">
                    <a16:creationId xmlns:a16="http://schemas.microsoft.com/office/drawing/2014/main" id="{ACC456D7-5731-0B03-762A-3C8EFE61904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17590" y="4307674"/>
                <a:ext cx="4386514" cy="651658"/>
              </a:xfrm>
              <a:prstGeom prst="line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213" name="Straight Connector 212">
                <a:extLst>
                  <a:ext uri="{FF2B5EF4-FFF2-40B4-BE49-F238E27FC236}">
                    <a16:creationId xmlns:a16="http://schemas.microsoft.com/office/drawing/2014/main" id="{504EAF72-4CF0-4225-7050-050ECAFFA72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38146" y="4230631"/>
                <a:ext cx="4608740" cy="331424"/>
              </a:xfrm>
              <a:prstGeom prst="line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214" name="Straight Connector 213">
                <a:extLst>
                  <a:ext uri="{FF2B5EF4-FFF2-40B4-BE49-F238E27FC236}">
                    <a16:creationId xmlns:a16="http://schemas.microsoft.com/office/drawing/2014/main" id="{509FA01F-AF8E-B0B8-B5FD-9E4441E09E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76933" y="4146006"/>
                <a:ext cx="4293715" cy="484470"/>
              </a:xfrm>
              <a:prstGeom prst="line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7891641C-C268-E4CD-725F-3E0F2BE61123}"/>
                </a:ext>
              </a:extLst>
            </p:cNvPr>
            <p:cNvGrpSpPr/>
            <p:nvPr/>
          </p:nvGrpSpPr>
          <p:grpSpPr>
            <a:xfrm>
              <a:off x="608166" y="1348615"/>
              <a:ext cx="2715202" cy="1605910"/>
              <a:chOff x="1085238" y="2632678"/>
              <a:chExt cx="2715202" cy="1605910"/>
            </a:xfrm>
          </p:grpSpPr>
          <p:sp>
            <p:nvSpPr>
              <p:cNvPr id="195" name="Oval 194">
                <a:extLst>
                  <a:ext uri="{FF2B5EF4-FFF2-40B4-BE49-F238E27FC236}">
                    <a16:creationId xmlns:a16="http://schemas.microsoft.com/office/drawing/2014/main" id="{B3590AA1-80C0-1979-7BD4-A29CC39CDB80}"/>
                  </a:ext>
                </a:extLst>
              </p:cNvPr>
              <p:cNvSpPr/>
              <p:nvPr/>
            </p:nvSpPr>
            <p:spPr>
              <a:xfrm>
                <a:off x="1085238" y="2632678"/>
                <a:ext cx="2715202" cy="160591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6" name="Oval 195">
                <a:extLst>
                  <a:ext uri="{FF2B5EF4-FFF2-40B4-BE49-F238E27FC236}">
                    <a16:creationId xmlns:a16="http://schemas.microsoft.com/office/drawing/2014/main" id="{83947DB2-D596-E687-8525-F156F651AF0C}"/>
                  </a:ext>
                </a:extLst>
              </p:cNvPr>
              <p:cNvSpPr/>
              <p:nvPr/>
            </p:nvSpPr>
            <p:spPr>
              <a:xfrm>
                <a:off x="2320031" y="3032652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7" name="Oval 196">
                <a:extLst>
                  <a:ext uri="{FF2B5EF4-FFF2-40B4-BE49-F238E27FC236}">
                    <a16:creationId xmlns:a16="http://schemas.microsoft.com/office/drawing/2014/main" id="{4FAE89CC-113F-6660-7170-1058C4883790}"/>
                  </a:ext>
                </a:extLst>
              </p:cNvPr>
              <p:cNvSpPr/>
              <p:nvPr/>
            </p:nvSpPr>
            <p:spPr>
              <a:xfrm>
                <a:off x="1305017" y="3464510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8" name="Oval 197">
                <a:extLst>
                  <a:ext uri="{FF2B5EF4-FFF2-40B4-BE49-F238E27FC236}">
                    <a16:creationId xmlns:a16="http://schemas.microsoft.com/office/drawing/2014/main" id="{91F5CF79-443D-FC12-EF92-A3CF57495B9B}"/>
                  </a:ext>
                </a:extLst>
              </p:cNvPr>
              <p:cNvSpPr/>
              <p:nvPr/>
            </p:nvSpPr>
            <p:spPr>
              <a:xfrm>
                <a:off x="2756516" y="3343681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9" name="Oval 198">
                <a:extLst>
                  <a:ext uri="{FF2B5EF4-FFF2-40B4-BE49-F238E27FC236}">
                    <a16:creationId xmlns:a16="http://schemas.microsoft.com/office/drawing/2014/main" id="{DC02ECEC-1A89-B5FD-3210-974BC3FF9A2A}"/>
                  </a:ext>
                </a:extLst>
              </p:cNvPr>
              <p:cNvSpPr/>
              <p:nvPr/>
            </p:nvSpPr>
            <p:spPr>
              <a:xfrm>
                <a:off x="2756517" y="3831212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0" name="Oval 199">
                <a:extLst>
                  <a:ext uri="{FF2B5EF4-FFF2-40B4-BE49-F238E27FC236}">
                    <a16:creationId xmlns:a16="http://schemas.microsoft.com/office/drawing/2014/main" id="{9679EE7D-AC1F-79CC-8B74-BA0A024B7C62}"/>
                  </a:ext>
                </a:extLst>
              </p:cNvPr>
              <p:cNvSpPr/>
              <p:nvPr/>
            </p:nvSpPr>
            <p:spPr>
              <a:xfrm>
                <a:off x="2251969" y="3548607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1" name="Oval 200">
                <a:extLst>
                  <a:ext uri="{FF2B5EF4-FFF2-40B4-BE49-F238E27FC236}">
                    <a16:creationId xmlns:a16="http://schemas.microsoft.com/office/drawing/2014/main" id="{69A6BC20-D893-2E2A-A340-ACED4DB60729}"/>
                  </a:ext>
                </a:extLst>
              </p:cNvPr>
              <p:cNvSpPr/>
              <p:nvPr/>
            </p:nvSpPr>
            <p:spPr>
              <a:xfrm>
                <a:off x="1747421" y="3629987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2" name="Oval 201">
                <a:extLst>
                  <a:ext uri="{FF2B5EF4-FFF2-40B4-BE49-F238E27FC236}">
                    <a16:creationId xmlns:a16="http://schemas.microsoft.com/office/drawing/2014/main" id="{5AE1DFDE-2FAD-0BC3-0E97-71AD949D0582}"/>
                  </a:ext>
                </a:extLst>
              </p:cNvPr>
              <p:cNvSpPr/>
              <p:nvPr/>
            </p:nvSpPr>
            <p:spPr>
              <a:xfrm>
                <a:off x="1876147" y="3290586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3" name="Oval 202">
                <a:extLst>
                  <a:ext uri="{FF2B5EF4-FFF2-40B4-BE49-F238E27FC236}">
                    <a16:creationId xmlns:a16="http://schemas.microsoft.com/office/drawing/2014/main" id="{932032DB-DE5D-55EB-0894-E711B42E9CDB}"/>
                  </a:ext>
                </a:extLst>
              </p:cNvPr>
              <p:cNvSpPr/>
              <p:nvPr/>
            </p:nvSpPr>
            <p:spPr>
              <a:xfrm>
                <a:off x="3016932" y="2961631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4" name="Oval 203">
                <a:extLst>
                  <a:ext uri="{FF2B5EF4-FFF2-40B4-BE49-F238E27FC236}">
                    <a16:creationId xmlns:a16="http://schemas.microsoft.com/office/drawing/2014/main" id="{A4AC9B44-0A40-0243-C516-46B029B7670B}"/>
                  </a:ext>
                </a:extLst>
              </p:cNvPr>
              <p:cNvSpPr/>
              <p:nvPr/>
            </p:nvSpPr>
            <p:spPr>
              <a:xfrm>
                <a:off x="2243091" y="3928412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" name="Oval 204">
                <a:extLst>
                  <a:ext uri="{FF2B5EF4-FFF2-40B4-BE49-F238E27FC236}">
                    <a16:creationId xmlns:a16="http://schemas.microsoft.com/office/drawing/2014/main" id="{0B2E094A-37BC-96DE-76C8-0F6DA849337B}"/>
                  </a:ext>
                </a:extLst>
              </p:cNvPr>
              <p:cNvSpPr/>
              <p:nvPr/>
            </p:nvSpPr>
            <p:spPr>
              <a:xfrm>
                <a:off x="1845078" y="2961632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6" name="Oval 205">
                <a:extLst>
                  <a:ext uri="{FF2B5EF4-FFF2-40B4-BE49-F238E27FC236}">
                    <a16:creationId xmlns:a16="http://schemas.microsoft.com/office/drawing/2014/main" id="{15DE9841-F31B-D725-E82A-844D7D032EA0}"/>
                  </a:ext>
                </a:extLst>
              </p:cNvPr>
              <p:cNvSpPr/>
              <p:nvPr/>
            </p:nvSpPr>
            <p:spPr>
              <a:xfrm>
                <a:off x="2562690" y="2812467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7" name="Oval 206">
                <a:extLst>
                  <a:ext uri="{FF2B5EF4-FFF2-40B4-BE49-F238E27FC236}">
                    <a16:creationId xmlns:a16="http://schemas.microsoft.com/office/drawing/2014/main" id="{A89C2E72-9105-EFDF-B46B-8D9CB0237B62}"/>
                  </a:ext>
                </a:extLst>
              </p:cNvPr>
              <p:cNvSpPr/>
              <p:nvPr/>
            </p:nvSpPr>
            <p:spPr>
              <a:xfrm>
                <a:off x="3087953" y="3733006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8" name="Oval 207">
                <a:extLst>
                  <a:ext uri="{FF2B5EF4-FFF2-40B4-BE49-F238E27FC236}">
                    <a16:creationId xmlns:a16="http://schemas.microsoft.com/office/drawing/2014/main" id="{A1E5D4C0-E943-7C6D-3A30-327971E72B56}"/>
                  </a:ext>
                </a:extLst>
              </p:cNvPr>
              <p:cNvSpPr/>
              <p:nvPr/>
            </p:nvSpPr>
            <p:spPr>
              <a:xfrm>
                <a:off x="3435660" y="3429000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9" name="Oval 208">
                <a:extLst>
                  <a:ext uri="{FF2B5EF4-FFF2-40B4-BE49-F238E27FC236}">
                    <a16:creationId xmlns:a16="http://schemas.microsoft.com/office/drawing/2014/main" id="{76651F1D-C2AE-77F0-9BD2-48A4171ED5D7}"/>
                  </a:ext>
                </a:extLst>
              </p:cNvPr>
              <p:cNvSpPr/>
              <p:nvPr/>
            </p:nvSpPr>
            <p:spPr>
              <a:xfrm>
                <a:off x="1457419" y="3103673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8" name="Group 177">
              <a:extLst>
                <a:ext uri="{FF2B5EF4-FFF2-40B4-BE49-F238E27FC236}">
                  <a16:creationId xmlns:a16="http://schemas.microsoft.com/office/drawing/2014/main" id="{326AFE76-D1AE-89BC-2BC0-F23FADBE1E64}"/>
                </a:ext>
              </a:extLst>
            </p:cNvPr>
            <p:cNvGrpSpPr/>
            <p:nvPr/>
          </p:nvGrpSpPr>
          <p:grpSpPr>
            <a:xfrm>
              <a:off x="5673790" y="1372812"/>
              <a:ext cx="2715202" cy="1605910"/>
              <a:chOff x="1085238" y="2632678"/>
              <a:chExt cx="2715202" cy="1605910"/>
            </a:xfrm>
          </p:grpSpPr>
          <p:sp>
            <p:nvSpPr>
              <p:cNvPr id="187" name="Oval 186">
                <a:extLst>
                  <a:ext uri="{FF2B5EF4-FFF2-40B4-BE49-F238E27FC236}">
                    <a16:creationId xmlns:a16="http://schemas.microsoft.com/office/drawing/2014/main" id="{D40928DD-F58C-1570-D4FE-6F6BCA033122}"/>
                  </a:ext>
                </a:extLst>
              </p:cNvPr>
              <p:cNvSpPr/>
              <p:nvPr/>
            </p:nvSpPr>
            <p:spPr>
              <a:xfrm>
                <a:off x="1085238" y="2632678"/>
                <a:ext cx="2715202" cy="160591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8" name="Oval 187">
                <a:extLst>
                  <a:ext uri="{FF2B5EF4-FFF2-40B4-BE49-F238E27FC236}">
                    <a16:creationId xmlns:a16="http://schemas.microsoft.com/office/drawing/2014/main" id="{B32109E6-E809-DD93-82D7-1E3BAE909E4C}"/>
                  </a:ext>
                </a:extLst>
              </p:cNvPr>
              <p:cNvSpPr/>
              <p:nvPr/>
            </p:nvSpPr>
            <p:spPr>
              <a:xfrm>
                <a:off x="2756516" y="3343681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9" name="Oval 188">
                <a:extLst>
                  <a:ext uri="{FF2B5EF4-FFF2-40B4-BE49-F238E27FC236}">
                    <a16:creationId xmlns:a16="http://schemas.microsoft.com/office/drawing/2014/main" id="{0649806C-9805-F193-7A88-7FE748837F5F}"/>
                  </a:ext>
                </a:extLst>
              </p:cNvPr>
              <p:cNvSpPr/>
              <p:nvPr/>
            </p:nvSpPr>
            <p:spPr>
              <a:xfrm>
                <a:off x="1747421" y="3629987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0" name="Oval 189">
                <a:extLst>
                  <a:ext uri="{FF2B5EF4-FFF2-40B4-BE49-F238E27FC236}">
                    <a16:creationId xmlns:a16="http://schemas.microsoft.com/office/drawing/2014/main" id="{7E270456-0D98-D441-3150-520F7F10E4CE}"/>
                  </a:ext>
                </a:extLst>
              </p:cNvPr>
              <p:cNvSpPr/>
              <p:nvPr/>
            </p:nvSpPr>
            <p:spPr>
              <a:xfrm>
                <a:off x="2243091" y="3928412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1" name="Oval 190">
                <a:extLst>
                  <a:ext uri="{FF2B5EF4-FFF2-40B4-BE49-F238E27FC236}">
                    <a16:creationId xmlns:a16="http://schemas.microsoft.com/office/drawing/2014/main" id="{A6E42155-3B6C-DB20-1D59-1E654098A05B}"/>
                  </a:ext>
                </a:extLst>
              </p:cNvPr>
              <p:cNvSpPr/>
              <p:nvPr/>
            </p:nvSpPr>
            <p:spPr>
              <a:xfrm>
                <a:off x="1845078" y="2961632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2" name="Oval 191">
                <a:extLst>
                  <a:ext uri="{FF2B5EF4-FFF2-40B4-BE49-F238E27FC236}">
                    <a16:creationId xmlns:a16="http://schemas.microsoft.com/office/drawing/2014/main" id="{2D5E638B-FE3D-FAB0-BB42-B7DF55CA04A8}"/>
                  </a:ext>
                </a:extLst>
              </p:cNvPr>
              <p:cNvSpPr/>
              <p:nvPr/>
            </p:nvSpPr>
            <p:spPr>
              <a:xfrm>
                <a:off x="2562690" y="2812467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3" name="Oval 192">
                <a:extLst>
                  <a:ext uri="{FF2B5EF4-FFF2-40B4-BE49-F238E27FC236}">
                    <a16:creationId xmlns:a16="http://schemas.microsoft.com/office/drawing/2014/main" id="{2CE86181-7339-C112-0100-3947797EE34A}"/>
                  </a:ext>
                </a:extLst>
              </p:cNvPr>
              <p:cNvSpPr/>
              <p:nvPr/>
            </p:nvSpPr>
            <p:spPr>
              <a:xfrm>
                <a:off x="3435660" y="3429000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4" name="Oval 193">
                <a:extLst>
                  <a:ext uri="{FF2B5EF4-FFF2-40B4-BE49-F238E27FC236}">
                    <a16:creationId xmlns:a16="http://schemas.microsoft.com/office/drawing/2014/main" id="{600906BA-C252-C689-91E5-52AD9C8C1C51}"/>
                  </a:ext>
                </a:extLst>
              </p:cNvPr>
              <p:cNvSpPr/>
              <p:nvPr/>
            </p:nvSpPr>
            <p:spPr>
              <a:xfrm>
                <a:off x="1457419" y="3103673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AF021A95-C9E4-4E7D-566A-353F526448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09858" y="1879854"/>
              <a:ext cx="3590544" cy="201169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0299099B-528F-5387-C1C3-BE24BCF97B22}"/>
                </a:ext>
              </a:extLst>
            </p:cNvPr>
            <p:cNvCxnSpPr>
              <a:cxnSpLocks/>
            </p:cNvCxnSpPr>
            <p:nvPr/>
          </p:nvCxnSpPr>
          <p:spPr>
            <a:xfrm>
              <a:off x="1885602" y="2306574"/>
              <a:ext cx="4401312" cy="9144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135CC02B-9E26-672D-1126-5C1A9EF483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98706" y="2130639"/>
              <a:ext cx="4163206" cy="47919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0CC51038-AEAA-EAC6-A211-80D504A798BE}"/>
                </a:ext>
              </a:extLst>
            </p:cNvPr>
            <p:cNvGrpSpPr/>
            <p:nvPr/>
          </p:nvGrpSpPr>
          <p:grpSpPr>
            <a:xfrm>
              <a:off x="1695844" y="2391071"/>
              <a:ext cx="5061844" cy="2370621"/>
              <a:chOff x="2907010" y="2791121"/>
              <a:chExt cx="5061844" cy="2370621"/>
            </a:xfrm>
          </p:grpSpPr>
          <p:sp>
            <p:nvSpPr>
              <p:cNvPr id="183" name="Oval 182">
                <a:extLst>
                  <a:ext uri="{FF2B5EF4-FFF2-40B4-BE49-F238E27FC236}">
                    <a16:creationId xmlns:a16="http://schemas.microsoft.com/office/drawing/2014/main" id="{70623EEF-B212-CAF3-978A-663298A9498F}"/>
                  </a:ext>
                </a:extLst>
              </p:cNvPr>
              <p:cNvSpPr/>
              <p:nvPr/>
            </p:nvSpPr>
            <p:spPr>
              <a:xfrm rot="1485908">
                <a:off x="7508722" y="4044552"/>
                <a:ext cx="460132" cy="869557"/>
              </a:xfrm>
              <a:prstGeom prst="ellipse">
                <a:avLst/>
              </a:prstGeom>
              <a:noFill/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Oval 183">
                <a:extLst>
                  <a:ext uri="{FF2B5EF4-FFF2-40B4-BE49-F238E27FC236}">
                    <a16:creationId xmlns:a16="http://schemas.microsoft.com/office/drawing/2014/main" id="{19E891AE-1EBE-47BB-4A15-2F77ECD74EE2}"/>
                  </a:ext>
                </a:extLst>
              </p:cNvPr>
              <p:cNvSpPr/>
              <p:nvPr/>
            </p:nvSpPr>
            <p:spPr>
              <a:xfrm rot="20779759">
                <a:off x="2907010" y="4013557"/>
                <a:ext cx="517041" cy="1148185"/>
              </a:xfrm>
              <a:prstGeom prst="ellipse">
                <a:avLst/>
              </a:prstGeom>
              <a:noFill/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5" name="Straight Arrow Connector 184">
                <a:extLst>
                  <a:ext uri="{FF2B5EF4-FFF2-40B4-BE49-F238E27FC236}">
                    <a16:creationId xmlns:a16="http://schemas.microsoft.com/office/drawing/2014/main" id="{91FF9FD5-4AC2-1171-B05A-6C4402EE2A86}"/>
                  </a:ext>
                </a:extLst>
              </p:cNvPr>
              <p:cNvCxnSpPr/>
              <p:nvPr/>
            </p:nvCxnSpPr>
            <p:spPr>
              <a:xfrm>
                <a:off x="7618160" y="2920014"/>
                <a:ext cx="212407" cy="1068148"/>
              </a:xfrm>
              <a:prstGeom prst="straightConnector1">
                <a:avLst/>
              </a:prstGeom>
              <a:ln>
                <a:solidFill>
                  <a:schemeClr val="bg1">
                    <a:lumMod val="50000"/>
                  </a:schemeClr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Straight Arrow Connector 185">
                <a:extLst>
                  <a:ext uri="{FF2B5EF4-FFF2-40B4-BE49-F238E27FC236}">
                    <a16:creationId xmlns:a16="http://schemas.microsoft.com/office/drawing/2014/main" id="{6B1E9A7C-B394-2CE3-B6F7-BF6EA01C7C34}"/>
                  </a:ext>
                </a:extLst>
              </p:cNvPr>
              <p:cNvCxnSpPr/>
              <p:nvPr/>
            </p:nvCxnSpPr>
            <p:spPr>
              <a:xfrm>
                <a:off x="3048206" y="2791121"/>
                <a:ext cx="8878" cy="1197041"/>
              </a:xfrm>
              <a:prstGeom prst="straightConnector1">
                <a:avLst/>
              </a:prstGeom>
              <a:ln>
                <a:solidFill>
                  <a:schemeClr val="bg1">
                    <a:lumMod val="50000"/>
                  </a:schemeClr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1477CDA3-B099-D2B6-5FC3-DBE3858F30A5}"/>
                  </a:ext>
                </a:extLst>
              </p:cNvPr>
              <p:cNvSpPr txBox="1"/>
              <p:nvPr/>
            </p:nvSpPr>
            <p:spPr>
              <a:xfrm>
                <a:off x="192045" y="4349522"/>
                <a:ext cx="48776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𝒟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368FF74E-0A59-C859-15B1-9A550F5382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45" y="4349522"/>
                <a:ext cx="487761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TextBox 230">
                <a:extLst>
                  <a:ext uri="{FF2B5EF4-FFF2-40B4-BE49-F238E27FC236}">
                    <a16:creationId xmlns:a16="http://schemas.microsoft.com/office/drawing/2014/main" id="{8BDCA9D7-644B-FEB0-0BA5-4F18B4B4B03A}"/>
                  </a:ext>
                </a:extLst>
              </p:cNvPr>
              <p:cNvSpPr txBox="1"/>
              <p:nvPr/>
            </p:nvSpPr>
            <p:spPr>
              <a:xfrm>
                <a:off x="2286661" y="4339574"/>
                <a:ext cx="48179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𝒟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31" name="TextBox 230">
                <a:extLst>
                  <a:ext uri="{FF2B5EF4-FFF2-40B4-BE49-F238E27FC236}">
                    <a16:creationId xmlns:a16="http://schemas.microsoft.com/office/drawing/2014/main" id="{D423958C-EFF4-1FBE-17C3-5DA9B4764F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661" y="4339574"/>
                <a:ext cx="481799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TextBox 231">
                <a:extLst>
                  <a:ext uri="{FF2B5EF4-FFF2-40B4-BE49-F238E27FC236}">
                    <a16:creationId xmlns:a16="http://schemas.microsoft.com/office/drawing/2014/main" id="{D7E3FB1B-972C-D8A8-FC58-3E1A6BAE5BD6}"/>
                  </a:ext>
                </a:extLst>
              </p:cNvPr>
              <p:cNvSpPr txBox="1"/>
              <p:nvPr/>
            </p:nvSpPr>
            <p:spPr>
              <a:xfrm>
                <a:off x="2515473" y="5643378"/>
                <a:ext cx="35958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32" name="TextBox 231">
                <a:extLst>
                  <a:ext uri="{FF2B5EF4-FFF2-40B4-BE49-F238E27FC236}">
                    <a16:creationId xmlns:a16="http://schemas.microsoft.com/office/drawing/2014/main" id="{6F683A47-63B0-4528-8BBF-7468CD4752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473" y="5643378"/>
                <a:ext cx="359586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TextBox 232">
                <a:extLst>
                  <a:ext uri="{FF2B5EF4-FFF2-40B4-BE49-F238E27FC236}">
                    <a16:creationId xmlns:a16="http://schemas.microsoft.com/office/drawing/2014/main" id="{31D7692B-630B-1E49-27AA-37C9996B5267}"/>
                  </a:ext>
                </a:extLst>
              </p:cNvPr>
              <p:cNvSpPr txBox="1"/>
              <p:nvPr/>
            </p:nvSpPr>
            <p:spPr>
              <a:xfrm>
                <a:off x="433764" y="5643378"/>
                <a:ext cx="36920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33" name="TextBox 232">
                <a:extLst>
                  <a:ext uri="{FF2B5EF4-FFF2-40B4-BE49-F238E27FC236}">
                    <a16:creationId xmlns:a16="http://schemas.microsoft.com/office/drawing/2014/main" id="{C7E0EB15-91F9-47E2-BBE0-8678CE9978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764" y="5643378"/>
                <a:ext cx="369204" cy="3385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TextBox 233">
                <a:extLst>
                  <a:ext uri="{FF2B5EF4-FFF2-40B4-BE49-F238E27FC236}">
                    <a16:creationId xmlns:a16="http://schemas.microsoft.com/office/drawing/2014/main" id="{757C230B-A735-7297-49A6-D2A34B9F1510}"/>
                  </a:ext>
                </a:extLst>
              </p:cNvPr>
              <p:cNvSpPr txBox="1"/>
              <p:nvPr/>
            </p:nvSpPr>
            <p:spPr>
              <a:xfrm>
                <a:off x="106242" y="4026458"/>
                <a:ext cx="426674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5"/>
                    </a:solidFill>
                  </a:rPr>
                  <a:t>Inference relationship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𝓇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𝒟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𝒟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sz="1400" dirty="0"/>
                  <a:t> such that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𝓇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234" name="TextBox 233">
                <a:extLst>
                  <a:ext uri="{FF2B5EF4-FFF2-40B4-BE49-F238E27FC236}">
                    <a16:creationId xmlns:a16="http://schemas.microsoft.com/office/drawing/2014/main" id="{4133544B-4B5B-C76A-CF34-291CC2707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42" y="4026458"/>
                <a:ext cx="4266745" cy="307777"/>
              </a:xfrm>
              <a:prstGeom prst="rect">
                <a:avLst/>
              </a:prstGeom>
              <a:blipFill>
                <a:blip r:embed="rId14"/>
                <a:stretch>
                  <a:fillRect l="-429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5" name="TextBox 234">
                <a:extLst>
                  <a:ext uri="{FF2B5EF4-FFF2-40B4-BE49-F238E27FC236}">
                    <a16:creationId xmlns:a16="http://schemas.microsoft.com/office/drawing/2014/main" id="{85A4BDF9-55B8-71BA-7971-AF8EEFEBD9FE}"/>
                  </a:ext>
                </a:extLst>
              </p:cNvPr>
              <p:cNvSpPr txBox="1"/>
              <p:nvPr/>
            </p:nvSpPr>
            <p:spPr>
              <a:xfrm>
                <a:off x="523158" y="6040850"/>
                <a:ext cx="37599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6"/>
                    </a:solidFill>
                  </a:rPr>
                  <a:t>Causal relationship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1400" dirty="0"/>
                  <a:t> such that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235" name="TextBox 234">
                <a:extLst>
                  <a:ext uri="{FF2B5EF4-FFF2-40B4-BE49-F238E27FC236}">
                    <a16:creationId xmlns:a16="http://schemas.microsoft.com/office/drawing/2014/main" id="{1A6B2F69-1A7F-19A9-8D3E-36A302E682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158" y="6040850"/>
                <a:ext cx="3759940" cy="307777"/>
              </a:xfrm>
              <a:prstGeom prst="rect">
                <a:avLst/>
              </a:prstGeom>
              <a:blipFill>
                <a:blip r:embed="rId15"/>
                <a:stretch>
                  <a:fillRect l="-486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TextBox 235">
                <a:extLst>
                  <a:ext uri="{FF2B5EF4-FFF2-40B4-BE49-F238E27FC236}">
                    <a16:creationId xmlns:a16="http://schemas.microsoft.com/office/drawing/2014/main" id="{D56AAC07-8255-39A4-DDDD-2697C8EB0FA2}"/>
                  </a:ext>
                </a:extLst>
              </p:cNvPr>
              <p:cNvSpPr txBox="1"/>
              <p:nvPr/>
            </p:nvSpPr>
            <p:spPr>
              <a:xfrm>
                <a:off x="3937039" y="4453612"/>
                <a:ext cx="1802866" cy="7386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accent5"/>
                    </a:solidFill>
                  </a:rPr>
                  <a:t>Inference relationship</a:t>
                </a:r>
                <a:br>
                  <a:rPr lang="en-US" sz="14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br>
                  <a:rPr lang="en-US" sz="1400" dirty="0">
                    <a:solidFill>
                      <a:schemeClr val="accent6"/>
                    </a:solidFill>
                  </a:rPr>
                </a:br>
                <a:r>
                  <a:rPr lang="en-US" sz="1400" dirty="0">
                    <a:solidFill>
                      <a:schemeClr val="accent6"/>
                    </a:solidFill>
                  </a:rPr>
                  <a:t>Causal relationship</a:t>
                </a:r>
                <a:endParaRPr lang="en-US" sz="1400" dirty="0"/>
              </a:p>
            </p:txBody>
          </p:sp>
        </mc:Choice>
        <mc:Fallback xmlns="">
          <p:sp>
            <p:nvSpPr>
              <p:cNvPr id="236" name="TextBox 235">
                <a:extLst>
                  <a:ext uri="{FF2B5EF4-FFF2-40B4-BE49-F238E27FC236}">
                    <a16:creationId xmlns:a16="http://schemas.microsoft.com/office/drawing/2014/main" id="{154C12AE-9F8C-5852-3B59-8B8475774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7039" y="4453612"/>
                <a:ext cx="1802866" cy="738664"/>
              </a:xfrm>
              <a:prstGeom prst="rect">
                <a:avLst/>
              </a:prstGeom>
              <a:blipFill>
                <a:blip r:embed="rId16"/>
                <a:stretch>
                  <a:fillRect t="-1653" b="-74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TextBox 236">
            <a:extLst>
              <a:ext uri="{FF2B5EF4-FFF2-40B4-BE49-F238E27FC236}">
                <a16:creationId xmlns:a16="http://schemas.microsoft.com/office/drawing/2014/main" id="{F2B849E5-196B-54BA-5F10-CC3890295657}"/>
              </a:ext>
            </a:extLst>
          </p:cNvPr>
          <p:cNvSpPr txBox="1"/>
          <p:nvPr/>
        </p:nvSpPr>
        <p:spPr>
          <a:xfrm>
            <a:off x="3746017" y="5280020"/>
            <a:ext cx="22163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Relationships must be</a:t>
            </a:r>
            <a:br>
              <a:rPr lang="en-US" sz="1600" dirty="0"/>
            </a:br>
            <a:r>
              <a:rPr lang="en-US" sz="1600" dirty="0"/>
              <a:t>topologically continuous</a:t>
            </a:r>
          </a:p>
        </p:txBody>
      </p:sp>
      <p:pic>
        <p:nvPicPr>
          <p:cNvPr id="239" name="Picture 238">
            <a:extLst>
              <a:ext uri="{FF2B5EF4-FFF2-40B4-BE49-F238E27FC236}">
                <a16:creationId xmlns:a16="http://schemas.microsoft.com/office/drawing/2014/main" id="{533AF05A-A3D8-6B53-6A26-92E1A774D0C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6574" y="4668167"/>
            <a:ext cx="2402560" cy="17791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738A20F1-E27E-69F9-75A4-85150C2A8FEE}"/>
                  </a:ext>
                </a:extLst>
              </p:cNvPr>
              <p:cNvSpPr txBox="1"/>
              <p:nvPr/>
            </p:nvSpPr>
            <p:spPr>
              <a:xfrm>
                <a:off x="5875027" y="6382425"/>
                <a:ext cx="379321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/>
                  <a:t>Phase transition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</m:oMath>
                </a14:m>
                <a:r>
                  <a:rPr lang="en-US" sz="1400" dirty="0"/>
                  <a:t> Topologically isolated regions</a:t>
                </a:r>
              </a:p>
            </p:txBody>
          </p:sp>
        </mc:Choice>
        <mc:Fallback xmlns=""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4325D7E1-1A3B-C661-ED10-3E1263B603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5027" y="6382425"/>
                <a:ext cx="3793219" cy="307777"/>
              </a:xfrm>
              <a:prstGeom prst="rect">
                <a:avLst/>
              </a:prstGeom>
              <a:blipFill>
                <a:blip r:embed="rId18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1" name="TextBox 240">
            <a:extLst>
              <a:ext uri="{FF2B5EF4-FFF2-40B4-BE49-F238E27FC236}">
                <a16:creationId xmlns:a16="http://schemas.microsoft.com/office/drawing/2014/main" id="{CA4B9B8A-9FAC-F028-1DE0-78445BF7307E}"/>
              </a:ext>
            </a:extLst>
          </p:cNvPr>
          <p:cNvSpPr txBox="1"/>
          <p:nvPr/>
        </p:nvSpPr>
        <p:spPr>
          <a:xfrm>
            <a:off x="5886953" y="4227492"/>
            <a:ext cx="38933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Topologically continuous consistent</a:t>
            </a:r>
            <a:br>
              <a:rPr lang="en-US" sz="1600" dirty="0"/>
            </a:br>
            <a:r>
              <a:rPr lang="en-US" sz="1600" dirty="0"/>
              <a:t>with analytic discontinuity on isolated points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EF811F8B-B5F2-9337-C52A-E88F6EFD5B2F}"/>
                  </a:ext>
                </a:extLst>
              </p:cNvPr>
              <p:cNvSpPr txBox="1"/>
              <p:nvPr/>
            </p:nvSpPr>
            <p:spPr>
              <a:xfrm>
                <a:off x="9135331" y="223498"/>
                <a:ext cx="300473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Experimental verifiability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topology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-algebras</a:t>
                </a:r>
                <a:b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</a:b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(foundation of geometry, probability, …)</a:t>
                </a:r>
              </a:p>
            </p:txBody>
          </p:sp>
        </mc:Choice>
        <mc:Fallback xmlns=""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BA8F6EC1-439B-7EA6-CD6F-D527A697C9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5331" y="223498"/>
                <a:ext cx="3004739" cy="1200329"/>
              </a:xfrm>
              <a:prstGeom prst="rect">
                <a:avLst/>
              </a:prstGeom>
              <a:blipFill>
                <a:blip r:embed="rId19"/>
                <a:stretch>
                  <a:fillRect t="-3046" r="-3252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3" name="TextBox 242">
            <a:extLst>
              <a:ext uri="{FF2B5EF4-FFF2-40B4-BE49-F238E27FC236}">
                <a16:creationId xmlns:a16="http://schemas.microsoft.com/office/drawing/2014/main" id="{518FFF59-4373-88CE-FE0C-79028415F50F}"/>
              </a:ext>
            </a:extLst>
          </p:cNvPr>
          <p:cNvSpPr txBox="1"/>
          <p:nvPr/>
        </p:nvSpPr>
        <p:spPr>
          <a:xfrm>
            <a:off x="9883520" y="1428386"/>
            <a:ext cx="22307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Perfect map between math and physics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79B79A0-F3E3-065E-EA50-9B0151F2FF87}"/>
                  </a:ext>
                </a:extLst>
              </p:cNvPr>
              <p:cNvSpPr txBox="1"/>
              <p:nvPr/>
            </p:nvSpPr>
            <p:spPr>
              <a:xfrm>
                <a:off x="9518998" y="2688356"/>
                <a:ext cx="260753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600" dirty="0">
                    <a:solidFill>
                      <a:srgbClr val="C00000"/>
                    </a:solidFill>
                  </a:rPr>
                  <a:t>NB: in physics, topology and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1600" dirty="0">
                    <a:solidFill>
                      <a:srgbClr val="C00000"/>
                    </a:solidFill>
                  </a:rPr>
                  <a:t>-algebra are parts of the </a:t>
                </a:r>
                <a:r>
                  <a:rPr lang="en-US" sz="1600" b="1" dirty="0">
                    <a:solidFill>
                      <a:srgbClr val="C00000"/>
                    </a:solidFill>
                  </a:rPr>
                  <a:t>same</a:t>
                </a:r>
                <a:r>
                  <a:rPr lang="en-US" sz="1600" dirty="0">
                    <a:solidFill>
                      <a:srgbClr val="C00000"/>
                    </a:solidFill>
                  </a:rPr>
                  <a:t> logic structure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605DA4D-1AB9-85FB-F3F0-D8D440EB77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8998" y="2688356"/>
                <a:ext cx="2607533" cy="830997"/>
              </a:xfrm>
              <a:prstGeom prst="rect">
                <a:avLst/>
              </a:prstGeom>
              <a:blipFill>
                <a:blip r:embed="rId20"/>
                <a:stretch>
                  <a:fillRect t="-2206" r="-3513" b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79640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B1486-C92F-7703-5A69-F39A3A909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ACDC149-60EE-3B48-8985-34D4870872EA}"/>
                  </a:ext>
                </a:extLst>
              </p:cNvPr>
              <p:cNvSpPr txBox="1"/>
              <p:nvPr/>
            </p:nvSpPr>
            <p:spPr>
              <a:xfrm>
                <a:off x="1350339" y="1193965"/>
                <a:ext cx="949132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3200" dirty="0">
                    <a:solidFill>
                      <a:schemeClr val="accent6">
                        <a:lumMod val="75000"/>
                      </a:schemeClr>
                    </a:solidFill>
                  </a:rPr>
                  <a:t> Scientific laws are relationships between ensembles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EAD530E-E864-1366-9E84-9F4F648B28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0339" y="1193965"/>
                <a:ext cx="9491322" cy="584775"/>
              </a:xfrm>
              <a:prstGeom prst="rect">
                <a:avLst/>
              </a:prstGeom>
              <a:blipFill>
                <a:blip r:embed="rId2"/>
                <a:stretch>
                  <a:fillRect t="-1250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57D13F1D-A642-BD58-5B54-6D955FA69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632" y="291078"/>
            <a:ext cx="11210736" cy="654833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A76FD2A3-4875-FFDB-4EF7-DCD0F6915384}"/>
              </a:ext>
            </a:extLst>
          </p:cNvPr>
          <p:cNvGrpSpPr/>
          <p:nvPr/>
        </p:nvGrpSpPr>
        <p:grpSpPr>
          <a:xfrm>
            <a:off x="1165530" y="2048972"/>
            <a:ext cx="9352375" cy="2862320"/>
            <a:chOff x="580914" y="2173045"/>
            <a:chExt cx="10837491" cy="33168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0E36022D-0B8A-8493-B3E5-A2DB802CFF16}"/>
                    </a:ext>
                  </a:extLst>
                </p:cNvPr>
                <p:cNvSpPr/>
                <p:nvPr/>
              </p:nvSpPr>
              <p:spPr>
                <a:xfrm>
                  <a:off x="1215616" y="2689412"/>
                  <a:ext cx="1605250" cy="143076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/>
                    <a:t>Preparation</a:t>
                  </a:r>
                  <a:br>
                    <a:rPr lang="en-US" sz="1600" dirty="0"/>
                  </a:b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0E36022D-0B8A-8493-B3E5-A2DB802CFF1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5616" y="2689412"/>
                  <a:ext cx="1605250" cy="143076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F377E388-AFAE-2304-117D-7FFD95091C67}"/>
                    </a:ext>
                  </a:extLst>
                </p:cNvPr>
                <p:cNvSpPr/>
                <p:nvPr/>
              </p:nvSpPr>
              <p:spPr>
                <a:xfrm>
                  <a:off x="4105836" y="2689412"/>
                  <a:ext cx="1605250" cy="143076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/>
                    <a:t>Process</a:t>
                  </a:r>
                  <a:br>
                    <a:rPr lang="en-US" sz="1600" dirty="0"/>
                  </a:b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F377E388-AFAE-2304-117D-7FFD95091C6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05836" y="2689412"/>
                  <a:ext cx="1605250" cy="143076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D738AD7D-AD09-1338-5360-406821C3FFF3}"/>
                    </a:ext>
                  </a:extLst>
                </p:cNvPr>
                <p:cNvSpPr/>
                <p:nvPr/>
              </p:nvSpPr>
              <p:spPr>
                <a:xfrm>
                  <a:off x="6996057" y="2689412"/>
                  <a:ext cx="1605250" cy="143076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/>
                    <a:t>Measurement</a:t>
                  </a:r>
                  <a:br>
                    <a:rPr lang="en-US" sz="1600" dirty="0"/>
                  </a:b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D738AD7D-AD09-1338-5360-406821C3FFF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6057" y="2689412"/>
                  <a:ext cx="1605250" cy="143076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F59F842-04A5-7C07-9753-3CA568BD345B}"/>
                </a:ext>
              </a:extLst>
            </p:cNvPr>
            <p:cNvCxnSpPr>
              <a:stCxn id="9" idx="3"/>
              <a:endCxn id="11" idx="1"/>
            </p:cNvCxnSpPr>
            <p:nvPr/>
          </p:nvCxnSpPr>
          <p:spPr>
            <a:xfrm>
              <a:off x="2820866" y="3404796"/>
              <a:ext cx="1284970" cy="0"/>
            </a:xfrm>
            <a:prstGeom prst="straightConnector1">
              <a:avLst/>
            </a:prstGeom>
            <a:ln w="28575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EBE0E20-8505-5EDB-F8DB-5496B2F08F14}"/>
                </a:ext>
              </a:extLst>
            </p:cNvPr>
            <p:cNvCxnSpPr>
              <a:cxnSpLocks/>
            </p:cNvCxnSpPr>
            <p:nvPr/>
          </p:nvCxnSpPr>
          <p:spPr>
            <a:xfrm>
              <a:off x="5711086" y="3404796"/>
              <a:ext cx="1284971" cy="0"/>
            </a:xfrm>
            <a:prstGeom prst="straightConnector1">
              <a:avLst/>
            </a:prstGeom>
            <a:ln w="28575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03076A7-CD76-8C41-C0A8-0602F2AB10C1}"/>
                    </a:ext>
                  </a:extLst>
                </p:cNvPr>
                <p:cNvSpPr txBox="1"/>
                <p:nvPr/>
              </p:nvSpPr>
              <p:spPr>
                <a:xfrm>
                  <a:off x="3463351" y="2958353"/>
                  <a:ext cx="505180" cy="39231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03076A7-CD76-8C41-C0A8-0602F2AB10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63351" y="2958353"/>
                  <a:ext cx="505180" cy="39231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55F9EEF-B983-ADDA-0DE7-13646CC89F14}"/>
                    </a:ext>
                  </a:extLst>
                </p:cNvPr>
                <p:cNvSpPr txBox="1"/>
                <p:nvPr/>
              </p:nvSpPr>
              <p:spPr>
                <a:xfrm>
                  <a:off x="6353571" y="2958353"/>
                  <a:ext cx="520337" cy="39231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55F9EEF-B983-ADDA-0DE7-13646CC89F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3571" y="2958353"/>
                  <a:ext cx="520337" cy="39231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222B4C3-D28C-5D45-DEBE-98E53E8A8515}"/>
                    </a:ext>
                  </a:extLst>
                </p:cNvPr>
                <p:cNvSpPr txBox="1"/>
                <p:nvPr/>
              </p:nvSpPr>
              <p:spPr>
                <a:xfrm>
                  <a:off x="9243791" y="2958353"/>
                  <a:ext cx="546195" cy="39231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222B4C3-D28C-5D45-DEBE-98E53E8A85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43791" y="2958353"/>
                  <a:ext cx="546195" cy="39231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8B1ADA54-4847-1DD1-6C10-519FA7E3E836}"/>
                </a:ext>
              </a:extLst>
            </p:cNvPr>
            <p:cNvCxnSpPr>
              <a:cxnSpLocks/>
            </p:cNvCxnSpPr>
            <p:nvPr/>
          </p:nvCxnSpPr>
          <p:spPr>
            <a:xfrm>
              <a:off x="8601307" y="3404796"/>
              <a:ext cx="1284971" cy="0"/>
            </a:xfrm>
            <a:prstGeom prst="straightConnector1">
              <a:avLst/>
            </a:prstGeom>
            <a:ln w="28575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0FBFC99-DAEB-896A-F410-CCCD2F0436F4}"/>
                </a:ext>
              </a:extLst>
            </p:cNvPr>
            <p:cNvSpPr/>
            <p:nvPr/>
          </p:nvSpPr>
          <p:spPr>
            <a:xfrm>
              <a:off x="931697" y="2495774"/>
              <a:ext cx="2531654" cy="1839558"/>
            </a:xfrm>
            <a:prstGeom prst="rect">
              <a:avLst/>
            </a:prstGeom>
            <a:noFill/>
            <a:ln w="3810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047E555-8879-3937-C832-9B2631F0332C}"/>
                </a:ext>
              </a:extLst>
            </p:cNvPr>
            <p:cNvSpPr/>
            <p:nvPr/>
          </p:nvSpPr>
          <p:spPr>
            <a:xfrm>
              <a:off x="763794" y="2345167"/>
              <a:ext cx="5589777" cy="2142565"/>
            </a:xfrm>
            <a:prstGeom prst="rect">
              <a:avLst/>
            </a:prstGeom>
            <a:noFill/>
            <a:ln w="3810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485301B-2350-67A3-485A-A771C2C0864F}"/>
                </a:ext>
              </a:extLst>
            </p:cNvPr>
            <p:cNvSpPr/>
            <p:nvPr/>
          </p:nvSpPr>
          <p:spPr>
            <a:xfrm>
              <a:off x="580914" y="2173045"/>
              <a:ext cx="8662877" cy="2467087"/>
            </a:xfrm>
            <a:prstGeom prst="rect">
              <a:avLst/>
            </a:prstGeom>
            <a:noFill/>
            <a:ln w="3810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9B16C03-D33A-82EC-44C7-581660249B28}"/>
                </a:ext>
              </a:extLst>
            </p:cNvPr>
            <p:cNvSpPr txBox="1"/>
            <p:nvPr/>
          </p:nvSpPr>
          <p:spPr>
            <a:xfrm>
              <a:off x="2883511" y="4812254"/>
              <a:ext cx="1155770" cy="6776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Initial</a:t>
              </a:r>
              <a:br>
                <a:rPr lang="en-US" sz="1600" dirty="0"/>
              </a:br>
              <a:r>
                <a:rPr lang="en-US" sz="1600" dirty="0"/>
                <a:t>ensemble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6B103CE-EBD6-7702-7B12-AA856AADBF76}"/>
                </a:ext>
              </a:extLst>
            </p:cNvPr>
            <p:cNvSpPr txBox="1"/>
            <p:nvPr/>
          </p:nvSpPr>
          <p:spPr>
            <a:xfrm>
              <a:off x="5777640" y="4792532"/>
              <a:ext cx="1155770" cy="6776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Final</a:t>
              </a:r>
              <a:br>
                <a:rPr lang="en-US" sz="1600" dirty="0"/>
              </a:br>
              <a:r>
                <a:rPr lang="en-US" sz="1600" dirty="0"/>
                <a:t>ensemble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F3717BC-3A8D-634B-0D16-FF0F395238A6}"/>
                </a:ext>
              </a:extLst>
            </p:cNvPr>
            <p:cNvSpPr txBox="1"/>
            <p:nvPr/>
          </p:nvSpPr>
          <p:spPr>
            <a:xfrm>
              <a:off x="10283588" y="3092387"/>
              <a:ext cx="1134817" cy="6776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Statistical</a:t>
              </a:r>
              <a:br>
                <a:rPr lang="en-US" sz="1600" dirty="0"/>
              </a:br>
              <a:r>
                <a:rPr lang="en-US" sz="1600" dirty="0"/>
                <a:t>data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01A9E4F-60A1-A787-937F-C87A241AE55C}"/>
              </a:ext>
            </a:extLst>
          </p:cNvPr>
          <p:cNvGrpSpPr/>
          <p:nvPr/>
        </p:nvGrpSpPr>
        <p:grpSpPr>
          <a:xfrm>
            <a:off x="1657638" y="5222065"/>
            <a:ext cx="6313622" cy="1429978"/>
            <a:chOff x="835433" y="4010249"/>
            <a:chExt cx="6313622" cy="1429978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6C3CAF9-CCD9-5773-60EC-100738BE207D}"/>
                </a:ext>
              </a:extLst>
            </p:cNvPr>
            <p:cNvSpPr/>
            <p:nvPr/>
          </p:nvSpPr>
          <p:spPr>
            <a:xfrm>
              <a:off x="835433" y="4010249"/>
              <a:ext cx="1350577" cy="1021977"/>
            </a:xfrm>
            <a:custGeom>
              <a:avLst/>
              <a:gdLst>
                <a:gd name="connsiteX0" fmla="*/ 0 w 1269594"/>
                <a:gd name="connsiteY0" fmla="*/ 0 h 1021977"/>
                <a:gd name="connsiteX1" fmla="*/ 1183341 w 1269594"/>
                <a:gd name="connsiteY1" fmla="*/ 0 h 1021977"/>
                <a:gd name="connsiteX2" fmla="*/ 1183341 w 1269594"/>
                <a:gd name="connsiteY2" fmla="*/ 222350 h 1021977"/>
                <a:gd name="connsiteX3" fmla="*/ 1269594 w 1269594"/>
                <a:gd name="connsiteY3" fmla="*/ 172994 h 1021977"/>
                <a:gd name="connsiteX4" fmla="*/ 1269594 w 1269594"/>
                <a:gd name="connsiteY4" fmla="*/ 827044 h 1021977"/>
                <a:gd name="connsiteX5" fmla="*/ 1183341 w 1269594"/>
                <a:gd name="connsiteY5" fmla="*/ 777688 h 1021977"/>
                <a:gd name="connsiteX6" fmla="*/ 1183341 w 1269594"/>
                <a:gd name="connsiteY6" fmla="*/ 1021977 h 1021977"/>
                <a:gd name="connsiteX7" fmla="*/ 0 w 1269594"/>
                <a:gd name="connsiteY7" fmla="*/ 1021977 h 1021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69594" h="1021977">
                  <a:moveTo>
                    <a:pt x="0" y="0"/>
                  </a:moveTo>
                  <a:lnTo>
                    <a:pt x="1183341" y="0"/>
                  </a:lnTo>
                  <a:lnTo>
                    <a:pt x="1183341" y="222350"/>
                  </a:lnTo>
                  <a:lnTo>
                    <a:pt x="1269594" y="172994"/>
                  </a:lnTo>
                  <a:lnTo>
                    <a:pt x="1269594" y="827044"/>
                  </a:lnTo>
                  <a:lnTo>
                    <a:pt x="1183341" y="777688"/>
                  </a:lnTo>
                  <a:lnTo>
                    <a:pt x="1183341" y="1021977"/>
                  </a:lnTo>
                  <a:lnTo>
                    <a:pt x="0" y="1021977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dirty="0"/>
                <a:t>Preparation</a:t>
              </a:r>
              <a:br>
                <a:rPr lang="en-US" dirty="0"/>
              </a:br>
              <a:r>
                <a:rPr lang="en-US" dirty="0"/>
                <a:t>procedure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EE5C8F44-DC13-C161-2286-323CAF5ADE03}"/>
                </a:ext>
              </a:extLst>
            </p:cNvPr>
            <p:cNvSpPr/>
            <p:nvPr/>
          </p:nvSpPr>
          <p:spPr>
            <a:xfrm>
              <a:off x="3759935" y="4390209"/>
              <a:ext cx="104586" cy="1045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4D6E524F-F60B-BDFE-B924-2585AD159D31}"/>
                </a:ext>
              </a:extLst>
            </p:cNvPr>
            <p:cNvSpPr/>
            <p:nvPr/>
          </p:nvSpPr>
          <p:spPr>
            <a:xfrm>
              <a:off x="2958223" y="4638740"/>
              <a:ext cx="104586" cy="1045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E285DC77-7B3B-DB83-A7A6-5E8AD183CDAF}"/>
                </a:ext>
              </a:extLst>
            </p:cNvPr>
            <p:cNvSpPr/>
            <p:nvPr/>
          </p:nvSpPr>
          <p:spPr>
            <a:xfrm>
              <a:off x="5234312" y="4612930"/>
              <a:ext cx="104586" cy="1045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C52896A6-6197-B9F8-7530-5D8C5A1E544F}"/>
                </a:ext>
              </a:extLst>
            </p:cNvPr>
            <p:cNvSpPr/>
            <p:nvPr/>
          </p:nvSpPr>
          <p:spPr>
            <a:xfrm>
              <a:off x="4381108" y="4227511"/>
              <a:ext cx="104586" cy="1045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254C4DC0-2AF1-D9EF-74B8-74570737710A}"/>
                </a:ext>
              </a:extLst>
            </p:cNvPr>
            <p:cNvSpPr/>
            <p:nvPr/>
          </p:nvSpPr>
          <p:spPr>
            <a:xfrm>
              <a:off x="6282340" y="4638740"/>
              <a:ext cx="104586" cy="1045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AC471F9-0F91-4B31-BCE9-84B83B0FFD0D}"/>
                </a:ext>
              </a:extLst>
            </p:cNvPr>
            <p:cNvSpPr txBox="1"/>
            <p:nvPr/>
          </p:nvSpPr>
          <p:spPr>
            <a:xfrm>
              <a:off x="3379696" y="4978562"/>
              <a:ext cx="27703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Ensemble of outputs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98A57E91-E266-D2A2-D7CD-18A1ABBD124F}"/>
                    </a:ext>
                  </a:extLst>
                </p:cNvPr>
                <p:cNvSpPr txBox="1"/>
                <p:nvPr/>
              </p:nvSpPr>
              <p:spPr>
                <a:xfrm>
                  <a:off x="6616730" y="4183243"/>
                  <a:ext cx="53232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98A57E91-E266-D2A2-D7CD-18A1ABBD12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16730" y="4183243"/>
                  <a:ext cx="532325" cy="46166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Star: 5 Points 41">
              <a:extLst>
                <a:ext uri="{FF2B5EF4-FFF2-40B4-BE49-F238E27FC236}">
                  <a16:creationId xmlns:a16="http://schemas.microsoft.com/office/drawing/2014/main" id="{7ECEBA48-FA04-EC3E-A7EB-21022C2958D9}"/>
                </a:ext>
              </a:extLst>
            </p:cNvPr>
            <p:cNvSpPr/>
            <p:nvPr/>
          </p:nvSpPr>
          <p:spPr>
            <a:xfrm>
              <a:off x="5645484" y="4265178"/>
              <a:ext cx="156879" cy="156879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Star: 5 Points 42">
              <a:extLst>
                <a:ext uri="{FF2B5EF4-FFF2-40B4-BE49-F238E27FC236}">
                  <a16:creationId xmlns:a16="http://schemas.microsoft.com/office/drawing/2014/main" id="{DD21C136-1638-641B-34E9-C475AFBF87F2}"/>
                </a:ext>
              </a:extLst>
            </p:cNvPr>
            <p:cNvSpPr/>
            <p:nvPr/>
          </p:nvSpPr>
          <p:spPr>
            <a:xfrm>
              <a:off x="4133991" y="4549426"/>
              <a:ext cx="156879" cy="156879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200B6D8C-38EA-C358-2B2D-15C9AA3E25E7}"/>
                </a:ext>
              </a:extLst>
            </p:cNvPr>
            <p:cNvSpPr/>
            <p:nvPr/>
          </p:nvSpPr>
          <p:spPr>
            <a:xfrm>
              <a:off x="2563371" y="4285623"/>
              <a:ext cx="104586" cy="1045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AAB0201C-C04F-8203-B265-6AFE3C4B2D15}"/>
                </a:ext>
              </a:extLst>
            </p:cNvPr>
            <p:cNvSpPr/>
            <p:nvPr/>
          </p:nvSpPr>
          <p:spPr>
            <a:xfrm>
              <a:off x="4848779" y="4369764"/>
              <a:ext cx="104586" cy="1045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3701404A-9B1F-A41E-D5D0-54742FD88AC5}"/>
                </a:ext>
              </a:extLst>
            </p:cNvPr>
            <p:cNvSpPr/>
            <p:nvPr/>
          </p:nvSpPr>
          <p:spPr>
            <a:xfrm>
              <a:off x="6433674" y="4233330"/>
              <a:ext cx="104586" cy="1045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0D12E5B5-41B1-286F-C260-D7DBBFD781EC}"/>
                </a:ext>
              </a:extLst>
            </p:cNvPr>
            <p:cNvSpPr/>
            <p:nvPr/>
          </p:nvSpPr>
          <p:spPr>
            <a:xfrm>
              <a:off x="3227680" y="4227511"/>
              <a:ext cx="104586" cy="1045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59795AE1-A5E1-1BD8-1DC7-414F56456616}"/>
                </a:ext>
              </a:extLst>
            </p:cNvPr>
            <p:cNvSpPr/>
            <p:nvPr/>
          </p:nvSpPr>
          <p:spPr>
            <a:xfrm>
              <a:off x="5645484" y="4763433"/>
              <a:ext cx="104586" cy="1045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857669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FBA071-E44A-A8CC-0D52-0BA038215504}"/>
              </a:ext>
            </a:extLst>
          </p:cNvPr>
          <p:cNvSpPr txBox="1"/>
          <p:nvPr/>
        </p:nvSpPr>
        <p:spPr>
          <a:xfrm>
            <a:off x="2223345" y="113063"/>
            <a:ext cx="77453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Minimal requirements for an ensemble space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872645-6D2B-3CDA-29A8-0D07E87825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9359"/>
          <a:stretch>
            <a:fillRect/>
          </a:stretch>
        </p:blipFill>
        <p:spPr>
          <a:xfrm>
            <a:off x="161364" y="787878"/>
            <a:ext cx="11869271" cy="108904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F2EA73A-2EF5-6BA8-B34C-87A8E49B5C3F}"/>
              </a:ext>
            </a:extLst>
          </p:cNvPr>
          <p:cNvSpPr/>
          <p:nvPr/>
        </p:nvSpPr>
        <p:spPr>
          <a:xfrm>
            <a:off x="0" y="1161047"/>
            <a:ext cx="12192000" cy="71588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CB81298-0289-988C-0A37-412D9EA67E84}"/>
                  </a:ext>
                </a:extLst>
              </p:cNvPr>
              <p:cNvSpPr txBox="1"/>
              <p:nvPr/>
            </p:nvSpPr>
            <p:spPr>
              <a:xfrm>
                <a:off x="562744" y="1920249"/>
                <a:ext cx="559813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6">
                        <a:lumMod val="75000"/>
                      </a:schemeClr>
                    </a:solidFill>
                  </a:rPr>
                  <a:t>Experimental verifiability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800" dirty="0">
                    <a:solidFill>
                      <a:schemeClr val="accent6">
                        <a:lumMod val="75000"/>
                      </a:schemeClr>
                    </a:solidFill>
                  </a:rPr>
                  <a:t> Topology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CB81298-0289-988C-0A37-412D9EA67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744" y="1920249"/>
                <a:ext cx="5598136" cy="523220"/>
              </a:xfrm>
              <a:prstGeom prst="rect">
                <a:avLst/>
              </a:prstGeom>
              <a:blipFill>
                <a:blip r:embed="rId3"/>
                <a:stretch>
                  <a:fillRect l="-2176" t="-10465" r="-1197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3322D99-C010-1C23-3753-B12B179895D3}"/>
              </a:ext>
            </a:extLst>
          </p:cNvPr>
          <p:cNvSpPr txBox="1"/>
          <p:nvPr/>
        </p:nvSpPr>
        <p:spPr>
          <a:xfrm>
            <a:off x="7749039" y="1997193"/>
            <a:ext cx="3985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Responsible for all topological structures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49A4CD-926A-ACBD-993E-1A120836A5A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88161"/>
          <a:stretch>
            <a:fillRect/>
          </a:stretch>
        </p:blipFill>
        <p:spPr>
          <a:xfrm>
            <a:off x="141342" y="2604572"/>
            <a:ext cx="12011592" cy="4462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F42E0C4-4B1B-5156-CB71-5256BDC36669}"/>
                  </a:ext>
                </a:extLst>
              </p:cNvPr>
              <p:cNvSpPr txBox="1"/>
              <p:nvPr/>
            </p:nvSpPr>
            <p:spPr>
              <a:xfrm>
                <a:off x="562744" y="3136495"/>
                <a:ext cx="668554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6">
                        <a:lumMod val="75000"/>
                      </a:schemeClr>
                    </a:solidFill>
                  </a:rPr>
                  <a:t>Ensembles can be mixed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800" dirty="0">
                    <a:solidFill>
                      <a:schemeClr val="accent6">
                        <a:lumMod val="75000"/>
                      </a:schemeClr>
                    </a:solidFill>
                  </a:rPr>
                  <a:t> Convex structure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F42E0C4-4B1B-5156-CB71-5256BDC366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744" y="3136495"/>
                <a:ext cx="6685548" cy="523220"/>
              </a:xfrm>
              <a:prstGeom prst="rect">
                <a:avLst/>
              </a:prstGeom>
              <a:blipFill>
                <a:blip r:embed="rId5"/>
                <a:stretch>
                  <a:fillRect l="-1823" t="-11765" r="-638" b="-3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045E4411-EF50-E431-02A4-9AE7A342BA92}"/>
              </a:ext>
            </a:extLst>
          </p:cNvPr>
          <p:cNvSpPr txBox="1"/>
          <p:nvPr/>
        </p:nvSpPr>
        <p:spPr>
          <a:xfrm>
            <a:off x="7749038" y="3244334"/>
            <a:ext cx="348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Responsible for all linear structures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95E0C2D-376C-4ACE-7CF8-FF12F46B133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84917"/>
          <a:stretch>
            <a:fillRect/>
          </a:stretch>
        </p:blipFill>
        <p:spPr>
          <a:xfrm>
            <a:off x="208082" y="3853202"/>
            <a:ext cx="9207825" cy="5853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9127C09-021C-F0FB-037A-10156701189F}"/>
                  </a:ext>
                </a:extLst>
              </p:cNvPr>
              <p:cNvSpPr txBox="1"/>
              <p:nvPr/>
            </p:nvSpPr>
            <p:spPr>
              <a:xfrm>
                <a:off x="562744" y="4531477"/>
                <a:ext cx="471789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schemeClr val="accent6">
                        <a:lumMod val="75000"/>
                      </a:schemeClr>
                    </a:solidFill>
                  </a:rPr>
                  <a:t>Ensemble variability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⇒ </m:t>
                    </m:r>
                  </m:oMath>
                </a14:m>
                <a:r>
                  <a:rPr lang="en-US" sz="2800" dirty="0">
                    <a:solidFill>
                      <a:schemeClr val="accent6">
                        <a:lumMod val="75000"/>
                      </a:schemeClr>
                    </a:solidFill>
                  </a:rPr>
                  <a:t>Entropy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9127C09-021C-F0FB-037A-1015670118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744" y="4531477"/>
                <a:ext cx="4717894" cy="523220"/>
              </a:xfrm>
              <a:prstGeom prst="rect">
                <a:avLst/>
              </a:prstGeom>
              <a:blipFill>
                <a:blip r:embed="rId7"/>
                <a:stretch>
                  <a:fillRect l="-1938" t="-10465" r="-1938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2C93E148-E70C-6CA9-985D-B836FAAA3BD6}"/>
              </a:ext>
            </a:extLst>
          </p:cNvPr>
          <p:cNvSpPr txBox="1"/>
          <p:nvPr/>
        </p:nvSpPr>
        <p:spPr>
          <a:xfrm>
            <a:off x="5420739" y="4665371"/>
            <a:ext cx="3900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Responsible for all geometric structures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0EF67D-7CDA-05B5-7A50-4FD477DB1934}"/>
              </a:ext>
            </a:extLst>
          </p:cNvPr>
          <p:cNvSpPr txBox="1"/>
          <p:nvPr/>
        </p:nvSpPr>
        <p:spPr>
          <a:xfrm>
            <a:off x="764956" y="5696953"/>
            <a:ext cx="80940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Still trying to find the right starting point for Poisson/commutator structure</a:t>
            </a:r>
          </a:p>
        </p:txBody>
      </p:sp>
    </p:spTree>
    <p:extLst>
      <p:ext uri="{BB962C8B-B14F-4D97-AF65-F5344CB8AC3E}">
        <p14:creationId xmlns:p14="http://schemas.microsoft.com/office/powerpoint/2010/main" val="1027806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97DCDC-655C-EF98-BDA9-8781A56F400F}"/>
              </a:ext>
            </a:extLst>
          </p:cNvPr>
          <p:cNvSpPr txBox="1"/>
          <p:nvPr/>
        </p:nvSpPr>
        <p:spPr>
          <a:xfrm>
            <a:off x="3064063" y="113063"/>
            <a:ext cx="60639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Some general results/constructions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6E454BB-DC7A-0E4E-A4AB-BB6D97A062A2}"/>
              </a:ext>
            </a:extLst>
          </p:cNvPr>
          <p:cNvGrpSpPr/>
          <p:nvPr/>
        </p:nvGrpSpPr>
        <p:grpSpPr>
          <a:xfrm>
            <a:off x="266005" y="913822"/>
            <a:ext cx="6188192" cy="779207"/>
            <a:chOff x="332748" y="184638"/>
            <a:chExt cx="11526504" cy="145139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380FFAC-F22C-4350-657A-A5DDA4716D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78377"/>
            <a:stretch/>
          </p:blipFill>
          <p:spPr>
            <a:xfrm>
              <a:off x="332748" y="184638"/>
              <a:ext cx="11526504" cy="1327639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88B111E-CF23-56A2-E639-668A1DBC42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94840"/>
            <a:stretch/>
          </p:blipFill>
          <p:spPr>
            <a:xfrm>
              <a:off x="332748" y="1319211"/>
              <a:ext cx="11526504" cy="316825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75763F1-0761-5DCD-C798-C31892E93310}"/>
                  </a:ext>
                </a:extLst>
              </p:cNvPr>
              <p:cNvSpPr txBox="1"/>
              <p:nvPr/>
            </p:nvSpPr>
            <p:spPr>
              <a:xfrm>
                <a:off x="6765111" y="900096"/>
                <a:ext cx="525534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The maximal entropy increase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̅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is uniquely</a:t>
                </a:r>
                <a:br>
                  <a:rPr lang="en-US" sz="2000" dirty="0"/>
                </a:br>
                <a:r>
                  <a:rPr lang="en-US" sz="2000" dirty="0"/>
                  <a:t>determined, independently of physical theory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75763F1-0761-5DCD-C798-C31892E933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111" y="900096"/>
                <a:ext cx="5255349" cy="707886"/>
              </a:xfrm>
              <a:prstGeom prst="rect">
                <a:avLst/>
              </a:prstGeom>
              <a:blipFill>
                <a:blip r:embed="rId3"/>
                <a:stretch>
                  <a:fillRect l="-1276" t="-5172" r="-464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F2FF4A2B-33A8-869F-ACC1-005896FF10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4193" y="1944940"/>
            <a:ext cx="6246450" cy="5815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C0B8EE1-CED7-B325-3FEC-94579EC8DAED}"/>
              </a:ext>
            </a:extLst>
          </p:cNvPr>
          <p:cNvSpPr txBox="1"/>
          <p:nvPr/>
        </p:nvSpPr>
        <p:spPr>
          <a:xfrm>
            <a:off x="266005" y="1881757"/>
            <a:ext cx="54644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Ensembles embed into a vector space</a:t>
            </a:r>
            <a:br>
              <a:rPr lang="en-US" sz="2000" dirty="0"/>
            </a:br>
            <a:r>
              <a:rPr lang="en-US" sz="2000" dirty="0"/>
              <a:t>(if continuously, we have a foundation for calculus)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A1D1960-2C37-13D7-B6AE-92F617823E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268" y="2710607"/>
            <a:ext cx="5402926" cy="83499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B3F0514-DFE7-87A0-14DB-48DD8816CCDA}"/>
              </a:ext>
            </a:extLst>
          </p:cNvPr>
          <p:cNvSpPr txBox="1"/>
          <p:nvPr/>
        </p:nvSpPr>
        <p:spPr>
          <a:xfrm>
            <a:off x="6710469" y="2721114"/>
            <a:ext cx="50375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Entropy increase during mixing generalizes</a:t>
            </a:r>
            <a:br>
              <a:rPr lang="en-US" sz="2000" dirty="0"/>
            </a:br>
            <a:r>
              <a:rPr lang="en-US" sz="2000" dirty="0"/>
              <a:t>Jensen-Shannon Divergence (pseudo-distance)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E027789-B275-D7D1-C288-B0A427E851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4125" y="3686761"/>
            <a:ext cx="4210638" cy="87642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3D7D370-CBA6-11DE-C095-F24DCC5F2048}"/>
              </a:ext>
            </a:extLst>
          </p:cNvPr>
          <p:cNvSpPr txBox="1"/>
          <p:nvPr/>
        </p:nvSpPr>
        <p:spPr>
          <a:xfrm>
            <a:off x="331268" y="3771029"/>
            <a:ext cx="49278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Hessian of the entropy generalizes Fisher-Rao</a:t>
            </a:r>
            <a:br>
              <a:rPr lang="en-US" sz="2000" dirty="0"/>
            </a:br>
            <a:r>
              <a:rPr lang="en-US" sz="2000" dirty="0"/>
              <a:t>metric from information geometry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BB8B756-2096-E597-529C-A49B160052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6004" y="4704340"/>
            <a:ext cx="6619285" cy="63072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F9EFBF9-A777-D09F-0B2F-CBD9E2F0653E}"/>
              </a:ext>
            </a:extLst>
          </p:cNvPr>
          <p:cNvSpPr txBox="1"/>
          <p:nvPr/>
        </p:nvSpPr>
        <p:spPr>
          <a:xfrm>
            <a:off x="7078822" y="4554366"/>
            <a:ext cx="32612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Non-additive </a:t>
            </a:r>
            <a:br>
              <a:rPr lang="en-US" sz="2000" dirty="0"/>
            </a:br>
            <a:r>
              <a:rPr lang="en-US" sz="2000" dirty="0"/>
              <a:t>generalization</a:t>
            </a:r>
            <a:br>
              <a:rPr lang="en-US" sz="2000" dirty="0"/>
            </a:br>
            <a:r>
              <a:rPr lang="en-US" sz="2000" dirty="0"/>
              <a:t>of probability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E584F7F-620F-975A-FC86-4337B19F7F6C}"/>
                  </a:ext>
                </a:extLst>
              </p:cNvPr>
              <p:cNvSpPr txBox="1"/>
              <p:nvPr/>
            </p:nvSpPr>
            <p:spPr>
              <a:xfrm>
                <a:off x="331268" y="5600954"/>
                <a:ext cx="213167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Generalization of</a:t>
                </a:r>
                <a:br>
                  <a:rPr lang="en-US" sz="2000" dirty="0"/>
                </a:b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)=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E584F7F-620F-975A-FC86-4337B19F7F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268" y="5600954"/>
                <a:ext cx="2131674" cy="707886"/>
              </a:xfrm>
              <a:prstGeom prst="rect">
                <a:avLst/>
              </a:prstGeom>
              <a:blipFill>
                <a:blip r:embed="rId8"/>
                <a:stretch>
                  <a:fillRect l="-2857" t="-5172" r="-286" b="-7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81F3311B-C313-B606-91E2-0162E4A3A37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17636" y="5803369"/>
            <a:ext cx="6415542" cy="437569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0F8D7CCF-B873-25D7-8F22-052F8B075BCF}"/>
              </a:ext>
            </a:extLst>
          </p:cNvPr>
          <p:cNvSpPr/>
          <p:nvPr/>
        </p:nvSpPr>
        <p:spPr>
          <a:xfrm>
            <a:off x="9504763" y="3771029"/>
            <a:ext cx="2687237" cy="30869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FB8915F-D8FA-FFED-0AFC-0F533F3150AA}"/>
              </a:ext>
            </a:extLst>
          </p:cNvPr>
          <p:cNvGrpSpPr/>
          <p:nvPr/>
        </p:nvGrpSpPr>
        <p:grpSpPr>
          <a:xfrm>
            <a:off x="9106248" y="4426187"/>
            <a:ext cx="1478175" cy="2287683"/>
            <a:chOff x="8482198" y="1098309"/>
            <a:chExt cx="965902" cy="1524241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9BCB5E9-E4D4-0D43-2021-809B69BC27C0}"/>
                </a:ext>
              </a:extLst>
            </p:cNvPr>
            <p:cNvSpPr/>
            <p:nvPr/>
          </p:nvSpPr>
          <p:spPr>
            <a:xfrm>
              <a:off x="8482198" y="1098309"/>
              <a:ext cx="939556" cy="15242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A457821-3CBD-6D7A-9AB3-C7B533F00077}"/>
                </a:ext>
              </a:extLst>
            </p:cNvPr>
            <p:cNvGrpSpPr/>
            <p:nvPr/>
          </p:nvGrpSpPr>
          <p:grpSpPr>
            <a:xfrm>
              <a:off x="8508544" y="1098309"/>
              <a:ext cx="939556" cy="1474361"/>
              <a:chOff x="11515366" y="5256226"/>
              <a:chExt cx="3037505" cy="4652874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378C9C79-EC1E-B345-BDED-C4EE2BF4EF2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6919"/>
              <a:stretch/>
            </p:blipFill>
            <p:spPr>
              <a:xfrm>
                <a:off x="11515366" y="8147942"/>
                <a:ext cx="3037505" cy="1761158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DACAE15C-E5BB-2F53-4953-BE27A82EF2E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72464"/>
              <a:stretch/>
            </p:blipFill>
            <p:spPr>
              <a:xfrm>
                <a:off x="11778154" y="5256226"/>
                <a:ext cx="2511928" cy="3865347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0507648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C034E-3538-9317-7676-47E2C8409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728AF8-F17A-4BA6-CF3D-EE5047C5B3DB}"/>
              </a:ext>
            </a:extLst>
          </p:cNvPr>
          <p:cNvSpPr txBox="1"/>
          <p:nvPr/>
        </p:nvSpPr>
        <p:spPr>
          <a:xfrm>
            <a:off x="4716569" y="113063"/>
            <a:ext cx="27588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Open problems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B539E80-7E53-B30A-E8F2-8BCBF4748161}"/>
                  </a:ext>
                </a:extLst>
              </p:cNvPr>
              <p:cNvSpPr txBox="1"/>
              <p:nvPr/>
            </p:nvSpPr>
            <p:spPr>
              <a:xfrm>
                <a:off x="1079658" y="1434591"/>
                <a:ext cx="60619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E.g. Is every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b="0" i="0" smtClean="0"/>
                          <m:t>T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second countable TCS metrizable? True for TVS.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B539E80-7E53-B30A-E8F2-8BCBF47481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658" y="1434591"/>
                <a:ext cx="6061916" cy="369332"/>
              </a:xfrm>
              <a:prstGeom prst="rect">
                <a:avLst/>
              </a:prstGeom>
              <a:blipFill>
                <a:blip r:embed="rId2"/>
                <a:stretch>
                  <a:fillRect l="-804" t="-8197" r="-10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E1D959D2-A318-CA71-62E3-5B64F93B6782}"/>
              </a:ext>
            </a:extLst>
          </p:cNvPr>
          <p:cNvSpPr txBox="1"/>
          <p:nvPr/>
        </p:nvSpPr>
        <p:spPr>
          <a:xfrm>
            <a:off x="208362" y="835382"/>
            <a:ext cx="117752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What theorems that hold in topological vector spaces also hold in topological convex spaces?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CD92BA-E7D3-67D7-E4E3-4EACD936B60E}"/>
              </a:ext>
            </a:extLst>
          </p:cNvPr>
          <p:cNvSpPr txBox="1"/>
          <p:nvPr/>
        </p:nvSpPr>
        <p:spPr>
          <a:xfrm>
            <a:off x="208362" y="2537628"/>
            <a:ext cx="6086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Can we prove continuous embedding in a TVS?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2C230C-E9E1-664E-7B8D-4310EC660DE0}"/>
              </a:ext>
            </a:extLst>
          </p:cNvPr>
          <p:cNvSpPr txBox="1"/>
          <p:nvPr/>
        </p:nvSpPr>
        <p:spPr>
          <a:xfrm>
            <a:off x="208362" y="1941467"/>
            <a:ext cx="9206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Can we show the entropy induces a metric, which induces the topology?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29EAC6-E554-A148-27A1-810DEB8D1B93}"/>
              </a:ext>
            </a:extLst>
          </p:cNvPr>
          <p:cNvSpPr txBox="1"/>
          <p:nvPr/>
        </p:nvSpPr>
        <p:spPr>
          <a:xfrm>
            <a:off x="208362" y="3133789"/>
            <a:ext cx="100948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Can we find a non-additive integral/derivative to generalize probability theory?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865DFB1-56E5-B51B-9842-983F060726B9}"/>
              </a:ext>
            </a:extLst>
          </p:cNvPr>
          <p:cNvSpPr txBox="1"/>
          <p:nvPr/>
        </p:nvSpPr>
        <p:spPr>
          <a:xfrm>
            <a:off x="1079658" y="3729950"/>
            <a:ext cx="6759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Standard approaches (e.g. </a:t>
            </a:r>
            <a:r>
              <a:rPr lang="en-US" dirty="0" err="1"/>
              <a:t>Sugeno</a:t>
            </a:r>
            <a:r>
              <a:rPr lang="en-US" dirty="0"/>
              <a:t> and Choquet integrals) do not work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EBE22C-0736-353B-C79B-21366369B631}"/>
              </a:ext>
            </a:extLst>
          </p:cNvPr>
          <p:cNvSpPr txBox="1"/>
          <p:nvPr/>
        </p:nvSpPr>
        <p:spPr>
          <a:xfrm>
            <a:off x="208361" y="4233778"/>
            <a:ext cx="64583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How do we make field theories fit the framework?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7F7DB5A-FCA9-5A48-6B2C-933DE88BE215}"/>
              </a:ext>
            </a:extLst>
          </p:cNvPr>
          <p:cNvSpPr txBox="1"/>
          <p:nvPr/>
        </p:nvSpPr>
        <p:spPr>
          <a:xfrm>
            <a:off x="1079658" y="4829939"/>
            <a:ext cx="68777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E.g. What is the correct function space, on top of which we can define</a:t>
            </a:r>
            <a:br>
              <a:rPr lang="en-US" dirty="0"/>
            </a:br>
            <a:r>
              <a:rPr lang="en-US" dirty="0"/>
              <a:t>(cylinder?) measures, a notion of entropy and a “symplectic” structure?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03CC06-620B-02C3-A6A7-3666BF0E7A51}"/>
              </a:ext>
            </a:extLst>
          </p:cNvPr>
          <p:cNvSpPr txBox="1"/>
          <p:nvPr/>
        </p:nvSpPr>
        <p:spPr>
          <a:xfrm>
            <a:off x="208361" y="5610766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…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F3D80CE-11F1-587A-C23D-B7DAD2B47183}"/>
              </a:ext>
            </a:extLst>
          </p:cNvPr>
          <p:cNvGrpSpPr/>
          <p:nvPr/>
        </p:nvGrpSpPr>
        <p:grpSpPr>
          <a:xfrm>
            <a:off x="8100640" y="3797560"/>
            <a:ext cx="981554" cy="1519092"/>
            <a:chOff x="8482198" y="1098309"/>
            <a:chExt cx="965902" cy="152424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BDBCB41-D1F9-6A9B-680E-41FEB2A2B4FB}"/>
                </a:ext>
              </a:extLst>
            </p:cNvPr>
            <p:cNvSpPr/>
            <p:nvPr/>
          </p:nvSpPr>
          <p:spPr>
            <a:xfrm>
              <a:off x="8482198" y="1098309"/>
              <a:ext cx="939556" cy="15242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2204606-E204-E29C-D288-54FA36176616}"/>
                </a:ext>
              </a:extLst>
            </p:cNvPr>
            <p:cNvGrpSpPr/>
            <p:nvPr/>
          </p:nvGrpSpPr>
          <p:grpSpPr>
            <a:xfrm>
              <a:off x="8508544" y="1098309"/>
              <a:ext cx="939556" cy="1474361"/>
              <a:chOff x="11515366" y="5256226"/>
              <a:chExt cx="3037505" cy="4652874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45ECBF85-08B8-D92A-CD12-6616E9FE9F5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6919"/>
              <a:stretch/>
            </p:blipFill>
            <p:spPr>
              <a:xfrm>
                <a:off x="11515366" y="8147942"/>
                <a:ext cx="3037505" cy="1761158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5070D2C4-A038-525C-0146-B244F52E4B9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72464"/>
              <a:stretch/>
            </p:blipFill>
            <p:spPr>
              <a:xfrm>
                <a:off x="11778154" y="5256226"/>
                <a:ext cx="2511928" cy="3865347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6919444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F8ED4-0D40-E31C-9A6C-654F9C3ED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23445-F45C-4D02-ACB2-C1C0DF6AF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current connection between math and physics is “suboptimal”</a:t>
            </a:r>
          </a:p>
          <a:p>
            <a:pPr lvl="1"/>
            <a:r>
              <a:rPr lang="en-US" dirty="0"/>
              <a:t>Physicists typically ignore all the hard problems; mathematicians cannot know which choices are physically significant and which aren’t</a:t>
            </a:r>
          </a:p>
          <a:p>
            <a:r>
              <a:rPr lang="en-US" dirty="0"/>
              <a:t>A physically meaningful and mathematically precise approach exists</a:t>
            </a:r>
          </a:p>
          <a:p>
            <a:pPr lvl="1"/>
            <a:r>
              <a:rPr lang="en-US" dirty="0"/>
              <a:t>Reverse physics allows us to understand what role each mathematical structure is playing in a physical theory; physical mathematics allows us to design mathematical structures that are physically justified and therefore map perfectly to the physics</a:t>
            </a:r>
          </a:p>
          <a:p>
            <a:r>
              <a:rPr lang="en-US" dirty="0"/>
              <a:t>New mathematics needs to be developed</a:t>
            </a:r>
          </a:p>
          <a:p>
            <a:pPr lvl="1"/>
            <a:r>
              <a:rPr lang="en-US" dirty="0"/>
              <a:t>We have a number of mathematical questions that can be extracted from the framework and studied independently; we are actively looking for interested mathematicians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7526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BAEB3-A027-5258-DCAA-935E58F29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537F1-4667-3CB1-9335-DDA5971AF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learn more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8E7F4-49A2-C12C-5B54-81A2A9A99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Project website</a:t>
            </a:r>
          </a:p>
          <a:p>
            <a:pPr lvl="1"/>
            <a:r>
              <a:rPr lang="en-US" dirty="0">
                <a:hlinkClick r:id="rId2"/>
              </a:rPr>
              <a:t>https://assumptionsofphysics.org</a:t>
            </a:r>
            <a:r>
              <a:rPr lang="en-US" dirty="0"/>
              <a:t> for papers, presentations, …</a:t>
            </a:r>
          </a:p>
          <a:p>
            <a:pPr lvl="1"/>
            <a:r>
              <a:rPr lang="en-US" dirty="0">
                <a:hlinkClick r:id="rId3"/>
              </a:rPr>
              <a:t>https://assumptionsofphysics.org/book</a:t>
            </a:r>
            <a:r>
              <a:rPr lang="en-US" dirty="0"/>
              <a:t> for our open access book</a:t>
            </a:r>
            <a:br>
              <a:rPr lang="en-US" dirty="0"/>
            </a:br>
            <a:r>
              <a:rPr lang="en-US" dirty="0"/>
              <a:t>(updated every few years with new results) </a:t>
            </a:r>
          </a:p>
          <a:p>
            <a:r>
              <a:rPr lang="en-US" dirty="0"/>
              <a:t>YouTube channels</a:t>
            </a:r>
          </a:p>
          <a:p>
            <a:pPr lvl="1"/>
            <a:r>
              <a:rPr lang="en-US" dirty="0">
                <a:hlinkClick r:id="rId4"/>
              </a:rPr>
              <a:t>https://www.youtube.com/@gcarcassi</a:t>
            </a:r>
            <a:br>
              <a:rPr lang="en-US" dirty="0"/>
            </a:br>
            <a:r>
              <a:rPr lang="en-US" dirty="0"/>
              <a:t>Videos with results and insights from the research</a:t>
            </a:r>
          </a:p>
          <a:p>
            <a:pPr lvl="1"/>
            <a:r>
              <a:rPr lang="en-US" dirty="0">
                <a:hlinkClick r:id="rId5"/>
              </a:rPr>
              <a:t>https://www.youtube.com/@AssumptionsofPhysicsResearch</a:t>
            </a:r>
            <a:br>
              <a:rPr lang="en-US" dirty="0"/>
            </a:br>
            <a:r>
              <a:rPr lang="en-US" dirty="0"/>
              <a:t>Research channel, with open questions and livestreamed work sessions</a:t>
            </a:r>
          </a:p>
          <a:p>
            <a:r>
              <a:rPr lang="en-US" dirty="0"/>
              <a:t>GitHub</a:t>
            </a:r>
          </a:p>
          <a:p>
            <a:pPr lvl="1"/>
            <a:r>
              <a:rPr lang="en-US" dirty="0">
                <a:hlinkClick r:id="rId6"/>
              </a:rPr>
              <a:t>https://github.com/assumptionsofphysics</a:t>
            </a:r>
            <a:br>
              <a:rPr lang="en-US" dirty="0"/>
            </a:br>
            <a:r>
              <a:rPr lang="en-US" dirty="0"/>
              <a:t>Book, research papers, slides for videos...</a:t>
            </a:r>
          </a:p>
        </p:txBody>
      </p:sp>
    </p:spTree>
    <p:extLst>
      <p:ext uri="{BB962C8B-B14F-4D97-AF65-F5344CB8AC3E}">
        <p14:creationId xmlns:p14="http://schemas.microsoft.com/office/powerpoint/2010/main" val="15623308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6646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oP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00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74074</TotalTime>
  <Words>1666</Words>
  <Application>Microsoft Office PowerPoint</Application>
  <PresentationFormat>Widescreen</PresentationFormat>
  <Paragraphs>264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Office Theme</vt:lpstr>
      <vt:lpstr>Overview of  the Assumptions of Physics program</vt:lpstr>
      <vt:lpstr>Reverse Physics and Physical Mathematics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Topology and σ-algebra</vt:lpstr>
      <vt:lpstr>PowerPoint Presentation</vt:lpstr>
      <vt:lpstr>PowerPoint Presentation</vt:lpstr>
      <vt:lpstr>PowerPoint Presentation</vt:lpstr>
      <vt:lpstr>PowerPoint Presentation</vt:lpstr>
      <vt:lpstr>Conclusion</vt:lpstr>
      <vt:lpstr>To learn more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Gabriele Carcassi</dc:creator>
  <cp:lastModifiedBy>Gabriele Carcassi</cp:lastModifiedBy>
  <cp:revision>228</cp:revision>
  <dcterms:created xsi:type="dcterms:W3CDTF">2021-04-07T15:17:47Z</dcterms:created>
  <dcterms:modified xsi:type="dcterms:W3CDTF">2026-01-06T13:32:51Z</dcterms:modified>
</cp:coreProperties>
</file>