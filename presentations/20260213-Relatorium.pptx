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1286" r:id="rId2"/>
    <p:sldId id="1378" r:id="rId3"/>
    <p:sldId id="1379" r:id="rId4"/>
    <p:sldId id="1011" r:id="rId5"/>
    <p:sldId id="1289" r:id="rId6"/>
    <p:sldId id="1322" r:id="rId7"/>
    <p:sldId id="1375" r:id="rId8"/>
    <p:sldId id="1376" r:id="rId9"/>
    <p:sldId id="1377" r:id="rId10"/>
    <p:sldId id="1380" r:id="rId11"/>
    <p:sldId id="1319" r:id="rId12"/>
    <p:sldId id="1315" r:id="rId13"/>
    <p:sldId id="1381" r:id="rId14"/>
    <p:sldId id="1382" r:id="rId15"/>
    <p:sldId id="1383" r:id="rId16"/>
    <p:sldId id="1384" r:id="rId17"/>
    <p:sldId id="1385" r:id="rId18"/>
    <p:sldId id="1386" r:id="rId19"/>
    <p:sldId id="1387" r:id="rId20"/>
    <p:sldId id="1389" r:id="rId21"/>
    <p:sldId id="1388" r:id="rId22"/>
    <p:sldId id="134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82C"/>
    <a:srgbClr val="999C1C"/>
    <a:srgbClr val="779A1E"/>
    <a:srgbClr val="847A34"/>
    <a:srgbClr val="D0F204"/>
    <a:srgbClr val="820000"/>
    <a:srgbClr val="F4E802"/>
    <a:srgbClr val="CC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5607" autoAdjust="0"/>
  </p:normalViewPr>
  <p:slideViewPr>
    <p:cSldViewPr snapToGrid="0">
      <p:cViewPr varScale="1">
        <p:scale>
          <a:sx n="133" d="100"/>
          <a:sy n="133" d="100"/>
        </p:scale>
        <p:origin x="468" y="114"/>
      </p:cViewPr>
      <p:guideLst/>
    </p:cSldViewPr>
  </p:slideViewPr>
  <p:outlineViewPr>
    <p:cViewPr>
      <p:scale>
        <a:sx n="33" d="100"/>
        <a:sy n="33" d="100"/>
      </p:scale>
      <p:origin x="0" y="-902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9C704-B8F9-449B-B828-36D786A1FE7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4F452-85BD-4268-B680-C313DBFDC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7C06-0071-409C-8633-532D54553463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EBE43-81C5-C3A7-19B2-4AEF320C7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9993"/>
            <a:ext cx="1676403" cy="1524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FB429-4DC1-9EA8-5594-36E9029DC1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6692"/>
            <a:ext cx="2229706" cy="75785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3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21421C8-42B8-42F2-B138-B2DCA690166A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1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ED3C-A66A-4563-BF71-615BC8EBC22D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4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5AE8-BB42-46CF-8CD9-BE8DB9BFCE66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40EC-A46D-463D-B9B7-3DFF8D111D65}" type="datetime1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F6219-93AC-4A0F-BECB-DDD165FBD6B7}" type="datetime1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5804-31A0-462E-BBD5-3AFB76B3413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D6A2F-AB05-4308-BDB5-41BDC51901EB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5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076B-5639-46D0-B65F-D1775572D7B6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8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4B1A-0F3A-4F54-8A16-7865AEFE89CD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1072-D46C-4FDD-995C-5A3BAD895D62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9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B3F07-64E4-47D2-9C3E-4ED613C0627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C4DAF4-877C-B697-9F33-77BD3CFF038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10"/>
            <a:ext cx="755810" cy="687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89385B-0892-E7A3-350A-12FC896047C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74" y="6273515"/>
            <a:ext cx="1313865" cy="446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 userDrawn="1"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</p:spTree>
    <p:extLst>
      <p:ext uri="{BB962C8B-B14F-4D97-AF65-F5344CB8AC3E}">
        <p14:creationId xmlns:p14="http://schemas.microsoft.com/office/powerpoint/2010/main" val="360347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</p:bldLst>
  </p:timing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10.png"/><Relationship Id="rId4" Type="http://schemas.openxmlformats.org/officeDocument/2006/relationships/hyperlink" Target="https://assumptionsofphysics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Relationship Id="rId9" Type="http://schemas.openxmlformats.org/officeDocument/2006/relationships/image" Target="../media/image18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5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2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021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8EF8-1CA4-0AF4-8F17-8A411A359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Open Problems in</a:t>
            </a:r>
            <a:br>
              <a:rPr lang="en-US" dirty="0"/>
            </a:br>
            <a:r>
              <a:rPr lang="en-US" dirty="0"/>
              <a:t>Physical Mathematics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966BA-E88F-9DF9-B52F-C052D3944F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Gabriele Carcassi and Christine A. Aidala</a:t>
            </a:r>
          </a:p>
          <a:p>
            <a:r>
              <a:rPr lang="en-US" dirty="0"/>
              <a:t>Physics Department</a:t>
            </a:r>
            <a:br>
              <a:rPr lang="en-US" dirty="0"/>
            </a:br>
            <a:r>
              <a:rPr lang="en-US" dirty="0"/>
              <a:t>University of Michigan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DA8297-35B9-5FEA-640F-38C0EA9E4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4491460"/>
            <a:ext cx="1891314" cy="20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07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B5DF-70AF-0C72-3B73-3394DD32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69F91-FA27-847B-EDA2-0D2CF2C03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find people that are interested/willing to help</a:t>
            </a:r>
          </a:p>
          <a:p>
            <a:r>
              <a:rPr lang="en-US" dirty="0"/>
              <a:t>Very brief introduction to Assumptions of Physics, Reverse Physics and Physical Mathematics</a:t>
            </a:r>
          </a:p>
          <a:p>
            <a:r>
              <a:rPr lang="en-US" dirty="0"/>
              <a:t>Brief introduction to Ensemble Spaces as core structure required by all physical theories</a:t>
            </a:r>
          </a:p>
          <a:p>
            <a:r>
              <a:rPr lang="en-US" dirty="0"/>
              <a:t>Open problems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A0B07-D39D-A803-81CA-D6F5DAD1CFB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2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EA6C-751C-3396-4E3B-58E9101B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Assumptions of Physics research program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46DE-0570-0621-D2CC-0F6D3E88D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097F4-AE8C-F854-22B3-F7641D071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2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2DCE-BCE0-1B6B-E0EF-339384EA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8698074" cy="897424"/>
          </a:xfrm>
        </p:spPr>
        <p:txBody>
          <a:bodyPr/>
          <a:lstStyle/>
          <a:p>
            <a:r>
              <a:rPr lang="en-US" dirty="0"/>
              <a:t>Main goal of the project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6682E2-9FF6-9416-54E1-85337245508A}"/>
              </a:ext>
            </a:extLst>
          </p:cNvPr>
          <p:cNvGrpSpPr/>
          <p:nvPr/>
        </p:nvGrpSpPr>
        <p:grpSpPr>
          <a:xfrm>
            <a:off x="8708668" y="320121"/>
            <a:ext cx="3436710" cy="2736585"/>
            <a:chOff x="8807251" y="356793"/>
            <a:chExt cx="3436710" cy="2736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D1683F9-8185-F744-0B0B-49403F1DAD2A}"/>
                </a:ext>
              </a:extLst>
            </p:cNvPr>
            <p:cNvGrpSpPr/>
            <p:nvPr/>
          </p:nvGrpSpPr>
          <p:grpSpPr>
            <a:xfrm>
              <a:off x="9410754" y="356793"/>
              <a:ext cx="2229706" cy="2324557"/>
              <a:chOff x="9664754" y="4369993"/>
              <a:chExt cx="2229706" cy="232455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09733E4-688D-4DCE-213B-967DFA3BC2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1405" y="4369993"/>
                <a:ext cx="1676403" cy="152400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9A616A9-AC58-C779-B5DB-EE419585F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64754" y="5936692"/>
                <a:ext cx="2229706" cy="757858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EEA1047-B877-5965-1071-F5EB143EBF14}"/>
                </a:ext>
              </a:extLst>
            </p:cNvPr>
            <p:cNvSpPr txBox="1"/>
            <p:nvPr/>
          </p:nvSpPr>
          <p:spPr>
            <a:xfrm>
              <a:off x="8807251" y="2724046"/>
              <a:ext cx="3436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hlinkClick r:id="rId4"/>
                </a:rPr>
                <a:t>https://assumptionsofphysics.org</a:t>
              </a:r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B66391-9F55-EB42-1EB1-682E52F74556}"/>
              </a:ext>
            </a:extLst>
          </p:cNvPr>
          <p:cNvGrpSpPr/>
          <p:nvPr/>
        </p:nvGrpSpPr>
        <p:grpSpPr>
          <a:xfrm>
            <a:off x="5013216" y="3135761"/>
            <a:ext cx="3284859" cy="916207"/>
            <a:chOff x="7093758" y="5122425"/>
            <a:chExt cx="4379811" cy="122161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6941F6-ECEF-2954-C8FD-9F4E73884367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F747669-9FC5-5308-ACE7-767979452B47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560FE619-0A8C-D24C-65C3-D12BC00B5E76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Chord 5">
                  <a:extLst>
                    <a:ext uri="{FF2B5EF4-FFF2-40B4-BE49-F238E27FC236}">
                      <a16:creationId xmlns:a16="http://schemas.microsoft.com/office/drawing/2014/main" id="{03399512-243A-864D-82D6-FF368404A102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168AA96-BA97-6FE4-AF8D-E8D94B7DFC2A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81741CE2-3C06-3E12-4FF4-6C7006EC28D5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Chord 5">
                  <a:extLst>
                    <a:ext uri="{FF2B5EF4-FFF2-40B4-BE49-F238E27FC236}">
                      <a16:creationId xmlns:a16="http://schemas.microsoft.com/office/drawing/2014/main" id="{72198938-A6D8-2A11-6039-2C2DDD70A8D7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B27224C-E116-C9F7-85DE-97C643C348B1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FED6AD9-11ED-9855-4715-0E0D6212D3A8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92C8A9-51BB-099C-C97A-580FBBC85F41}"/>
                </a:ext>
              </a:extLst>
            </p:cNvPr>
            <p:cNvSpPr/>
            <p:nvPr/>
          </p:nvSpPr>
          <p:spPr>
            <a:xfrm>
              <a:off x="10844764" y="5974703"/>
              <a:ext cx="6288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time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BBD1CB7-D1ED-6F86-3276-E1780DD1C44B}"/>
                </a:ext>
              </a:extLst>
            </p:cNvPr>
            <p:cNvSpPr/>
            <p:nvPr/>
          </p:nvSpPr>
          <p:spPr>
            <a:xfrm rot="19209652">
              <a:off x="8016367" y="5411825"/>
              <a:ext cx="51144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5AE56FF-1C7E-6F3B-66C3-B9B85FD59EAC}"/>
                </a:ext>
              </a:extLst>
            </p:cNvPr>
            <p:cNvCxnSpPr>
              <a:cxnSpLocks/>
            </p:cNvCxnSpPr>
            <p:nvPr/>
          </p:nvCxnSpPr>
          <p:spPr>
            <a:xfrm>
              <a:off x="8131274" y="5466648"/>
              <a:ext cx="2243958" cy="3178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CD5787-63F5-D9AC-802B-7AF573B2B40A}"/>
                </a:ext>
              </a:extLst>
            </p:cNvPr>
            <p:cNvCxnSpPr>
              <a:cxnSpLocks/>
            </p:cNvCxnSpPr>
            <p:nvPr/>
          </p:nvCxnSpPr>
          <p:spPr>
            <a:xfrm>
              <a:off x="8153400" y="5486400"/>
              <a:ext cx="2105526" cy="20453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98D2628-72BB-2EB2-0DEE-58BEF260B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337" y="5277853"/>
              <a:ext cx="2093495" cy="15641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D2617C-2532-1D1B-8AF9-8CA9F2276E0B}"/>
                </a:ext>
              </a:extLst>
            </p:cNvPr>
            <p:cNvSpPr txBox="1"/>
            <p:nvPr/>
          </p:nvSpPr>
          <p:spPr>
            <a:xfrm>
              <a:off x="8920867" y="5478456"/>
              <a:ext cx="41293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solidFill>
                    <a:srgbClr val="FF0000"/>
                  </a:solidFill>
                </a:rPr>
                <a:t>?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B4A313-E91D-14D5-6C5E-10CF8D0A5864}"/>
              </a:ext>
            </a:extLst>
          </p:cNvPr>
          <p:cNvGrpSpPr/>
          <p:nvPr/>
        </p:nvGrpSpPr>
        <p:grpSpPr>
          <a:xfrm>
            <a:off x="717063" y="3127424"/>
            <a:ext cx="3299436" cy="919519"/>
            <a:chOff x="7093758" y="5122425"/>
            <a:chExt cx="4376570" cy="12197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CD865E9-6A34-D7C3-87B4-4D97B2125383}"/>
                </a:ext>
              </a:extLst>
            </p:cNvPr>
            <p:cNvGrpSpPr/>
            <p:nvPr/>
          </p:nvGrpSpPr>
          <p:grpSpPr>
            <a:xfrm>
              <a:off x="7517416" y="5122425"/>
              <a:ext cx="3079535" cy="839764"/>
              <a:chOff x="2758985" y="3636747"/>
              <a:chExt cx="7518499" cy="2050233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9B90261-D5A3-C943-2158-5BDCB41BE187}"/>
                  </a:ext>
                </a:extLst>
              </p:cNvPr>
              <p:cNvGrpSpPr/>
              <p:nvPr/>
            </p:nvGrpSpPr>
            <p:grpSpPr>
              <a:xfrm>
                <a:off x="2758985" y="4061287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A27D122-1932-13DA-4E44-23E18A19A60E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solidFill>
                  <a:schemeClr val="accent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8" name="Chord 5">
                  <a:extLst>
                    <a:ext uri="{FF2B5EF4-FFF2-40B4-BE49-F238E27FC236}">
                      <a16:creationId xmlns:a16="http://schemas.microsoft.com/office/drawing/2014/main" id="{4E6F583B-CC50-57FB-643E-FFC6FCE3C467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688925C7-45D2-5D72-02A6-C3767F495E4C}"/>
                  </a:ext>
                </a:extLst>
              </p:cNvPr>
              <p:cNvGrpSpPr/>
              <p:nvPr/>
            </p:nvGrpSpPr>
            <p:grpSpPr>
              <a:xfrm>
                <a:off x="8550185" y="3654841"/>
                <a:ext cx="1727299" cy="1625693"/>
                <a:chOff x="2743126" y="2971800"/>
                <a:chExt cx="1295474" cy="121927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59FC66F9-6A33-071A-93A7-F6FAD8D23F51}"/>
                    </a:ext>
                  </a:extLst>
                </p:cNvPr>
                <p:cNvSpPr/>
                <p:nvPr/>
              </p:nvSpPr>
              <p:spPr>
                <a:xfrm>
                  <a:off x="2743200" y="2971800"/>
                  <a:ext cx="1295400" cy="1219200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6" name="Chord 5">
                  <a:extLst>
                    <a:ext uri="{FF2B5EF4-FFF2-40B4-BE49-F238E27FC236}">
                      <a16:creationId xmlns:a16="http://schemas.microsoft.com/office/drawing/2014/main" id="{1BF90216-A627-3EE5-03F5-55DCCD3B2A4C}"/>
                    </a:ext>
                  </a:extLst>
                </p:cNvPr>
                <p:cNvSpPr/>
                <p:nvPr/>
              </p:nvSpPr>
              <p:spPr>
                <a:xfrm>
                  <a:off x="2743126" y="3073904"/>
                  <a:ext cx="817308" cy="1117166"/>
                </a:xfrm>
                <a:custGeom>
                  <a:avLst/>
                  <a:gdLst>
                    <a:gd name="connsiteX0" fmla="*/ 817235 w 1295400"/>
                    <a:gd name="connsiteY0" fmla="*/ 1197947 h 1219200"/>
                    <a:gd name="connsiteX1" fmla="*/ 70854 w 1295400"/>
                    <a:gd name="connsiteY1" fmla="*/ 886831 h 1219200"/>
                    <a:gd name="connsiteX2" fmla="*/ 288864 w 1295400"/>
                    <a:gd name="connsiteY2" fmla="*/ 102104 h 1219200"/>
                    <a:gd name="connsiteX3" fmla="*/ 817235 w 1295400"/>
                    <a:gd name="connsiteY3" fmla="*/ 1197947 h 1219200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  <a:gd name="connsiteX0" fmla="*/ 817308 w 817308"/>
                    <a:gd name="connsiteY0" fmla="*/ 1095843 h 1117166"/>
                    <a:gd name="connsiteX1" fmla="*/ 70927 w 817308"/>
                    <a:gd name="connsiteY1" fmla="*/ 784727 h 1117166"/>
                    <a:gd name="connsiteX2" fmla="*/ 288937 w 817308"/>
                    <a:gd name="connsiteY2" fmla="*/ 0 h 1117166"/>
                    <a:gd name="connsiteX3" fmla="*/ 817308 w 817308"/>
                    <a:gd name="connsiteY3" fmla="*/ 1095843 h 1117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7308" h="1117166">
                      <a:moveTo>
                        <a:pt x="817308" y="1095843"/>
                      </a:moveTo>
                      <a:cubicBezTo>
                        <a:pt x="521648" y="1171311"/>
                        <a:pt x="210243" y="1041507"/>
                        <a:pt x="70927" y="784727"/>
                      </a:cubicBezTo>
                      <a:cubicBezTo>
                        <a:pt x="-78669" y="508999"/>
                        <a:pt x="15088" y="171521"/>
                        <a:pt x="288937" y="0"/>
                      </a:cubicBezTo>
                      <a:cubicBezTo>
                        <a:pt x="73901" y="563401"/>
                        <a:pt x="336384" y="989642"/>
                        <a:pt x="817308" y="109584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44FAB1C-6424-B3A9-62AF-1BA2C6A9B35A}"/>
                  </a:ext>
                </a:extLst>
              </p:cNvPr>
              <p:cNvSpPr/>
              <p:nvPr/>
            </p:nvSpPr>
            <p:spPr>
              <a:xfrm>
                <a:off x="4691594" y="3636747"/>
                <a:ext cx="3485323" cy="668600"/>
              </a:xfrm>
              <a:custGeom>
                <a:avLst/>
                <a:gdLst>
                  <a:gd name="connsiteX0" fmla="*/ 0 w 2141883"/>
                  <a:gd name="connsiteY0" fmla="*/ 601959 h 601959"/>
                  <a:gd name="connsiteX1" fmla="*/ 1088335 w 2141883"/>
                  <a:gd name="connsiteY1" fmla="*/ 10581 h 601959"/>
                  <a:gd name="connsiteX2" fmla="*/ 2141883 w 2141883"/>
                  <a:gd name="connsiteY2" fmla="*/ 278937 h 601959"/>
                  <a:gd name="connsiteX0" fmla="*/ 0 w 2350605"/>
                  <a:gd name="connsiteY0" fmla="*/ 441051 h 441051"/>
                  <a:gd name="connsiteX1" fmla="*/ 1297057 w 2350605"/>
                  <a:gd name="connsiteY1" fmla="*/ 3730 h 441051"/>
                  <a:gd name="connsiteX2" fmla="*/ 2350605 w 2350605"/>
                  <a:gd name="connsiteY2" fmla="*/ 272086 h 441051"/>
                  <a:gd name="connsiteX0" fmla="*/ 0 w 2613992"/>
                  <a:gd name="connsiteY0" fmla="*/ 465762 h 465762"/>
                  <a:gd name="connsiteX1" fmla="*/ 1297057 w 2613992"/>
                  <a:gd name="connsiteY1" fmla="*/ 28441 h 465762"/>
                  <a:gd name="connsiteX2" fmla="*/ 2613992 w 2613992"/>
                  <a:gd name="connsiteY2" fmla="*/ 147710 h 465762"/>
                  <a:gd name="connsiteX0" fmla="*/ 0 w 2613992"/>
                  <a:gd name="connsiteY0" fmla="*/ 501450 h 501450"/>
                  <a:gd name="connsiteX1" fmla="*/ 1237423 w 2613992"/>
                  <a:gd name="connsiteY1" fmla="*/ 19403 h 501450"/>
                  <a:gd name="connsiteX2" fmla="*/ 2613992 w 2613992"/>
                  <a:gd name="connsiteY2" fmla="*/ 183398 h 50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3992" h="501450">
                    <a:moveTo>
                      <a:pt x="0" y="501450"/>
                    </a:moveTo>
                    <a:cubicBezTo>
                      <a:pt x="365677" y="232679"/>
                      <a:pt x="801758" y="72412"/>
                      <a:pt x="1237423" y="19403"/>
                    </a:cubicBezTo>
                    <a:cubicBezTo>
                      <a:pt x="1673088" y="-33606"/>
                      <a:pt x="2265708" y="22301"/>
                      <a:pt x="2613992" y="183398"/>
                    </a:cubicBezTo>
                  </a:path>
                </a:pathLst>
              </a:custGeom>
              <a:noFill/>
              <a:ln w="28575">
                <a:headEnd type="triangle" w="lg" len="lg"/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88D463B-1D53-F810-4FC9-682C06A4E1AB}"/>
                </a:ext>
              </a:extLst>
            </p:cNvPr>
            <p:cNvCxnSpPr>
              <a:cxnSpLocks/>
            </p:cNvCxnSpPr>
            <p:nvPr/>
          </p:nvCxnSpPr>
          <p:spPr>
            <a:xfrm>
              <a:off x="7093758" y="6313256"/>
              <a:ext cx="41932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ADF4B4-9D39-F4BD-D6A4-A27406433539}"/>
                </a:ext>
              </a:extLst>
            </p:cNvPr>
            <p:cNvSpPr/>
            <p:nvPr/>
          </p:nvSpPr>
          <p:spPr>
            <a:xfrm>
              <a:off x="10844764" y="5974702"/>
              <a:ext cx="625564" cy="3674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/>
                <a:t>time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AB262B-18B6-12CD-128F-F5229B66BC5F}"/>
                </a:ext>
              </a:extLst>
            </p:cNvPr>
            <p:cNvSpPr/>
            <p:nvPr/>
          </p:nvSpPr>
          <p:spPr>
            <a:xfrm rot="19209652">
              <a:off x="8016367" y="5411825"/>
              <a:ext cx="51144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0F0CBD2-5AE8-52F6-2FBD-01E92375990E}"/>
                </a:ext>
              </a:extLst>
            </p:cNvPr>
            <p:cNvSpPr/>
            <p:nvPr/>
          </p:nvSpPr>
          <p:spPr>
            <a:xfrm rot="2714105">
              <a:off x="10396427" y="5524374"/>
              <a:ext cx="65673" cy="102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39538E6-4284-CF77-E895-18496D5FC5A1}"/>
                </a:ext>
              </a:extLst>
            </p:cNvPr>
            <p:cNvCxnSpPr>
              <a:cxnSpLocks/>
            </p:cNvCxnSpPr>
            <p:nvPr/>
          </p:nvCxnSpPr>
          <p:spPr>
            <a:xfrm>
              <a:off x="8131274" y="5466648"/>
              <a:ext cx="2204538" cy="8367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2C9A3D-D4FB-9714-2F02-3A658A6CDA24}"/>
                  </a:ext>
                </a:extLst>
              </p:cNvPr>
              <p:cNvSpPr txBox="1"/>
              <p:nvPr/>
            </p:nvSpPr>
            <p:spPr>
              <a:xfrm>
                <a:off x="530237" y="2598451"/>
                <a:ext cx="3599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Infinitesimal reducibility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Classical state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2C9A3D-D4FB-9714-2F02-3A658A6CD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37" y="2598451"/>
                <a:ext cx="3599960" cy="338554"/>
              </a:xfrm>
              <a:prstGeom prst="rect">
                <a:avLst/>
              </a:prstGeom>
              <a:blipFill>
                <a:blip r:embed="rId5"/>
                <a:stretch>
                  <a:fillRect l="-101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6D50F44-FA6F-7634-7B43-AF2CA8BDA007}"/>
                  </a:ext>
                </a:extLst>
              </p:cNvPr>
              <p:cNvSpPr txBox="1"/>
              <p:nvPr/>
            </p:nvSpPr>
            <p:spPr>
              <a:xfrm>
                <a:off x="5162412" y="2597262"/>
                <a:ext cx="27519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Irreducibility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Quantum state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6D50F44-FA6F-7634-7B43-AF2CA8BDA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412" y="2597262"/>
                <a:ext cx="2751972" cy="338554"/>
              </a:xfrm>
              <a:prstGeom prst="rect">
                <a:avLst/>
              </a:prstGeom>
              <a:blipFill>
                <a:blip r:embed="rId6"/>
                <a:stretch>
                  <a:fillRect l="-1330" t="-5357" r="-4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5B3C1A7E-6F6A-1D88-2FCE-065DF3392CE8}"/>
              </a:ext>
            </a:extLst>
          </p:cNvPr>
          <p:cNvSpPr txBox="1"/>
          <p:nvPr/>
        </p:nvSpPr>
        <p:spPr>
          <a:xfrm>
            <a:off x="271285" y="962742"/>
            <a:ext cx="83634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Identify a handful of physical starting points from which the basic laws can be rigorously derived</a:t>
            </a:r>
            <a:endParaRPr lang="en-US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455218-73B4-5DD6-D4BD-1B9C04723948}"/>
              </a:ext>
            </a:extLst>
          </p:cNvPr>
          <p:cNvSpPr txBox="1"/>
          <p:nvPr/>
        </p:nvSpPr>
        <p:spPr>
          <a:xfrm>
            <a:off x="271285" y="2141167"/>
            <a:ext cx="1396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example: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225324-B563-B7A7-7AD5-95E8E983D9E1}"/>
              </a:ext>
            </a:extLst>
          </p:cNvPr>
          <p:cNvSpPr txBox="1"/>
          <p:nvPr/>
        </p:nvSpPr>
        <p:spPr>
          <a:xfrm>
            <a:off x="1916624" y="4389644"/>
            <a:ext cx="7163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This also requires rederiving all mathematical structures</a:t>
            </a:r>
            <a:br>
              <a:rPr lang="en-US" sz="2400" dirty="0"/>
            </a:br>
            <a:r>
              <a:rPr lang="en-US" sz="2400" dirty="0"/>
              <a:t>from physical 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DB74E7-8E10-1AA5-EAF7-09367F1CBFE4}"/>
                  </a:ext>
                </a:extLst>
              </p:cNvPr>
              <p:cNvSpPr txBox="1"/>
              <p:nvPr/>
            </p:nvSpPr>
            <p:spPr>
              <a:xfrm>
                <a:off x="785488" y="5293998"/>
                <a:ext cx="72767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Science is evidence based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scientific theory must be characterized by experimentally verifiable statements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-algebras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DB74E7-8E10-1AA5-EAF7-09367F1CB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88" y="5293998"/>
                <a:ext cx="7276785" cy="646331"/>
              </a:xfrm>
              <a:prstGeom prst="rect">
                <a:avLst/>
              </a:prstGeom>
              <a:blipFill>
                <a:blip r:embed="rId7"/>
                <a:stretch>
                  <a:fillRect l="-754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3D12C71-F59C-FB7B-2F9F-12AAE88104C8}"/>
              </a:ext>
            </a:extLst>
          </p:cNvPr>
          <p:cNvSpPr txBox="1"/>
          <p:nvPr/>
        </p:nvSpPr>
        <p:spPr>
          <a:xfrm>
            <a:off x="271285" y="4924176"/>
            <a:ext cx="1396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example:</a:t>
            </a:r>
          </a:p>
        </p:txBody>
      </p:sp>
    </p:spTree>
    <p:extLst>
      <p:ext uri="{BB962C8B-B14F-4D97-AF65-F5344CB8AC3E}">
        <p14:creationId xmlns:p14="http://schemas.microsoft.com/office/powerpoint/2010/main" val="255797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A4D0E7-7417-0F5F-942C-E3B0B29B6699}"/>
              </a:ext>
            </a:extLst>
          </p:cNvPr>
          <p:cNvGrpSpPr/>
          <p:nvPr/>
        </p:nvGrpSpPr>
        <p:grpSpPr>
          <a:xfrm>
            <a:off x="265653" y="642784"/>
            <a:ext cx="6214347" cy="1790816"/>
            <a:chOff x="5284053" y="959584"/>
            <a:chExt cx="6214347" cy="179081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8CA7FB-198D-6CA1-9915-E025ACBF821E}"/>
                </a:ext>
              </a:extLst>
            </p:cNvPr>
            <p:cNvSpPr/>
            <p:nvPr/>
          </p:nvSpPr>
          <p:spPr>
            <a:xfrm>
              <a:off x="5284053" y="1765232"/>
              <a:ext cx="6214347" cy="985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/>
                  </a:solidFill>
                </a:rPr>
                <a:t>Zermelo</a:t>
              </a:r>
              <a:r>
                <a:rPr lang="en-US" sz="2800" dirty="0">
                  <a:solidFill>
                    <a:schemeClr val="tx1"/>
                  </a:solidFill>
                </a:rPr>
                <a:t>-Fraenkel set theory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60B4C7-FC1F-D6BA-DD7B-BA0BAA08BF56}"/>
                </a:ext>
              </a:extLst>
            </p:cNvPr>
            <p:cNvSpPr txBox="1"/>
            <p:nvPr/>
          </p:nvSpPr>
          <p:spPr>
            <a:xfrm>
              <a:off x="5285348" y="1769898"/>
              <a:ext cx="10543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Base theory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C8D4597-6082-E477-E8A8-35F62F18F07F}"/>
                </a:ext>
              </a:extLst>
            </p:cNvPr>
            <p:cNvGrpSpPr/>
            <p:nvPr/>
          </p:nvGrpSpPr>
          <p:grpSpPr>
            <a:xfrm>
              <a:off x="5428040" y="959584"/>
              <a:ext cx="5937943" cy="830997"/>
              <a:chOff x="5428040" y="959584"/>
              <a:chExt cx="5937943" cy="830997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DC94A8-60E5-9B2A-0165-8B3A9910FA27}"/>
                  </a:ext>
                </a:extLst>
              </p:cNvPr>
              <p:cNvSpPr txBox="1"/>
              <p:nvPr/>
            </p:nvSpPr>
            <p:spPr>
              <a:xfrm>
                <a:off x="5428040" y="1113472"/>
                <a:ext cx="25490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Axiom of Choice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F812EB-2A45-B9EC-E6C2-5A50283CA608}"/>
                  </a:ext>
                </a:extLst>
              </p:cNvPr>
              <p:cNvSpPr txBox="1"/>
              <p:nvPr/>
            </p:nvSpPr>
            <p:spPr>
              <a:xfrm>
                <a:off x="9218985" y="1113472"/>
                <a:ext cx="21469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Zorn’s lemma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0C89F04-C538-FE71-E66F-774614FB5BE0}"/>
                      </a:ext>
                    </a:extLst>
                  </p:cNvPr>
                  <p:cNvSpPr txBox="1"/>
                  <p:nvPr/>
                </p:nvSpPr>
                <p:spPr>
                  <a:xfrm>
                    <a:off x="8072916" y="959584"/>
                    <a:ext cx="1050288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⟺</m:t>
                          </m:r>
                        </m:oMath>
                      </m:oMathPara>
                    </a14:m>
                    <a:endParaRPr lang="en-US" sz="4800" dirty="0"/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0C89F04-C538-FE71-E66F-774614FB5B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72916" y="959584"/>
                    <a:ext cx="1050288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32EA84D-4037-72E6-07F6-E61B7C51FD11}"/>
              </a:ext>
            </a:extLst>
          </p:cNvPr>
          <p:cNvSpPr txBox="1"/>
          <p:nvPr/>
        </p:nvSpPr>
        <p:spPr>
          <a:xfrm>
            <a:off x="6787536" y="3993781"/>
            <a:ext cx="5456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When the math is derived from the right physical assumptions,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the physical assumptions can be derived from the math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7BA1F3-2D99-F472-664F-515D87E1BA85}"/>
              </a:ext>
            </a:extLst>
          </p:cNvPr>
          <p:cNvSpPr txBox="1"/>
          <p:nvPr/>
        </p:nvSpPr>
        <p:spPr>
          <a:xfrm>
            <a:off x="10848808" y="2120112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Friedman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2F28CA-4753-18CC-D5B0-808284B91D65}"/>
              </a:ext>
            </a:extLst>
          </p:cNvPr>
          <p:cNvSpPr txBox="1"/>
          <p:nvPr/>
        </p:nvSpPr>
        <p:spPr>
          <a:xfrm>
            <a:off x="7514461" y="3193561"/>
            <a:ext cx="38330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Reverse physics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EB9A9-C569-F9FB-A0F8-38EBEE86CA5E}"/>
              </a:ext>
            </a:extLst>
          </p:cNvPr>
          <p:cNvSpPr txBox="1"/>
          <p:nvPr/>
        </p:nvSpPr>
        <p:spPr>
          <a:xfrm>
            <a:off x="3013172" y="2749334"/>
            <a:ext cx="61656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Types of things we should do in the foundations of physics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FF0ED-E5AB-0DA4-2590-2CBBD0FB875F}"/>
              </a:ext>
            </a:extLst>
          </p:cNvPr>
          <p:cNvSpPr txBox="1"/>
          <p:nvPr/>
        </p:nvSpPr>
        <p:spPr>
          <a:xfrm>
            <a:off x="2921894" y="114134"/>
            <a:ext cx="6348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Types of things one does in the foundations of mathematics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D753B6-EB60-11E7-AD54-3631C065C106}"/>
              </a:ext>
            </a:extLst>
          </p:cNvPr>
          <p:cNvGrpSpPr/>
          <p:nvPr/>
        </p:nvGrpSpPr>
        <p:grpSpPr>
          <a:xfrm>
            <a:off x="209253" y="3359251"/>
            <a:ext cx="6214347" cy="2045575"/>
            <a:chOff x="209253" y="3539251"/>
            <a:chExt cx="6214347" cy="204557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C75930-E55A-6A13-049C-7880BA7A3E71}"/>
                </a:ext>
              </a:extLst>
            </p:cNvPr>
            <p:cNvGrpSpPr/>
            <p:nvPr/>
          </p:nvGrpSpPr>
          <p:grpSpPr>
            <a:xfrm>
              <a:off x="209253" y="4599658"/>
              <a:ext cx="6214347" cy="985168"/>
              <a:chOff x="209253" y="5046058"/>
              <a:chExt cx="6214347" cy="98516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9057002-B796-5F5B-FF1A-8AC98265EF5D}"/>
                  </a:ext>
                </a:extLst>
              </p:cNvPr>
              <p:cNvSpPr/>
              <p:nvPr/>
            </p:nvSpPr>
            <p:spPr>
              <a:xfrm>
                <a:off x="209253" y="5046058"/>
                <a:ext cx="6214347" cy="98516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Classical states for one degree of freedom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B75F61-FF2F-BAD2-5C4B-A7AEFC40CE58}"/>
                  </a:ext>
                </a:extLst>
              </p:cNvPr>
              <p:cNvSpPr txBox="1"/>
              <p:nvPr/>
            </p:nvSpPr>
            <p:spPr>
              <a:xfrm>
                <a:off x="210548" y="5050724"/>
                <a:ext cx="10543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Base theory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596C8BC-0656-DC67-7274-47E5A4A47651}"/>
                </a:ext>
              </a:extLst>
            </p:cNvPr>
            <p:cNvGrpSpPr/>
            <p:nvPr/>
          </p:nvGrpSpPr>
          <p:grpSpPr>
            <a:xfrm>
              <a:off x="358586" y="3539251"/>
              <a:ext cx="5915680" cy="966162"/>
              <a:chOff x="431903" y="3539251"/>
              <a:chExt cx="5915680" cy="96616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44C4979E-0813-8FFF-0D64-64F1E0287547}"/>
                      </a:ext>
                    </a:extLst>
                  </p:cNvPr>
                  <p:cNvSpPr txBox="1"/>
                  <p:nvPr/>
                </p:nvSpPr>
                <p:spPr>
                  <a:xfrm>
                    <a:off x="431903" y="3539251"/>
                    <a:ext cx="2165145" cy="9661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br>
                      <a:rPr lang="en-US" b="0" dirty="0"/>
                    </a:br>
                    <a:r>
                      <a:rPr lang="en-US" dirty="0"/>
                      <a:t>Hamilton’s equations</a:t>
                    </a:r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44C4979E-0813-8FFF-0D64-64F1E02875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903" y="3539251"/>
                    <a:ext cx="2165145" cy="96616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535" r="-2254" b="-88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A0410B-FD42-57B0-878C-0D3977C094B0}"/>
                  </a:ext>
                </a:extLst>
              </p:cNvPr>
              <p:cNvSpPr txBox="1"/>
              <p:nvPr/>
            </p:nvSpPr>
            <p:spPr>
              <a:xfrm>
                <a:off x="3647164" y="3545279"/>
                <a:ext cx="270041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dirty="0"/>
                  <a:t>Determinism and</a:t>
                </a:r>
                <a:br>
                  <a:rPr lang="en-US" sz="2800" dirty="0"/>
                </a:br>
                <a:r>
                  <a:rPr lang="en-US" sz="2800" dirty="0"/>
                  <a:t>reversibility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F6F6CCA-8AEB-0544-6353-21A4E6649A2B}"/>
                      </a:ext>
                    </a:extLst>
                  </p:cNvPr>
                  <p:cNvSpPr txBox="1"/>
                  <p:nvPr/>
                </p:nvSpPr>
                <p:spPr>
                  <a:xfrm>
                    <a:off x="2596962" y="3606834"/>
                    <a:ext cx="1050288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⟺</m:t>
                          </m:r>
                        </m:oMath>
                      </m:oMathPara>
                    </a14:m>
                    <a:endParaRPr lang="en-US" sz="4800" dirty="0"/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F6F6CCA-8AEB-0544-6353-21A4E6649A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96962" y="3606834"/>
                    <a:ext cx="1050288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867BF96-1A90-8C26-2D5F-FFEA3F9CCD61}"/>
              </a:ext>
            </a:extLst>
          </p:cNvPr>
          <p:cNvSpPr txBox="1"/>
          <p:nvPr/>
        </p:nvSpPr>
        <p:spPr>
          <a:xfrm>
            <a:off x="6981936" y="1473781"/>
            <a:ext cx="5456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When the theorem is derived from the right axioms,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axioms can be derived from the theorem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35B40C-372F-A1D4-6A16-F2DEF24D7397}"/>
              </a:ext>
            </a:extLst>
          </p:cNvPr>
          <p:cNvSpPr txBox="1"/>
          <p:nvPr/>
        </p:nvSpPr>
        <p:spPr>
          <a:xfrm>
            <a:off x="6835555" y="673561"/>
            <a:ext cx="51908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Reverse mathematics</a:t>
            </a:r>
          </a:p>
        </p:txBody>
      </p:sp>
    </p:spTree>
    <p:extLst>
      <p:ext uri="{BB962C8B-B14F-4D97-AF65-F5344CB8AC3E}">
        <p14:creationId xmlns:p14="http://schemas.microsoft.com/office/powerpoint/2010/main" val="38564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90A6-C470-16B9-B976-6A9B1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852B6263-7298-1E9F-6978-CE1F2D674637}"/>
              </a:ext>
            </a:extLst>
          </p:cNvPr>
          <p:cNvGrpSpPr/>
          <p:nvPr/>
        </p:nvGrpSpPr>
        <p:grpSpPr>
          <a:xfrm>
            <a:off x="3244042" y="1218862"/>
            <a:ext cx="3959417" cy="2565744"/>
            <a:chOff x="3244042" y="1218862"/>
            <a:chExt cx="3959417" cy="256574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1E46ED-729D-FDA6-D533-7A43748CFB37}"/>
                </a:ext>
              </a:extLst>
            </p:cNvPr>
            <p:cNvSpPr/>
            <p:nvPr/>
          </p:nvSpPr>
          <p:spPr>
            <a:xfrm>
              <a:off x="5784158" y="2456270"/>
              <a:ext cx="1011813" cy="130615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EA22243-B4B9-1A88-8FF6-845DB2B0B3BF}"/>
                </a:ext>
              </a:extLst>
            </p:cNvPr>
            <p:cNvSpPr/>
            <p:nvPr/>
          </p:nvSpPr>
          <p:spPr>
            <a:xfrm>
              <a:off x="3369602" y="2478453"/>
              <a:ext cx="1490023" cy="130615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95CC55D-D91F-DFA9-FE85-FED45A2DE7CE}"/>
                </a:ext>
              </a:extLst>
            </p:cNvPr>
            <p:cNvSpPr/>
            <p:nvPr/>
          </p:nvSpPr>
          <p:spPr>
            <a:xfrm>
              <a:off x="3244042" y="1218862"/>
              <a:ext cx="1698521" cy="115096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5CFD25A1-52D6-D653-68DA-DB426A7B74FF}"/>
                </a:ext>
              </a:extLst>
            </p:cNvPr>
            <p:cNvSpPr/>
            <p:nvPr/>
          </p:nvSpPr>
          <p:spPr>
            <a:xfrm>
              <a:off x="5504938" y="1243181"/>
              <a:ext cx="1698521" cy="115096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4A2596D-31DB-790C-BEB7-94B7AD18F685}"/>
              </a:ext>
            </a:extLst>
          </p:cNvPr>
          <p:cNvSpPr txBox="1"/>
          <p:nvPr/>
        </p:nvSpPr>
        <p:spPr>
          <a:xfrm>
            <a:off x="2067758" y="4064745"/>
            <a:ext cx="224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Physical specifications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D64B72-55EA-EC92-F281-9C3BE371D19C}"/>
              </a:ext>
            </a:extLst>
          </p:cNvPr>
          <p:cNvCxnSpPr>
            <a:cxnSpLocks/>
          </p:cNvCxnSpPr>
          <p:nvPr/>
        </p:nvCxnSpPr>
        <p:spPr>
          <a:xfrm>
            <a:off x="5272046" y="124857"/>
            <a:ext cx="0" cy="476377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A6BC84F5-4598-C7C9-9DE0-9D0D89AD45B4}"/>
              </a:ext>
            </a:extLst>
          </p:cNvPr>
          <p:cNvSpPr/>
          <p:nvPr/>
        </p:nvSpPr>
        <p:spPr>
          <a:xfrm>
            <a:off x="4627004" y="3992634"/>
            <a:ext cx="1290083" cy="514093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73311-910B-6629-7974-96CED281FBF5}"/>
              </a:ext>
            </a:extLst>
          </p:cNvPr>
          <p:cNvSpPr txBox="1"/>
          <p:nvPr/>
        </p:nvSpPr>
        <p:spPr>
          <a:xfrm>
            <a:off x="6155078" y="4064745"/>
            <a:ext cx="253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Mathematical definitions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0214-EAF7-549B-8DEA-5EB1556A0C03}"/>
              </a:ext>
            </a:extLst>
          </p:cNvPr>
          <p:cNvSpPr txBox="1"/>
          <p:nvPr/>
        </p:nvSpPr>
        <p:spPr>
          <a:xfrm>
            <a:off x="1120231" y="98263"/>
            <a:ext cx="255614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Physical world</a:t>
            </a:r>
            <a:br>
              <a:rPr lang="en-US" sz="3200" dirty="0"/>
            </a:br>
            <a:r>
              <a:rPr lang="en-US" sz="2000" dirty="0"/>
              <a:t>(informal system)</a:t>
            </a:r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89DFC-775C-DCBE-4E66-B336AE97A006}"/>
              </a:ext>
            </a:extLst>
          </p:cNvPr>
          <p:cNvSpPr txBox="1"/>
          <p:nvPr/>
        </p:nvSpPr>
        <p:spPr>
          <a:xfrm>
            <a:off x="6506178" y="190094"/>
            <a:ext cx="506196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Mathematical representation</a:t>
            </a:r>
          </a:p>
          <a:p>
            <a:pPr algn="ctr"/>
            <a:r>
              <a:rPr lang="en-US" sz="2000" dirty="0"/>
              <a:t>(formal system)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7DD3A-0669-B0EC-F0B2-04044D53AF61}"/>
              </a:ext>
            </a:extLst>
          </p:cNvPr>
          <p:cNvSpPr txBox="1"/>
          <p:nvPr/>
        </p:nvSpPr>
        <p:spPr>
          <a:xfrm>
            <a:off x="1476624" y="5561863"/>
            <a:ext cx="70560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Physical mathematics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FD74F9-2442-155F-B080-E5F605C07FAE}"/>
              </a:ext>
            </a:extLst>
          </p:cNvPr>
          <p:cNvSpPr txBox="1"/>
          <p:nvPr/>
        </p:nvSpPr>
        <p:spPr>
          <a:xfrm>
            <a:off x="1167814" y="4855142"/>
            <a:ext cx="7673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When physical objects are mapped to the right mathematical objects,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physical specification maps to the mathematical definitions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4B7F074-7C24-E049-D50F-36E917BF3162}"/>
              </a:ext>
            </a:extLst>
          </p:cNvPr>
          <p:cNvSpPr/>
          <p:nvPr/>
        </p:nvSpPr>
        <p:spPr>
          <a:xfrm>
            <a:off x="4238817" y="1365573"/>
            <a:ext cx="387740" cy="399282"/>
          </a:xfrm>
          <a:custGeom>
            <a:avLst/>
            <a:gdLst>
              <a:gd name="connsiteX0" fmla="*/ 339365 w 576721"/>
              <a:gd name="connsiteY0" fmla="*/ 0 h 593888"/>
              <a:gd name="connsiteX1" fmla="*/ 339365 w 576721"/>
              <a:gd name="connsiteY1" fmla="*/ 0 h 593888"/>
              <a:gd name="connsiteX2" fmla="*/ 226244 w 576721"/>
              <a:gd name="connsiteY2" fmla="*/ 9427 h 593888"/>
              <a:gd name="connsiteX3" fmla="*/ 169683 w 576721"/>
              <a:gd name="connsiteY3" fmla="*/ 28280 h 593888"/>
              <a:gd name="connsiteX4" fmla="*/ 131975 w 576721"/>
              <a:gd name="connsiteY4" fmla="*/ 37707 h 593888"/>
              <a:gd name="connsiteX5" fmla="*/ 94268 w 576721"/>
              <a:gd name="connsiteY5" fmla="*/ 65987 h 593888"/>
              <a:gd name="connsiteX6" fmla="*/ 37707 w 576721"/>
              <a:gd name="connsiteY6" fmla="*/ 150829 h 593888"/>
              <a:gd name="connsiteX7" fmla="*/ 18854 w 576721"/>
              <a:gd name="connsiteY7" fmla="*/ 207389 h 593888"/>
              <a:gd name="connsiteX8" fmla="*/ 9427 w 576721"/>
              <a:gd name="connsiteY8" fmla="*/ 235670 h 593888"/>
              <a:gd name="connsiteX9" fmla="*/ 0 w 576721"/>
              <a:gd name="connsiteY9" fmla="*/ 263950 h 593888"/>
              <a:gd name="connsiteX10" fmla="*/ 9427 w 576721"/>
              <a:gd name="connsiteY10" fmla="*/ 461913 h 593888"/>
              <a:gd name="connsiteX11" fmla="*/ 28281 w 576721"/>
              <a:gd name="connsiteY11" fmla="*/ 490194 h 593888"/>
              <a:gd name="connsiteX12" fmla="*/ 141402 w 576721"/>
              <a:gd name="connsiteY12" fmla="*/ 565608 h 593888"/>
              <a:gd name="connsiteX13" fmla="*/ 197963 w 576721"/>
              <a:gd name="connsiteY13" fmla="*/ 593888 h 593888"/>
              <a:gd name="connsiteX14" fmla="*/ 546755 w 576721"/>
              <a:gd name="connsiteY14" fmla="*/ 584462 h 593888"/>
              <a:gd name="connsiteX15" fmla="*/ 575035 w 576721"/>
              <a:gd name="connsiteY15" fmla="*/ 565608 h 593888"/>
              <a:gd name="connsiteX16" fmla="*/ 565608 w 576721"/>
              <a:gd name="connsiteY16" fmla="*/ 405352 h 593888"/>
              <a:gd name="connsiteX17" fmla="*/ 556182 w 576721"/>
              <a:gd name="connsiteY17" fmla="*/ 377072 h 593888"/>
              <a:gd name="connsiteX18" fmla="*/ 490194 w 576721"/>
              <a:gd name="connsiteY18" fmla="*/ 348792 h 593888"/>
              <a:gd name="connsiteX19" fmla="*/ 405353 w 576721"/>
              <a:gd name="connsiteY19" fmla="*/ 339365 h 593888"/>
              <a:gd name="connsiteX20" fmla="*/ 386499 w 576721"/>
              <a:gd name="connsiteY20" fmla="*/ 311084 h 593888"/>
              <a:gd name="connsiteX21" fmla="*/ 386499 w 576721"/>
              <a:gd name="connsiteY21" fmla="*/ 216816 h 593888"/>
              <a:gd name="connsiteX22" fmla="*/ 414780 w 576721"/>
              <a:gd name="connsiteY22" fmla="*/ 197963 h 593888"/>
              <a:gd name="connsiteX23" fmla="*/ 452487 w 576721"/>
              <a:gd name="connsiteY23" fmla="*/ 150829 h 593888"/>
              <a:gd name="connsiteX24" fmla="*/ 461914 w 576721"/>
              <a:gd name="connsiteY24" fmla="*/ 113121 h 593888"/>
              <a:gd name="connsiteX25" fmla="*/ 452487 w 576721"/>
              <a:gd name="connsiteY25" fmla="*/ 47134 h 593888"/>
              <a:gd name="connsiteX26" fmla="*/ 424206 w 576721"/>
              <a:gd name="connsiteY26" fmla="*/ 28280 h 593888"/>
              <a:gd name="connsiteX27" fmla="*/ 377072 w 576721"/>
              <a:gd name="connsiteY27" fmla="*/ 18853 h 593888"/>
              <a:gd name="connsiteX28" fmla="*/ 339365 w 576721"/>
              <a:gd name="connsiteY28" fmla="*/ 0 h 59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76721" h="593888">
                <a:moveTo>
                  <a:pt x="339365" y="0"/>
                </a:moveTo>
                <a:lnTo>
                  <a:pt x="339365" y="0"/>
                </a:lnTo>
                <a:cubicBezTo>
                  <a:pt x="301658" y="3142"/>
                  <a:pt x="263567" y="3207"/>
                  <a:pt x="226244" y="9427"/>
                </a:cubicBezTo>
                <a:cubicBezTo>
                  <a:pt x="206641" y="12694"/>
                  <a:pt x="188963" y="23460"/>
                  <a:pt x="169683" y="28280"/>
                </a:cubicBezTo>
                <a:lnTo>
                  <a:pt x="131975" y="37707"/>
                </a:lnTo>
                <a:cubicBezTo>
                  <a:pt x="119406" y="47134"/>
                  <a:pt x="105377" y="54877"/>
                  <a:pt x="94268" y="65987"/>
                </a:cubicBezTo>
                <a:cubicBezTo>
                  <a:pt x="79765" y="80490"/>
                  <a:pt x="45185" y="134378"/>
                  <a:pt x="37707" y="150829"/>
                </a:cubicBezTo>
                <a:cubicBezTo>
                  <a:pt x="29483" y="168921"/>
                  <a:pt x="25138" y="188536"/>
                  <a:pt x="18854" y="207389"/>
                </a:cubicBezTo>
                <a:lnTo>
                  <a:pt x="9427" y="235670"/>
                </a:lnTo>
                <a:lnTo>
                  <a:pt x="0" y="263950"/>
                </a:lnTo>
                <a:cubicBezTo>
                  <a:pt x="3142" y="329938"/>
                  <a:pt x="1233" y="396361"/>
                  <a:pt x="9427" y="461913"/>
                </a:cubicBezTo>
                <a:cubicBezTo>
                  <a:pt x="10832" y="473155"/>
                  <a:pt x="19860" y="482615"/>
                  <a:pt x="28281" y="490194"/>
                </a:cubicBezTo>
                <a:cubicBezTo>
                  <a:pt x="107364" y="561369"/>
                  <a:pt x="78977" y="529936"/>
                  <a:pt x="141402" y="565608"/>
                </a:cubicBezTo>
                <a:cubicBezTo>
                  <a:pt x="192567" y="594845"/>
                  <a:pt x="146116" y="576607"/>
                  <a:pt x="197963" y="593888"/>
                </a:cubicBezTo>
                <a:cubicBezTo>
                  <a:pt x="314227" y="590746"/>
                  <a:pt x="430774" y="593160"/>
                  <a:pt x="546755" y="584462"/>
                </a:cubicBezTo>
                <a:cubicBezTo>
                  <a:pt x="558053" y="583615"/>
                  <a:pt x="573849" y="576875"/>
                  <a:pt x="575035" y="565608"/>
                </a:cubicBezTo>
                <a:cubicBezTo>
                  <a:pt x="580637" y="512391"/>
                  <a:pt x="570932" y="458597"/>
                  <a:pt x="565608" y="405352"/>
                </a:cubicBezTo>
                <a:cubicBezTo>
                  <a:pt x="564619" y="395465"/>
                  <a:pt x="562389" y="384831"/>
                  <a:pt x="556182" y="377072"/>
                </a:cubicBezTo>
                <a:cubicBezTo>
                  <a:pt x="541643" y="358898"/>
                  <a:pt x="510852" y="351970"/>
                  <a:pt x="490194" y="348792"/>
                </a:cubicBezTo>
                <a:cubicBezTo>
                  <a:pt x="462070" y="344465"/>
                  <a:pt x="433633" y="342507"/>
                  <a:pt x="405353" y="339365"/>
                </a:cubicBezTo>
                <a:cubicBezTo>
                  <a:pt x="399068" y="329938"/>
                  <a:pt x="391566" y="321218"/>
                  <a:pt x="386499" y="311084"/>
                </a:cubicBezTo>
                <a:cubicBezTo>
                  <a:pt x="371588" y="281263"/>
                  <a:pt x="372216" y="248951"/>
                  <a:pt x="386499" y="216816"/>
                </a:cubicBezTo>
                <a:cubicBezTo>
                  <a:pt x="391101" y="206463"/>
                  <a:pt x="405353" y="204247"/>
                  <a:pt x="414780" y="197963"/>
                </a:cubicBezTo>
                <a:cubicBezTo>
                  <a:pt x="445593" y="105513"/>
                  <a:pt x="395637" y="236102"/>
                  <a:pt x="452487" y="150829"/>
                </a:cubicBezTo>
                <a:cubicBezTo>
                  <a:pt x="459674" y="140049"/>
                  <a:pt x="458772" y="125690"/>
                  <a:pt x="461914" y="113121"/>
                </a:cubicBezTo>
                <a:cubicBezTo>
                  <a:pt x="458772" y="91125"/>
                  <a:pt x="461511" y="67438"/>
                  <a:pt x="452487" y="47134"/>
                </a:cubicBezTo>
                <a:cubicBezTo>
                  <a:pt x="447885" y="36781"/>
                  <a:pt x="434814" y="32258"/>
                  <a:pt x="424206" y="28280"/>
                </a:cubicBezTo>
                <a:cubicBezTo>
                  <a:pt x="409204" y="22654"/>
                  <a:pt x="392713" y="22329"/>
                  <a:pt x="377072" y="18853"/>
                </a:cubicBezTo>
                <a:cubicBezTo>
                  <a:pt x="317507" y="5617"/>
                  <a:pt x="345649" y="3142"/>
                  <a:pt x="339365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DE8607-F270-FB41-1F8B-4CE624E456ED}"/>
              </a:ext>
            </a:extLst>
          </p:cNvPr>
          <p:cNvSpPr/>
          <p:nvPr/>
        </p:nvSpPr>
        <p:spPr>
          <a:xfrm>
            <a:off x="3553870" y="1796025"/>
            <a:ext cx="531881" cy="496044"/>
          </a:xfrm>
          <a:custGeom>
            <a:avLst/>
            <a:gdLst>
              <a:gd name="connsiteX0" fmla="*/ 641356 w 1061407"/>
              <a:gd name="connsiteY0" fmla="*/ 330740 h 989892"/>
              <a:gd name="connsiteX1" fmla="*/ 641356 w 1061407"/>
              <a:gd name="connsiteY1" fmla="*/ 330740 h 989892"/>
              <a:gd name="connsiteX2" fmla="*/ 631629 w 1061407"/>
              <a:gd name="connsiteY2" fmla="*/ 243191 h 989892"/>
              <a:gd name="connsiteX3" fmla="*/ 621901 w 1061407"/>
              <a:gd name="connsiteY3" fmla="*/ 214008 h 989892"/>
              <a:gd name="connsiteX4" fmla="*/ 612173 w 1061407"/>
              <a:gd name="connsiteY4" fmla="*/ 175098 h 989892"/>
              <a:gd name="connsiteX5" fmla="*/ 602446 w 1061407"/>
              <a:gd name="connsiteY5" fmla="*/ 126460 h 989892"/>
              <a:gd name="connsiteX6" fmla="*/ 582990 w 1061407"/>
              <a:gd name="connsiteY6" fmla="*/ 107004 h 989892"/>
              <a:gd name="connsiteX7" fmla="*/ 553807 w 1061407"/>
              <a:gd name="connsiteY7" fmla="*/ 68094 h 989892"/>
              <a:gd name="connsiteX8" fmla="*/ 475986 w 1061407"/>
              <a:gd name="connsiteY8" fmla="*/ 0 h 989892"/>
              <a:gd name="connsiteX9" fmla="*/ 446803 w 1061407"/>
              <a:gd name="connsiteY9" fmla="*/ 9728 h 989892"/>
              <a:gd name="connsiteX10" fmla="*/ 437076 w 1061407"/>
              <a:gd name="connsiteY10" fmla="*/ 38911 h 989892"/>
              <a:gd name="connsiteX11" fmla="*/ 417620 w 1061407"/>
              <a:gd name="connsiteY11" fmla="*/ 58366 h 989892"/>
              <a:gd name="connsiteX12" fmla="*/ 388437 w 1061407"/>
              <a:gd name="connsiteY12" fmla="*/ 126460 h 989892"/>
              <a:gd name="connsiteX13" fmla="*/ 368982 w 1061407"/>
              <a:gd name="connsiteY13" fmla="*/ 184825 h 989892"/>
              <a:gd name="connsiteX14" fmla="*/ 349527 w 1061407"/>
              <a:gd name="connsiteY14" fmla="*/ 243191 h 989892"/>
              <a:gd name="connsiteX15" fmla="*/ 310616 w 1061407"/>
              <a:gd name="connsiteY15" fmla="*/ 291830 h 989892"/>
              <a:gd name="connsiteX16" fmla="*/ 38242 w 1061407"/>
              <a:gd name="connsiteY16" fmla="*/ 301557 h 989892"/>
              <a:gd name="connsiteX17" fmla="*/ 28514 w 1061407"/>
              <a:gd name="connsiteY17" fmla="*/ 515566 h 989892"/>
              <a:gd name="connsiteX18" fmla="*/ 47969 w 1061407"/>
              <a:gd name="connsiteY18" fmla="*/ 544749 h 989892"/>
              <a:gd name="connsiteX19" fmla="*/ 106335 w 1061407"/>
              <a:gd name="connsiteY19" fmla="*/ 564204 h 989892"/>
              <a:gd name="connsiteX20" fmla="*/ 135518 w 1061407"/>
              <a:gd name="connsiteY20" fmla="*/ 573932 h 989892"/>
              <a:gd name="connsiteX21" fmla="*/ 164701 w 1061407"/>
              <a:gd name="connsiteY21" fmla="*/ 593387 h 989892"/>
              <a:gd name="connsiteX22" fmla="*/ 213339 w 1061407"/>
              <a:gd name="connsiteY22" fmla="*/ 603115 h 989892"/>
              <a:gd name="connsiteX23" fmla="*/ 271705 w 1061407"/>
              <a:gd name="connsiteY23" fmla="*/ 622570 h 989892"/>
              <a:gd name="connsiteX24" fmla="*/ 291161 w 1061407"/>
              <a:gd name="connsiteY24" fmla="*/ 642025 h 989892"/>
              <a:gd name="connsiteX25" fmla="*/ 281433 w 1061407"/>
              <a:gd name="connsiteY25" fmla="*/ 680936 h 989892"/>
              <a:gd name="connsiteX26" fmla="*/ 242522 w 1061407"/>
              <a:gd name="connsiteY26" fmla="*/ 729574 h 989892"/>
              <a:gd name="connsiteX27" fmla="*/ 223067 w 1061407"/>
              <a:gd name="connsiteY27" fmla="*/ 768485 h 989892"/>
              <a:gd name="connsiteX28" fmla="*/ 184156 w 1061407"/>
              <a:gd name="connsiteY28" fmla="*/ 836579 h 989892"/>
              <a:gd name="connsiteX29" fmla="*/ 174429 w 1061407"/>
              <a:gd name="connsiteY29" fmla="*/ 865762 h 989892"/>
              <a:gd name="connsiteX30" fmla="*/ 184156 w 1061407"/>
              <a:gd name="connsiteY30" fmla="*/ 982494 h 989892"/>
              <a:gd name="connsiteX31" fmla="*/ 242522 w 1061407"/>
              <a:gd name="connsiteY31" fmla="*/ 972766 h 989892"/>
              <a:gd name="connsiteX32" fmla="*/ 281433 w 1061407"/>
              <a:gd name="connsiteY32" fmla="*/ 914400 h 989892"/>
              <a:gd name="connsiteX33" fmla="*/ 330071 w 1061407"/>
              <a:gd name="connsiteY33" fmla="*/ 875489 h 989892"/>
              <a:gd name="connsiteX34" fmla="*/ 359254 w 1061407"/>
              <a:gd name="connsiteY34" fmla="*/ 856034 h 989892"/>
              <a:gd name="connsiteX35" fmla="*/ 398165 w 1061407"/>
              <a:gd name="connsiteY35" fmla="*/ 817123 h 989892"/>
              <a:gd name="connsiteX36" fmla="*/ 407893 w 1061407"/>
              <a:gd name="connsiteY36" fmla="*/ 787940 h 989892"/>
              <a:gd name="connsiteX37" fmla="*/ 563535 w 1061407"/>
              <a:gd name="connsiteY37" fmla="*/ 807396 h 989892"/>
              <a:gd name="connsiteX38" fmla="*/ 592718 w 1061407"/>
              <a:gd name="connsiteY38" fmla="*/ 826851 h 989892"/>
              <a:gd name="connsiteX39" fmla="*/ 651084 w 1061407"/>
              <a:gd name="connsiteY39" fmla="*/ 846306 h 989892"/>
              <a:gd name="connsiteX40" fmla="*/ 680267 w 1061407"/>
              <a:gd name="connsiteY40" fmla="*/ 856034 h 989892"/>
              <a:gd name="connsiteX41" fmla="*/ 709450 w 1061407"/>
              <a:gd name="connsiteY41" fmla="*/ 865762 h 989892"/>
              <a:gd name="connsiteX42" fmla="*/ 777544 w 1061407"/>
              <a:gd name="connsiteY42" fmla="*/ 894945 h 989892"/>
              <a:gd name="connsiteX43" fmla="*/ 904003 w 1061407"/>
              <a:gd name="connsiteY43" fmla="*/ 885217 h 989892"/>
              <a:gd name="connsiteX44" fmla="*/ 952642 w 1061407"/>
              <a:gd name="connsiteY44" fmla="*/ 875489 h 989892"/>
              <a:gd name="connsiteX45" fmla="*/ 972097 w 1061407"/>
              <a:gd name="connsiteY45" fmla="*/ 846306 h 989892"/>
              <a:gd name="connsiteX46" fmla="*/ 962369 w 1061407"/>
              <a:gd name="connsiteY46" fmla="*/ 817123 h 989892"/>
              <a:gd name="connsiteX47" fmla="*/ 904003 w 1061407"/>
              <a:gd name="connsiteY47" fmla="*/ 778213 h 989892"/>
              <a:gd name="connsiteX48" fmla="*/ 816454 w 1061407"/>
              <a:gd name="connsiteY48" fmla="*/ 739302 h 989892"/>
              <a:gd name="connsiteX49" fmla="*/ 787271 w 1061407"/>
              <a:gd name="connsiteY49" fmla="*/ 729574 h 989892"/>
              <a:gd name="connsiteX50" fmla="*/ 758088 w 1061407"/>
              <a:gd name="connsiteY50" fmla="*/ 719847 h 989892"/>
              <a:gd name="connsiteX51" fmla="*/ 719178 w 1061407"/>
              <a:gd name="connsiteY51" fmla="*/ 671208 h 989892"/>
              <a:gd name="connsiteX52" fmla="*/ 767816 w 1061407"/>
              <a:gd name="connsiteY52" fmla="*/ 642025 h 989892"/>
              <a:gd name="connsiteX53" fmla="*/ 855365 w 1061407"/>
              <a:gd name="connsiteY53" fmla="*/ 612842 h 989892"/>
              <a:gd name="connsiteX54" fmla="*/ 972097 w 1061407"/>
              <a:gd name="connsiteY54" fmla="*/ 593387 h 989892"/>
              <a:gd name="connsiteX55" fmla="*/ 1030463 w 1061407"/>
              <a:gd name="connsiteY55" fmla="*/ 573932 h 989892"/>
              <a:gd name="connsiteX56" fmla="*/ 1049918 w 1061407"/>
              <a:gd name="connsiteY56" fmla="*/ 544749 h 989892"/>
              <a:gd name="connsiteX57" fmla="*/ 1049918 w 1061407"/>
              <a:gd name="connsiteY57" fmla="*/ 447472 h 989892"/>
              <a:gd name="connsiteX58" fmla="*/ 1020735 w 1061407"/>
              <a:gd name="connsiteY58" fmla="*/ 437745 h 989892"/>
              <a:gd name="connsiteX59" fmla="*/ 1001280 w 1061407"/>
              <a:gd name="connsiteY59" fmla="*/ 418289 h 989892"/>
              <a:gd name="connsiteX60" fmla="*/ 933186 w 1061407"/>
              <a:gd name="connsiteY60" fmla="*/ 398834 h 989892"/>
              <a:gd name="connsiteX61" fmla="*/ 651084 w 1061407"/>
              <a:gd name="connsiteY61" fmla="*/ 389106 h 989892"/>
              <a:gd name="connsiteX62" fmla="*/ 641356 w 1061407"/>
              <a:gd name="connsiteY62" fmla="*/ 330740 h 98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061407" h="989892">
                <a:moveTo>
                  <a:pt x="641356" y="330740"/>
                </a:moveTo>
                <a:lnTo>
                  <a:pt x="641356" y="330740"/>
                </a:lnTo>
                <a:cubicBezTo>
                  <a:pt x="638114" y="301557"/>
                  <a:pt x="636456" y="272154"/>
                  <a:pt x="631629" y="243191"/>
                </a:cubicBezTo>
                <a:cubicBezTo>
                  <a:pt x="629943" y="233077"/>
                  <a:pt x="624718" y="223867"/>
                  <a:pt x="621901" y="214008"/>
                </a:cubicBezTo>
                <a:cubicBezTo>
                  <a:pt x="618228" y="201153"/>
                  <a:pt x="615073" y="188149"/>
                  <a:pt x="612173" y="175098"/>
                </a:cubicBezTo>
                <a:cubicBezTo>
                  <a:pt x="608586" y="158958"/>
                  <a:pt x="608959" y="141657"/>
                  <a:pt x="602446" y="126460"/>
                </a:cubicBezTo>
                <a:cubicBezTo>
                  <a:pt x="598833" y="118030"/>
                  <a:pt x="588862" y="114050"/>
                  <a:pt x="582990" y="107004"/>
                </a:cubicBezTo>
                <a:cubicBezTo>
                  <a:pt x="572611" y="94549"/>
                  <a:pt x="564578" y="80211"/>
                  <a:pt x="553807" y="68094"/>
                </a:cubicBezTo>
                <a:cubicBezTo>
                  <a:pt x="512419" y="21533"/>
                  <a:pt x="516335" y="26899"/>
                  <a:pt x="475986" y="0"/>
                </a:cubicBezTo>
                <a:cubicBezTo>
                  <a:pt x="466258" y="3243"/>
                  <a:pt x="454054" y="2477"/>
                  <a:pt x="446803" y="9728"/>
                </a:cubicBezTo>
                <a:cubicBezTo>
                  <a:pt x="439553" y="16979"/>
                  <a:pt x="442352" y="30118"/>
                  <a:pt x="437076" y="38911"/>
                </a:cubicBezTo>
                <a:cubicBezTo>
                  <a:pt x="432357" y="46775"/>
                  <a:pt x="424105" y="51881"/>
                  <a:pt x="417620" y="58366"/>
                </a:cubicBezTo>
                <a:cubicBezTo>
                  <a:pt x="386316" y="152285"/>
                  <a:pt x="436509" y="6281"/>
                  <a:pt x="388437" y="126460"/>
                </a:cubicBezTo>
                <a:cubicBezTo>
                  <a:pt x="380821" y="145501"/>
                  <a:pt x="375467" y="165370"/>
                  <a:pt x="368982" y="184825"/>
                </a:cubicBezTo>
                <a:lnTo>
                  <a:pt x="349527" y="243191"/>
                </a:lnTo>
                <a:cubicBezTo>
                  <a:pt x="342596" y="263985"/>
                  <a:pt x="340926" y="288897"/>
                  <a:pt x="310616" y="291830"/>
                </a:cubicBezTo>
                <a:cubicBezTo>
                  <a:pt x="220189" y="300581"/>
                  <a:pt x="129033" y="298315"/>
                  <a:pt x="38242" y="301557"/>
                </a:cubicBezTo>
                <a:cubicBezTo>
                  <a:pt x="-25080" y="364879"/>
                  <a:pt x="3833" y="326347"/>
                  <a:pt x="28514" y="515566"/>
                </a:cubicBezTo>
                <a:cubicBezTo>
                  <a:pt x="30026" y="527159"/>
                  <a:pt x="38055" y="538553"/>
                  <a:pt x="47969" y="544749"/>
                </a:cubicBezTo>
                <a:cubicBezTo>
                  <a:pt x="65359" y="555618"/>
                  <a:pt x="86880" y="557719"/>
                  <a:pt x="106335" y="564204"/>
                </a:cubicBezTo>
                <a:cubicBezTo>
                  <a:pt x="116063" y="567447"/>
                  <a:pt x="126986" y="568244"/>
                  <a:pt x="135518" y="573932"/>
                </a:cubicBezTo>
                <a:cubicBezTo>
                  <a:pt x="145246" y="580417"/>
                  <a:pt x="153754" y="589282"/>
                  <a:pt x="164701" y="593387"/>
                </a:cubicBezTo>
                <a:cubicBezTo>
                  <a:pt x="180182" y="599192"/>
                  <a:pt x="197388" y="598765"/>
                  <a:pt x="213339" y="603115"/>
                </a:cubicBezTo>
                <a:cubicBezTo>
                  <a:pt x="233124" y="608511"/>
                  <a:pt x="271705" y="622570"/>
                  <a:pt x="271705" y="622570"/>
                </a:cubicBezTo>
                <a:cubicBezTo>
                  <a:pt x="278190" y="629055"/>
                  <a:pt x="289653" y="632978"/>
                  <a:pt x="291161" y="642025"/>
                </a:cubicBezTo>
                <a:cubicBezTo>
                  <a:pt x="293359" y="655213"/>
                  <a:pt x="286699" y="668647"/>
                  <a:pt x="281433" y="680936"/>
                </a:cubicBezTo>
                <a:cubicBezTo>
                  <a:pt x="272229" y="702413"/>
                  <a:pt x="258213" y="713884"/>
                  <a:pt x="242522" y="729574"/>
                </a:cubicBezTo>
                <a:cubicBezTo>
                  <a:pt x="236037" y="742544"/>
                  <a:pt x="230261" y="755894"/>
                  <a:pt x="223067" y="768485"/>
                </a:cubicBezTo>
                <a:cubicBezTo>
                  <a:pt x="195156" y="817329"/>
                  <a:pt x="209351" y="777790"/>
                  <a:pt x="184156" y="836579"/>
                </a:cubicBezTo>
                <a:cubicBezTo>
                  <a:pt x="180117" y="846004"/>
                  <a:pt x="177671" y="856034"/>
                  <a:pt x="174429" y="865762"/>
                </a:cubicBezTo>
                <a:cubicBezTo>
                  <a:pt x="177671" y="904673"/>
                  <a:pt x="163194" y="949553"/>
                  <a:pt x="184156" y="982494"/>
                </a:cubicBezTo>
                <a:cubicBezTo>
                  <a:pt x="194745" y="999134"/>
                  <a:pt x="226364" y="984077"/>
                  <a:pt x="242522" y="972766"/>
                </a:cubicBezTo>
                <a:cubicBezTo>
                  <a:pt x="261678" y="959357"/>
                  <a:pt x="261978" y="927370"/>
                  <a:pt x="281433" y="914400"/>
                </a:cubicBezTo>
                <a:cubicBezTo>
                  <a:pt x="371255" y="854520"/>
                  <a:pt x="260766" y="930934"/>
                  <a:pt x="330071" y="875489"/>
                </a:cubicBezTo>
                <a:cubicBezTo>
                  <a:pt x="339200" y="868186"/>
                  <a:pt x="350377" y="863642"/>
                  <a:pt x="359254" y="856034"/>
                </a:cubicBezTo>
                <a:cubicBezTo>
                  <a:pt x="373181" y="844097"/>
                  <a:pt x="398165" y="817123"/>
                  <a:pt x="398165" y="817123"/>
                </a:cubicBezTo>
                <a:cubicBezTo>
                  <a:pt x="401408" y="807395"/>
                  <a:pt x="397758" y="789499"/>
                  <a:pt x="407893" y="787940"/>
                </a:cubicBezTo>
                <a:cubicBezTo>
                  <a:pt x="461568" y="779682"/>
                  <a:pt x="512898" y="794736"/>
                  <a:pt x="563535" y="807396"/>
                </a:cubicBezTo>
                <a:cubicBezTo>
                  <a:pt x="573263" y="813881"/>
                  <a:pt x="582034" y="822103"/>
                  <a:pt x="592718" y="826851"/>
                </a:cubicBezTo>
                <a:cubicBezTo>
                  <a:pt x="611458" y="835180"/>
                  <a:pt x="631629" y="839821"/>
                  <a:pt x="651084" y="846306"/>
                </a:cubicBezTo>
                <a:lnTo>
                  <a:pt x="680267" y="856034"/>
                </a:lnTo>
                <a:cubicBezTo>
                  <a:pt x="689995" y="859277"/>
                  <a:pt x="700279" y="861176"/>
                  <a:pt x="709450" y="865762"/>
                </a:cubicBezTo>
                <a:cubicBezTo>
                  <a:pt x="757532" y="889803"/>
                  <a:pt x="734604" y="880631"/>
                  <a:pt x="777544" y="894945"/>
                </a:cubicBezTo>
                <a:cubicBezTo>
                  <a:pt x="819697" y="891702"/>
                  <a:pt x="861984" y="889886"/>
                  <a:pt x="904003" y="885217"/>
                </a:cubicBezTo>
                <a:cubicBezTo>
                  <a:pt x="920436" y="883391"/>
                  <a:pt x="938286" y="883692"/>
                  <a:pt x="952642" y="875489"/>
                </a:cubicBezTo>
                <a:cubicBezTo>
                  <a:pt x="962793" y="869689"/>
                  <a:pt x="965612" y="856034"/>
                  <a:pt x="972097" y="846306"/>
                </a:cubicBezTo>
                <a:cubicBezTo>
                  <a:pt x="968854" y="836578"/>
                  <a:pt x="969620" y="824374"/>
                  <a:pt x="962369" y="817123"/>
                </a:cubicBezTo>
                <a:cubicBezTo>
                  <a:pt x="945835" y="800589"/>
                  <a:pt x="923458" y="791183"/>
                  <a:pt x="904003" y="778213"/>
                </a:cubicBezTo>
                <a:cubicBezTo>
                  <a:pt x="857753" y="747380"/>
                  <a:pt x="885918" y="762457"/>
                  <a:pt x="816454" y="739302"/>
                </a:cubicBezTo>
                <a:lnTo>
                  <a:pt x="787271" y="729574"/>
                </a:lnTo>
                <a:lnTo>
                  <a:pt x="758088" y="719847"/>
                </a:lnTo>
                <a:cubicBezTo>
                  <a:pt x="752828" y="714586"/>
                  <a:pt x="715088" y="679388"/>
                  <a:pt x="719178" y="671208"/>
                </a:cubicBezTo>
                <a:cubicBezTo>
                  <a:pt x="727634" y="654297"/>
                  <a:pt x="750905" y="650481"/>
                  <a:pt x="767816" y="642025"/>
                </a:cubicBezTo>
                <a:cubicBezTo>
                  <a:pt x="794739" y="628563"/>
                  <a:pt x="825644" y="618415"/>
                  <a:pt x="855365" y="612842"/>
                </a:cubicBezTo>
                <a:cubicBezTo>
                  <a:pt x="894137" y="605572"/>
                  <a:pt x="934674" y="605861"/>
                  <a:pt x="972097" y="593387"/>
                </a:cubicBezTo>
                <a:lnTo>
                  <a:pt x="1030463" y="573932"/>
                </a:lnTo>
                <a:cubicBezTo>
                  <a:pt x="1036948" y="564204"/>
                  <a:pt x="1044690" y="555206"/>
                  <a:pt x="1049918" y="544749"/>
                </a:cubicBezTo>
                <a:cubicBezTo>
                  <a:pt x="1064893" y="514800"/>
                  <a:pt x="1065578" y="478791"/>
                  <a:pt x="1049918" y="447472"/>
                </a:cubicBezTo>
                <a:cubicBezTo>
                  <a:pt x="1045332" y="438301"/>
                  <a:pt x="1030463" y="440987"/>
                  <a:pt x="1020735" y="437745"/>
                </a:cubicBezTo>
                <a:cubicBezTo>
                  <a:pt x="1014250" y="431260"/>
                  <a:pt x="1009144" y="423008"/>
                  <a:pt x="1001280" y="418289"/>
                </a:cubicBezTo>
                <a:cubicBezTo>
                  <a:pt x="993271" y="413484"/>
                  <a:pt x="937899" y="399120"/>
                  <a:pt x="933186" y="398834"/>
                </a:cubicBezTo>
                <a:cubicBezTo>
                  <a:pt x="839268" y="393142"/>
                  <a:pt x="745118" y="392349"/>
                  <a:pt x="651084" y="389106"/>
                </a:cubicBezTo>
                <a:cubicBezTo>
                  <a:pt x="619608" y="357630"/>
                  <a:pt x="642977" y="340468"/>
                  <a:pt x="641356" y="33074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41C338C-47CB-DCF6-EE6C-E467441DD8C3}"/>
              </a:ext>
            </a:extLst>
          </p:cNvPr>
          <p:cNvSpPr/>
          <p:nvPr/>
        </p:nvSpPr>
        <p:spPr>
          <a:xfrm>
            <a:off x="2571560" y="2600137"/>
            <a:ext cx="354701" cy="490506"/>
          </a:xfrm>
          <a:custGeom>
            <a:avLst/>
            <a:gdLst>
              <a:gd name="connsiteX0" fmla="*/ 272374 w 527578"/>
              <a:gd name="connsiteY0" fmla="*/ 0 h 729574"/>
              <a:gd name="connsiteX1" fmla="*/ 272374 w 527578"/>
              <a:gd name="connsiteY1" fmla="*/ 0 h 729574"/>
              <a:gd name="connsiteX2" fmla="*/ 214008 w 527578"/>
              <a:gd name="connsiteY2" fmla="*/ 136187 h 729574"/>
              <a:gd name="connsiteX3" fmla="*/ 145915 w 527578"/>
              <a:gd name="connsiteY3" fmla="*/ 408561 h 729574"/>
              <a:gd name="connsiteX4" fmla="*/ 126459 w 527578"/>
              <a:gd name="connsiteY4" fmla="*/ 466927 h 729574"/>
              <a:gd name="connsiteX5" fmla="*/ 107004 w 527578"/>
              <a:gd name="connsiteY5" fmla="*/ 505838 h 729574"/>
              <a:gd name="connsiteX6" fmla="*/ 87549 w 527578"/>
              <a:gd name="connsiteY6" fmla="*/ 583659 h 729574"/>
              <a:gd name="connsiteX7" fmla="*/ 38910 w 527578"/>
              <a:gd name="connsiteY7" fmla="*/ 661481 h 729574"/>
              <a:gd name="connsiteX8" fmla="*/ 19455 w 527578"/>
              <a:gd name="connsiteY8" fmla="*/ 700391 h 729574"/>
              <a:gd name="connsiteX9" fmla="*/ 0 w 527578"/>
              <a:gd name="connsiteY9" fmla="*/ 729574 h 729574"/>
              <a:gd name="connsiteX10" fmla="*/ 38910 w 527578"/>
              <a:gd name="connsiteY10" fmla="*/ 642025 h 729574"/>
              <a:gd name="connsiteX11" fmla="*/ 77821 w 527578"/>
              <a:gd name="connsiteY11" fmla="*/ 583659 h 729574"/>
              <a:gd name="connsiteX12" fmla="*/ 107004 w 527578"/>
              <a:gd name="connsiteY12" fmla="*/ 573932 h 729574"/>
              <a:gd name="connsiteX13" fmla="*/ 116732 w 527578"/>
              <a:gd name="connsiteY13" fmla="*/ 544749 h 729574"/>
              <a:gd name="connsiteX14" fmla="*/ 204281 w 527578"/>
              <a:gd name="connsiteY14" fmla="*/ 515566 h 729574"/>
              <a:gd name="connsiteX15" fmla="*/ 496110 w 527578"/>
              <a:gd name="connsiteY15" fmla="*/ 505838 h 729574"/>
              <a:gd name="connsiteX16" fmla="*/ 525293 w 527578"/>
              <a:gd name="connsiteY16" fmla="*/ 389106 h 729574"/>
              <a:gd name="connsiteX17" fmla="*/ 496110 w 527578"/>
              <a:gd name="connsiteY17" fmla="*/ 243191 h 729574"/>
              <a:gd name="connsiteX18" fmla="*/ 466927 w 527578"/>
              <a:gd name="connsiteY18" fmla="*/ 233464 h 729574"/>
              <a:gd name="connsiteX19" fmla="*/ 369651 w 527578"/>
              <a:gd name="connsiteY19" fmla="*/ 214008 h 729574"/>
              <a:gd name="connsiteX20" fmla="*/ 369651 w 527578"/>
              <a:gd name="connsiteY20" fmla="*/ 58366 h 729574"/>
              <a:gd name="connsiteX21" fmla="*/ 350196 w 527578"/>
              <a:gd name="connsiteY21" fmla="*/ 29183 h 729574"/>
              <a:gd name="connsiteX22" fmla="*/ 321013 w 527578"/>
              <a:gd name="connsiteY22" fmla="*/ 19455 h 729574"/>
              <a:gd name="connsiteX23" fmla="*/ 272374 w 527578"/>
              <a:gd name="connsiteY23" fmla="*/ 0 h 72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7578" h="729574">
                <a:moveTo>
                  <a:pt x="272374" y="0"/>
                </a:moveTo>
                <a:lnTo>
                  <a:pt x="272374" y="0"/>
                </a:lnTo>
                <a:cubicBezTo>
                  <a:pt x="242007" y="60734"/>
                  <a:pt x="230109" y="75360"/>
                  <a:pt x="214008" y="136187"/>
                </a:cubicBezTo>
                <a:cubicBezTo>
                  <a:pt x="190060" y="226657"/>
                  <a:pt x="175510" y="319778"/>
                  <a:pt x="145915" y="408561"/>
                </a:cubicBezTo>
                <a:cubicBezTo>
                  <a:pt x="139430" y="428016"/>
                  <a:pt x="135630" y="448584"/>
                  <a:pt x="126459" y="466927"/>
                </a:cubicBezTo>
                <a:lnTo>
                  <a:pt x="107004" y="505838"/>
                </a:lnTo>
                <a:cubicBezTo>
                  <a:pt x="101296" y="534378"/>
                  <a:pt x="98764" y="557491"/>
                  <a:pt x="87549" y="583659"/>
                </a:cubicBezTo>
                <a:cubicBezTo>
                  <a:pt x="60663" y="646394"/>
                  <a:pt x="76995" y="600546"/>
                  <a:pt x="38910" y="661481"/>
                </a:cubicBezTo>
                <a:cubicBezTo>
                  <a:pt x="31225" y="673778"/>
                  <a:pt x="26649" y="687801"/>
                  <a:pt x="19455" y="700391"/>
                </a:cubicBezTo>
                <a:cubicBezTo>
                  <a:pt x="13655" y="710542"/>
                  <a:pt x="6485" y="719846"/>
                  <a:pt x="0" y="729574"/>
                </a:cubicBezTo>
                <a:cubicBezTo>
                  <a:pt x="17365" y="625380"/>
                  <a:pt x="-7969" y="707655"/>
                  <a:pt x="38910" y="642025"/>
                </a:cubicBezTo>
                <a:cubicBezTo>
                  <a:pt x="56645" y="617197"/>
                  <a:pt x="51795" y="599274"/>
                  <a:pt x="77821" y="583659"/>
                </a:cubicBezTo>
                <a:cubicBezTo>
                  <a:pt x="86614" y="578383"/>
                  <a:pt x="97276" y="577174"/>
                  <a:pt x="107004" y="573932"/>
                </a:cubicBezTo>
                <a:cubicBezTo>
                  <a:pt x="110247" y="564204"/>
                  <a:pt x="109481" y="552000"/>
                  <a:pt x="116732" y="544749"/>
                </a:cubicBezTo>
                <a:cubicBezTo>
                  <a:pt x="133603" y="527878"/>
                  <a:pt x="183413" y="516758"/>
                  <a:pt x="204281" y="515566"/>
                </a:cubicBezTo>
                <a:cubicBezTo>
                  <a:pt x="301453" y="510013"/>
                  <a:pt x="398834" y="509081"/>
                  <a:pt x="496110" y="505838"/>
                </a:cubicBezTo>
                <a:cubicBezTo>
                  <a:pt x="521803" y="428761"/>
                  <a:pt x="512195" y="467701"/>
                  <a:pt x="525293" y="389106"/>
                </a:cubicBezTo>
                <a:cubicBezTo>
                  <a:pt x="522201" y="348902"/>
                  <a:pt x="543869" y="271846"/>
                  <a:pt x="496110" y="243191"/>
                </a:cubicBezTo>
                <a:cubicBezTo>
                  <a:pt x="487317" y="237916"/>
                  <a:pt x="476918" y="235770"/>
                  <a:pt x="466927" y="233464"/>
                </a:cubicBezTo>
                <a:cubicBezTo>
                  <a:pt x="434706" y="226028"/>
                  <a:pt x="369651" y="214008"/>
                  <a:pt x="369651" y="214008"/>
                </a:cubicBezTo>
                <a:cubicBezTo>
                  <a:pt x="376627" y="151230"/>
                  <a:pt x="387658" y="118389"/>
                  <a:pt x="369651" y="58366"/>
                </a:cubicBezTo>
                <a:cubicBezTo>
                  <a:pt x="366292" y="47168"/>
                  <a:pt x="359325" y="36486"/>
                  <a:pt x="350196" y="29183"/>
                </a:cubicBezTo>
                <a:cubicBezTo>
                  <a:pt x="342189" y="22777"/>
                  <a:pt x="330741" y="22698"/>
                  <a:pt x="321013" y="19455"/>
                </a:cubicBezTo>
                <a:cubicBezTo>
                  <a:pt x="292386" y="-9171"/>
                  <a:pt x="280480" y="3242"/>
                  <a:pt x="272374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Moon 43">
            <a:extLst>
              <a:ext uri="{FF2B5EF4-FFF2-40B4-BE49-F238E27FC236}">
                <a16:creationId xmlns:a16="http://schemas.microsoft.com/office/drawing/2014/main" id="{40E9BE2A-497B-926B-4B6F-85F273FE8E35}"/>
              </a:ext>
            </a:extLst>
          </p:cNvPr>
          <p:cNvSpPr/>
          <p:nvPr/>
        </p:nvSpPr>
        <p:spPr>
          <a:xfrm rot="20382263">
            <a:off x="6559237" y="1409074"/>
            <a:ext cx="256108" cy="351771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6774DD-360F-DE48-4CF3-DB323FBC5259}"/>
              </a:ext>
            </a:extLst>
          </p:cNvPr>
          <p:cNvCxnSpPr>
            <a:cxnSpLocks/>
          </p:cNvCxnSpPr>
          <p:nvPr/>
        </p:nvCxnSpPr>
        <p:spPr>
          <a:xfrm flipV="1">
            <a:off x="3983474" y="1688676"/>
            <a:ext cx="215301" cy="21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3BB4FDC-66E5-C45D-C18B-FB6FC5EAB109}"/>
              </a:ext>
            </a:extLst>
          </p:cNvPr>
          <p:cNvCxnSpPr>
            <a:cxnSpLocks/>
          </p:cNvCxnSpPr>
          <p:nvPr/>
        </p:nvCxnSpPr>
        <p:spPr>
          <a:xfrm flipV="1">
            <a:off x="2967461" y="2189476"/>
            <a:ext cx="586409" cy="46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9B62FCFC-615E-1A9C-5ACD-1AB598601D85}"/>
              </a:ext>
            </a:extLst>
          </p:cNvPr>
          <p:cNvSpPr/>
          <p:nvPr/>
        </p:nvSpPr>
        <p:spPr>
          <a:xfrm>
            <a:off x="5855951" y="1826751"/>
            <a:ext cx="459343" cy="39928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B8F2B6B-7A75-A863-CEE1-FEC1D77FB7AA}"/>
              </a:ext>
            </a:extLst>
          </p:cNvPr>
          <p:cNvCxnSpPr>
            <a:cxnSpLocks/>
          </p:cNvCxnSpPr>
          <p:nvPr/>
        </p:nvCxnSpPr>
        <p:spPr>
          <a:xfrm flipV="1">
            <a:off x="6276825" y="1667241"/>
            <a:ext cx="215301" cy="21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6B7760-4E65-8534-B2BE-66F2E87A299C}"/>
              </a:ext>
            </a:extLst>
          </p:cNvPr>
          <p:cNvCxnSpPr>
            <a:cxnSpLocks/>
          </p:cNvCxnSpPr>
          <p:nvPr/>
        </p:nvCxnSpPr>
        <p:spPr>
          <a:xfrm>
            <a:off x="4238817" y="2098580"/>
            <a:ext cx="15648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0C1BD76-B9E4-6092-35CF-57DB302960A5}"/>
              </a:ext>
            </a:extLst>
          </p:cNvPr>
          <p:cNvSpPr txBox="1"/>
          <p:nvPr/>
        </p:nvSpPr>
        <p:spPr>
          <a:xfrm>
            <a:off x="8145787" y="1241716"/>
            <a:ext cx="3455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Mathematical concepts are “crisper idealizations” 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8218729-C8A2-804A-9F1C-52C35AE34322}"/>
              </a:ext>
            </a:extLst>
          </p:cNvPr>
          <p:cNvCxnSpPr>
            <a:cxnSpLocks/>
          </p:cNvCxnSpPr>
          <p:nvPr/>
        </p:nvCxnSpPr>
        <p:spPr>
          <a:xfrm flipH="1">
            <a:off x="6465235" y="1658371"/>
            <a:ext cx="1578927" cy="3613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A9FC63F-81A3-82BD-D701-A6248E5E344B}"/>
              </a:ext>
            </a:extLst>
          </p:cNvPr>
          <p:cNvSpPr txBox="1"/>
          <p:nvPr/>
        </p:nvSpPr>
        <p:spPr>
          <a:xfrm>
            <a:off x="158812" y="3253669"/>
            <a:ext cx="296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physical concepts may not be formalized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8392AF-34FC-6FE4-7B85-C5706279A65E}"/>
              </a:ext>
            </a:extLst>
          </p:cNvPr>
          <p:cNvSpPr txBox="1"/>
          <p:nvPr/>
        </p:nvSpPr>
        <p:spPr>
          <a:xfrm>
            <a:off x="392603" y="1289537"/>
            <a:ext cx="274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 objects are “fuzzy”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6A0193-06F3-CBEC-2B88-034B2F194460}"/>
              </a:ext>
            </a:extLst>
          </p:cNvPr>
          <p:cNvSpPr txBox="1"/>
          <p:nvPr/>
        </p:nvSpPr>
        <p:spPr>
          <a:xfrm>
            <a:off x="7663143" y="2641547"/>
            <a:ext cx="296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Mapping may not be unique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7753F1E-2089-136D-B8E3-C57B443FCC5E}"/>
              </a:ext>
            </a:extLst>
          </p:cNvPr>
          <p:cNvCxnSpPr>
            <a:cxnSpLocks/>
          </p:cNvCxnSpPr>
          <p:nvPr/>
        </p:nvCxnSpPr>
        <p:spPr>
          <a:xfrm>
            <a:off x="3028463" y="1586403"/>
            <a:ext cx="535048" cy="219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1FDEB44-D357-9382-1B22-6E19387F6590}"/>
              </a:ext>
            </a:extLst>
          </p:cNvPr>
          <p:cNvCxnSpPr>
            <a:cxnSpLocks/>
          </p:cNvCxnSpPr>
          <p:nvPr/>
        </p:nvCxnSpPr>
        <p:spPr>
          <a:xfrm flipV="1">
            <a:off x="2024507" y="2889351"/>
            <a:ext cx="532483" cy="343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FCA91CB-0934-98FF-8A7D-F2AF56D496D2}"/>
              </a:ext>
            </a:extLst>
          </p:cNvPr>
          <p:cNvSpPr/>
          <p:nvPr/>
        </p:nvSpPr>
        <p:spPr>
          <a:xfrm>
            <a:off x="3650953" y="3133255"/>
            <a:ext cx="117308" cy="125097"/>
          </a:xfrm>
          <a:custGeom>
            <a:avLst/>
            <a:gdLst>
              <a:gd name="connsiteX0" fmla="*/ 84063 w 200795"/>
              <a:gd name="connsiteY0" fmla="*/ 9846 h 214127"/>
              <a:gd name="connsiteX1" fmla="*/ 84063 w 200795"/>
              <a:gd name="connsiteY1" fmla="*/ 9846 h 214127"/>
              <a:gd name="connsiteX2" fmla="*/ 6242 w 200795"/>
              <a:gd name="connsiteY2" fmla="*/ 48757 h 214127"/>
              <a:gd name="connsiteX3" fmla="*/ 35425 w 200795"/>
              <a:gd name="connsiteY3" fmla="*/ 184944 h 214127"/>
              <a:gd name="connsiteX4" fmla="*/ 93791 w 200795"/>
              <a:gd name="connsiteY4" fmla="*/ 214127 h 214127"/>
              <a:gd name="connsiteX5" fmla="*/ 181340 w 200795"/>
              <a:gd name="connsiteY5" fmla="*/ 184944 h 214127"/>
              <a:gd name="connsiteX6" fmla="*/ 200795 w 200795"/>
              <a:gd name="connsiteY6" fmla="*/ 155761 h 214127"/>
              <a:gd name="connsiteX7" fmla="*/ 181340 w 200795"/>
              <a:gd name="connsiteY7" fmla="*/ 48757 h 214127"/>
              <a:gd name="connsiteX8" fmla="*/ 161884 w 200795"/>
              <a:gd name="connsiteY8" fmla="*/ 29301 h 214127"/>
              <a:gd name="connsiteX9" fmla="*/ 103518 w 200795"/>
              <a:gd name="connsiteY9" fmla="*/ 118 h 214127"/>
              <a:gd name="connsiteX10" fmla="*/ 84063 w 200795"/>
              <a:gd name="connsiteY10" fmla="*/ 9846 h 21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95" h="214127">
                <a:moveTo>
                  <a:pt x="84063" y="9846"/>
                </a:moveTo>
                <a:lnTo>
                  <a:pt x="84063" y="9846"/>
                </a:lnTo>
                <a:cubicBezTo>
                  <a:pt x="58123" y="22816"/>
                  <a:pt x="18507" y="22476"/>
                  <a:pt x="6242" y="48757"/>
                </a:cubicBezTo>
                <a:cubicBezTo>
                  <a:pt x="-8915" y="81235"/>
                  <a:pt x="4570" y="154090"/>
                  <a:pt x="35425" y="184944"/>
                </a:cubicBezTo>
                <a:cubicBezTo>
                  <a:pt x="54282" y="203801"/>
                  <a:pt x="70056" y="206215"/>
                  <a:pt x="93791" y="214127"/>
                </a:cubicBezTo>
                <a:cubicBezTo>
                  <a:pt x="132920" y="207605"/>
                  <a:pt x="153984" y="212300"/>
                  <a:pt x="181340" y="184944"/>
                </a:cubicBezTo>
                <a:cubicBezTo>
                  <a:pt x="189607" y="176677"/>
                  <a:pt x="194310" y="165489"/>
                  <a:pt x="200795" y="155761"/>
                </a:cubicBezTo>
                <a:cubicBezTo>
                  <a:pt x="199455" y="145039"/>
                  <a:pt x="195545" y="72432"/>
                  <a:pt x="181340" y="48757"/>
                </a:cubicBezTo>
                <a:cubicBezTo>
                  <a:pt x="176621" y="40892"/>
                  <a:pt x="169046" y="35030"/>
                  <a:pt x="161884" y="29301"/>
                </a:cubicBezTo>
                <a:cubicBezTo>
                  <a:pt x="142756" y="13998"/>
                  <a:pt x="127491" y="4913"/>
                  <a:pt x="103518" y="118"/>
                </a:cubicBezTo>
                <a:cubicBezTo>
                  <a:pt x="97159" y="-1154"/>
                  <a:pt x="87306" y="8225"/>
                  <a:pt x="84063" y="9846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8B598C9-3A02-EEDA-DCB1-E86BB1DB9BF6}"/>
              </a:ext>
            </a:extLst>
          </p:cNvPr>
          <p:cNvSpPr/>
          <p:nvPr/>
        </p:nvSpPr>
        <p:spPr>
          <a:xfrm>
            <a:off x="4224562" y="2675715"/>
            <a:ext cx="104142" cy="113662"/>
          </a:xfrm>
          <a:custGeom>
            <a:avLst/>
            <a:gdLst>
              <a:gd name="connsiteX0" fmla="*/ 0 w 178259"/>
              <a:gd name="connsiteY0" fmla="*/ 29183 h 194554"/>
              <a:gd name="connsiteX1" fmla="*/ 0 w 178259"/>
              <a:gd name="connsiteY1" fmla="*/ 29183 h 194554"/>
              <a:gd name="connsiteX2" fmla="*/ 87549 w 178259"/>
              <a:gd name="connsiteY2" fmla="*/ 9728 h 194554"/>
              <a:gd name="connsiteX3" fmla="*/ 116732 w 178259"/>
              <a:gd name="connsiteY3" fmla="*/ 0 h 194554"/>
              <a:gd name="connsiteX4" fmla="*/ 145915 w 178259"/>
              <a:gd name="connsiteY4" fmla="*/ 9728 h 194554"/>
              <a:gd name="connsiteX5" fmla="*/ 155643 w 178259"/>
              <a:gd name="connsiteY5" fmla="*/ 184826 h 194554"/>
              <a:gd name="connsiteX6" fmla="*/ 126460 w 178259"/>
              <a:gd name="connsiteY6" fmla="*/ 194554 h 194554"/>
              <a:gd name="connsiteX7" fmla="*/ 29183 w 178259"/>
              <a:gd name="connsiteY7" fmla="*/ 184826 h 194554"/>
              <a:gd name="connsiteX8" fmla="*/ 19455 w 178259"/>
              <a:gd name="connsiteY8" fmla="*/ 155643 h 194554"/>
              <a:gd name="connsiteX9" fmla="*/ 29183 w 178259"/>
              <a:gd name="connsiteY9" fmla="*/ 48639 h 194554"/>
              <a:gd name="connsiteX10" fmla="*/ 0 w 178259"/>
              <a:gd name="connsiteY10" fmla="*/ 29183 h 19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259" h="194554">
                <a:moveTo>
                  <a:pt x="0" y="29183"/>
                </a:moveTo>
                <a:lnTo>
                  <a:pt x="0" y="29183"/>
                </a:lnTo>
                <a:cubicBezTo>
                  <a:pt x="29183" y="22698"/>
                  <a:pt x="58547" y="16979"/>
                  <a:pt x="87549" y="9728"/>
                </a:cubicBezTo>
                <a:cubicBezTo>
                  <a:pt x="97497" y="7241"/>
                  <a:pt x="106478" y="0"/>
                  <a:pt x="116732" y="0"/>
                </a:cubicBezTo>
                <a:cubicBezTo>
                  <a:pt x="126986" y="0"/>
                  <a:pt x="136187" y="6485"/>
                  <a:pt x="145915" y="9728"/>
                </a:cubicBezTo>
                <a:cubicBezTo>
                  <a:pt x="187370" y="71912"/>
                  <a:pt x="187158" y="58762"/>
                  <a:pt x="155643" y="184826"/>
                </a:cubicBezTo>
                <a:cubicBezTo>
                  <a:pt x="153156" y="194774"/>
                  <a:pt x="136188" y="191311"/>
                  <a:pt x="126460" y="194554"/>
                </a:cubicBezTo>
                <a:cubicBezTo>
                  <a:pt x="94034" y="191311"/>
                  <a:pt x="59808" y="195963"/>
                  <a:pt x="29183" y="184826"/>
                </a:cubicBezTo>
                <a:cubicBezTo>
                  <a:pt x="19546" y="181322"/>
                  <a:pt x="19455" y="165897"/>
                  <a:pt x="19455" y="155643"/>
                </a:cubicBezTo>
                <a:cubicBezTo>
                  <a:pt x="19455" y="119828"/>
                  <a:pt x="26436" y="84349"/>
                  <a:pt x="29183" y="48639"/>
                </a:cubicBezTo>
                <a:cubicBezTo>
                  <a:pt x="29680" y="42173"/>
                  <a:pt x="4864" y="32426"/>
                  <a:pt x="0" y="29183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FF83AC8-30B0-66CC-F13C-86ECE501D892}"/>
              </a:ext>
            </a:extLst>
          </p:cNvPr>
          <p:cNvSpPr/>
          <p:nvPr/>
        </p:nvSpPr>
        <p:spPr>
          <a:xfrm>
            <a:off x="3984966" y="2907228"/>
            <a:ext cx="113662" cy="119345"/>
          </a:xfrm>
          <a:custGeom>
            <a:avLst/>
            <a:gdLst>
              <a:gd name="connsiteX0" fmla="*/ 87549 w 194553"/>
              <a:gd name="connsiteY0" fmla="*/ 0 h 204281"/>
              <a:gd name="connsiteX1" fmla="*/ 87549 w 194553"/>
              <a:gd name="connsiteY1" fmla="*/ 0 h 204281"/>
              <a:gd name="connsiteX2" fmla="*/ 0 w 194553"/>
              <a:gd name="connsiteY2" fmla="*/ 107004 h 204281"/>
              <a:gd name="connsiteX3" fmla="*/ 9727 w 194553"/>
              <a:gd name="connsiteY3" fmla="*/ 204281 h 204281"/>
              <a:gd name="connsiteX4" fmla="*/ 145914 w 194553"/>
              <a:gd name="connsiteY4" fmla="*/ 184825 h 204281"/>
              <a:gd name="connsiteX5" fmla="*/ 194553 w 194553"/>
              <a:gd name="connsiteY5" fmla="*/ 155642 h 204281"/>
              <a:gd name="connsiteX6" fmla="*/ 175097 w 194553"/>
              <a:gd name="connsiteY6" fmla="*/ 68093 h 204281"/>
              <a:gd name="connsiteX7" fmla="*/ 116731 w 194553"/>
              <a:gd name="connsiteY7" fmla="*/ 38910 h 204281"/>
              <a:gd name="connsiteX8" fmla="*/ 87549 w 194553"/>
              <a:gd name="connsiteY8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553" h="204281">
                <a:moveTo>
                  <a:pt x="87549" y="0"/>
                </a:moveTo>
                <a:lnTo>
                  <a:pt x="87549" y="0"/>
                </a:lnTo>
                <a:cubicBezTo>
                  <a:pt x="78780" y="8769"/>
                  <a:pt x="0" y="64345"/>
                  <a:pt x="0" y="107004"/>
                </a:cubicBezTo>
                <a:cubicBezTo>
                  <a:pt x="0" y="139591"/>
                  <a:pt x="6485" y="171855"/>
                  <a:pt x="9727" y="204281"/>
                </a:cubicBezTo>
                <a:cubicBezTo>
                  <a:pt x="55123" y="197796"/>
                  <a:pt x="113488" y="217250"/>
                  <a:pt x="145914" y="184825"/>
                </a:cubicBezTo>
                <a:cubicBezTo>
                  <a:pt x="172621" y="158120"/>
                  <a:pt x="156669" y="168270"/>
                  <a:pt x="194553" y="155642"/>
                </a:cubicBezTo>
                <a:cubicBezTo>
                  <a:pt x="194453" y="155044"/>
                  <a:pt x="185180" y="80697"/>
                  <a:pt x="175097" y="68093"/>
                </a:cubicBezTo>
                <a:cubicBezTo>
                  <a:pt x="164755" y="55166"/>
                  <a:pt x="132997" y="41621"/>
                  <a:pt x="116731" y="38910"/>
                </a:cubicBezTo>
                <a:cubicBezTo>
                  <a:pt x="107136" y="37311"/>
                  <a:pt x="92413" y="6485"/>
                  <a:pt x="8754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AA0FC4D-0791-0997-9CA3-544AC0342F8B}"/>
              </a:ext>
            </a:extLst>
          </p:cNvPr>
          <p:cNvSpPr/>
          <p:nvPr/>
        </p:nvSpPr>
        <p:spPr>
          <a:xfrm>
            <a:off x="4005949" y="3237138"/>
            <a:ext cx="125028" cy="153444"/>
          </a:xfrm>
          <a:custGeom>
            <a:avLst/>
            <a:gdLst>
              <a:gd name="connsiteX0" fmla="*/ 0 w 214008"/>
              <a:gd name="connsiteY0" fmla="*/ 136188 h 262647"/>
              <a:gd name="connsiteX1" fmla="*/ 0 w 214008"/>
              <a:gd name="connsiteY1" fmla="*/ 136188 h 262647"/>
              <a:gd name="connsiteX2" fmla="*/ 9728 w 214008"/>
              <a:gd name="connsiteY2" fmla="*/ 48639 h 262647"/>
              <a:gd name="connsiteX3" fmla="*/ 38911 w 214008"/>
              <a:gd name="connsiteY3" fmla="*/ 38911 h 262647"/>
              <a:gd name="connsiteX4" fmla="*/ 77821 w 214008"/>
              <a:gd name="connsiteY4" fmla="*/ 19456 h 262647"/>
              <a:gd name="connsiteX5" fmla="*/ 116732 w 214008"/>
              <a:gd name="connsiteY5" fmla="*/ 9728 h 262647"/>
              <a:gd name="connsiteX6" fmla="*/ 145915 w 214008"/>
              <a:gd name="connsiteY6" fmla="*/ 0 h 262647"/>
              <a:gd name="connsiteX7" fmla="*/ 175098 w 214008"/>
              <a:gd name="connsiteY7" fmla="*/ 9728 h 262647"/>
              <a:gd name="connsiteX8" fmla="*/ 214008 w 214008"/>
              <a:gd name="connsiteY8" fmla="*/ 68094 h 262647"/>
              <a:gd name="connsiteX9" fmla="*/ 204281 w 214008"/>
              <a:gd name="connsiteY9" fmla="*/ 223737 h 262647"/>
              <a:gd name="connsiteX10" fmla="*/ 184825 w 214008"/>
              <a:gd name="connsiteY10" fmla="*/ 243192 h 262647"/>
              <a:gd name="connsiteX11" fmla="*/ 126459 w 214008"/>
              <a:gd name="connsiteY11" fmla="*/ 262647 h 262647"/>
              <a:gd name="connsiteX12" fmla="*/ 87549 w 214008"/>
              <a:gd name="connsiteY12" fmla="*/ 252920 h 262647"/>
              <a:gd name="connsiteX13" fmla="*/ 68093 w 214008"/>
              <a:gd name="connsiteY13" fmla="*/ 233464 h 262647"/>
              <a:gd name="connsiteX14" fmla="*/ 19455 w 214008"/>
              <a:gd name="connsiteY14" fmla="*/ 145915 h 262647"/>
              <a:gd name="connsiteX15" fmla="*/ 0 w 214008"/>
              <a:gd name="connsiteY15" fmla="*/ 136188 h 26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008" h="262647">
                <a:moveTo>
                  <a:pt x="0" y="136188"/>
                </a:moveTo>
                <a:lnTo>
                  <a:pt x="0" y="136188"/>
                </a:lnTo>
                <a:cubicBezTo>
                  <a:pt x="3243" y="107005"/>
                  <a:pt x="-1177" y="75901"/>
                  <a:pt x="9728" y="48639"/>
                </a:cubicBezTo>
                <a:cubicBezTo>
                  <a:pt x="13536" y="39119"/>
                  <a:pt x="29486" y="42950"/>
                  <a:pt x="38911" y="38911"/>
                </a:cubicBezTo>
                <a:cubicBezTo>
                  <a:pt x="52239" y="33199"/>
                  <a:pt x="64243" y="24548"/>
                  <a:pt x="77821" y="19456"/>
                </a:cubicBezTo>
                <a:cubicBezTo>
                  <a:pt x="90339" y="14762"/>
                  <a:pt x="103877" y="13401"/>
                  <a:pt x="116732" y="9728"/>
                </a:cubicBezTo>
                <a:cubicBezTo>
                  <a:pt x="126591" y="6911"/>
                  <a:pt x="136187" y="3243"/>
                  <a:pt x="145915" y="0"/>
                </a:cubicBezTo>
                <a:cubicBezTo>
                  <a:pt x="155643" y="3243"/>
                  <a:pt x="167847" y="2477"/>
                  <a:pt x="175098" y="9728"/>
                </a:cubicBezTo>
                <a:cubicBezTo>
                  <a:pt x="191632" y="26262"/>
                  <a:pt x="214008" y="68094"/>
                  <a:pt x="214008" y="68094"/>
                </a:cubicBezTo>
                <a:cubicBezTo>
                  <a:pt x="210766" y="119975"/>
                  <a:pt x="212827" y="172462"/>
                  <a:pt x="204281" y="223737"/>
                </a:cubicBezTo>
                <a:cubicBezTo>
                  <a:pt x="202773" y="232784"/>
                  <a:pt x="193028" y="239091"/>
                  <a:pt x="184825" y="243192"/>
                </a:cubicBezTo>
                <a:cubicBezTo>
                  <a:pt x="166482" y="252363"/>
                  <a:pt x="126459" y="262647"/>
                  <a:pt x="126459" y="262647"/>
                </a:cubicBezTo>
                <a:cubicBezTo>
                  <a:pt x="113489" y="259405"/>
                  <a:pt x="99507" y="258899"/>
                  <a:pt x="87549" y="252920"/>
                </a:cubicBezTo>
                <a:cubicBezTo>
                  <a:pt x="79346" y="248818"/>
                  <a:pt x="73596" y="240801"/>
                  <a:pt x="68093" y="233464"/>
                </a:cubicBezTo>
                <a:cubicBezTo>
                  <a:pt x="40924" y="197239"/>
                  <a:pt x="28934" y="183829"/>
                  <a:pt x="19455" y="145915"/>
                </a:cubicBezTo>
                <a:cubicBezTo>
                  <a:pt x="18669" y="142769"/>
                  <a:pt x="3242" y="137809"/>
                  <a:pt x="0" y="136188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DC511A-F9A6-01C4-3014-E08EC153BC94}"/>
              </a:ext>
            </a:extLst>
          </p:cNvPr>
          <p:cNvSpPr/>
          <p:nvPr/>
        </p:nvSpPr>
        <p:spPr>
          <a:xfrm>
            <a:off x="6359030" y="3109347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690E2B-F8C0-B10A-92D8-E28CED2FC954}"/>
              </a:ext>
            </a:extLst>
          </p:cNvPr>
          <p:cNvSpPr/>
          <p:nvPr/>
        </p:nvSpPr>
        <p:spPr>
          <a:xfrm>
            <a:off x="6002534" y="2724558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B470CD-019A-2FB8-5D57-56262E6A26E0}"/>
              </a:ext>
            </a:extLst>
          </p:cNvPr>
          <p:cNvSpPr/>
          <p:nvPr/>
        </p:nvSpPr>
        <p:spPr>
          <a:xfrm>
            <a:off x="6009499" y="3391910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AB7E8D1-8C5A-DDFD-83D7-29526ACA1F5C}"/>
              </a:ext>
            </a:extLst>
          </p:cNvPr>
          <p:cNvCxnSpPr>
            <a:cxnSpLocks/>
          </p:cNvCxnSpPr>
          <p:nvPr/>
        </p:nvCxnSpPr>
        <p:spPr>
          <a:xfrm>
            <a:off x="6142105" y="2828292"/>
            <a:ext cx="197791" cy="26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41A256-E723-1955-B253-E8D80768BD45}"/>
              </a:ext>
            </a:extLst>
          </p:cNvPr>
          <p:cNvCxnSpPr>
            <a:cxnSpLocks/>
          </p:cNvCxnSpPr>
          <p:nvPr/>
        </p:nvCxnSpPr>
        <p:spPr>
          <a:xfrm flipV="1">
            <a:off x="4705135" y="2821245"/>
            <a:ext cx="1219300" cy="859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29A473-4752-C407-030B-FB89665ABBDC}"/>
              </a:ext>
            </a:extLst>
          </p:cNvPr>
          <p:cNvCxnSpPr>
            <a:cxnSpLocks/>
          </p:cNvCxnSpPr>
          <p:nvPr/>
        </p:nvCxnSpPr>
        <p:spPr>
          <a:xfrm>
            <a:off x="4386687" y="2722865"/>
            <a:ext cx="1537749" cy="497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93F49C-105A-BE0D-2FD9-8813AC4FC51E}"/>
              </a:ext>
            </a:extLst>
          </p:cNvPr>
          <p:cNvCxnSpPr>
            <a:cxnSpLocks/>
          </p:cNvCxnSpPr>
          <p:nvPr/>
        </p:nvCxnSpPr>
        <p:spPr>
          <a:xfrm flipH="1">
            <a:off x="4601680" y="3195804"/>
            <a:ext cx="1680369" cy="1947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EE54F3E-9ED2-E255-DF1D-BD5798BD9BDC}"/>
              </a:ext>
            </a:extLst>
          </p:cNvPr>
          <p:cNvSpPr/>
          <p:nvPr/>
        </p:nvSpPr>
        <p:spPr>
          <a:xfrm>
            <a:off x="3790023" y="3514992"/>
            <a:ext cx="99322" cy="123686"/>
          </a:xfrm>
          <a:custGeom>
            <a:avLst/>
            <a:gdLst>
              <a:gd name="connsiteX0" fmla="*/ 85725 w 114300"/>
              <a:gd name="connsiteY0" fmla="*/ 3084 h 142338"/>
              <a:gd name="connsiteX1" fmla="*/ 61912 w 114300"/>
              <a:gd name="connsiteY1" fmla="*/ 12609 h 142338"/>
              <a:gd name="connsiteX2" fmla="*/ 9525 w 114300"/>
              <a:gd name="connsiteY2" fmla="*/ 50709 h 142338"/>
              <a:gd name="connsiteX3" fmla="*/ 0 w 114300"/>
              <a:gd name="connsiteY3" fmla="*/ 69759 h 142338"/>
              <a:gd name="connsiteX4" fmla="*/ 9525 w 114300"/>
              <a:gd name="connsiteY4" fmla="*/ 131671 h 142338"/>
              <a:gd name="connsiteX5" fmla="*/ 100012 w 114300"/>
              <a:gd name="connsiteY5" fmla="*/ 117384 h 142338"/>
              <a:gd name="connsiteX6" fmla="*/ 114300 w 114300"/>
              <a:gd name="connsiteY6" fmla="*/ 69759 h 142338"/>
              <a:gd name="connsiteX7" fmla="*/ 85725 w 114300"/>
              <a:gd name="connsiteY7" fmla="*/ 3084 h 14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" h="142338">
                <a:moveTo>
                  <a:pt x="85725" y="3084"/>
                </a:moveTo>
                <a:cubicBezTo>
                  <a:pt x="76994" y="-6441"/>
                  <a:pt x="69559" y="8786"/>
                  <a:pt x="61912" y="12609"/>
                </a:cubicBezTo>
                <a:cubicBezTo>
                  <a:pt x="40323" y="23403"/>
                  <a:pt x="23911" y="31528"/>
                  <a:pt x="9525" y="50709"/>
                </a:cubicBezTo>
                <a:cubicBezTo>
                  <a:pt x="5265" y="56389"/>
                  <a:pt x="3175" y="63409"/>
                  <a:pt x="0" y="69759"/>
                </a:cubicBezTo>
                <a:cubicBezTo>
                  <a:pt x="3175" y="90396"/>
                  <a:pt x="-4683" y="116370"/>
                  <a:pt x="9525" y="131671"/>
                </a:cubicBezTo>
                <a:cubicBezTo>
                  <a:pt x="34455" y="158519"/>
                  <a:pt x="79914" y="127433"/>
                  <a:pt x="100012" y="117384"/>
                </a:cubicBezTo>
                <a:cubicBezTo>
                  <a:pt x="100565" y="115725"/>
                  <a:pt x="114300" y="76954"/>
                  <a:pt x="114300" y="69759"/>
                </a:cubicBezTo>
                <a:cubicBezTo>
                  <a:pt x="114300" y="-1041"/>
                  <a:pt x="94456" y="12609"/>
                  <a:pt x="85725" y="3084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9BA1404-D7A5-6BB3-ADD6-06D3F275E562}"/>
              </a:ext>
            </a:extLst>
          </p:cNvPr>
          <p:cNvSpPr/>
          <p:nvPr/>
        </p:nvSpPr>
        <p:spPr>
          <a:xfrm>
            <a:off x="4361588" y="3115188"/>
            <a:ext cx="50196" cy="50384"/>
          </a:xfrm>
          <a:custGeom>
            <a:avLst/>
            <a:gdLst>
              <a:gd name="connsiteX0" fmla="*/ 39719 w 57766"/>
              <a:gd name="connsiteY0" fmla="*/ 0 h 57982"/>
              <a:gd name="connsiteX1" fmla="*/ 1619 w 57766"/>
              <a:gd name="connsiteY1" fmla="*/ 52387 h 57982"/>
              <a:gd name="connsiteX2" fmla="*/ 34956 w 57766"/>
              <a:gd name="connsiteY2" fmla="*/ 57150 h 57982"/>
              <a:gd name="connsiteX3" fmla="*/ 54006 w 57766"/>
              <a:gd name="connsiteY3" fmla="*/ 52387 h 57982"/>
              <a:gd name="connsiteX4" fmla="*/ 39719 w 57766"/>
              <a:gd name="connsiteY4" fmla="*/ 0 h 5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6" h="57982">
                <a:moveTo>
                  <a:pt x="39719" y="0"/>
                </a:moveTo>
                <a:cubicBezTo>
                  <a:pt x="30988" y="0"/>
                  <a:pt x="-8398" y="32353"/>
                  <a:pt x="1619" y="52387"/>
                </a:cubicBezTo>
                <a:cubicBezTo>
                  <a:pt x="6639" y="62427"/>
                  <a:pt x="23844" y="55562"/>
                  <a:pt x="34956" y="57150"/>
                </a:cubicBezTo>
                <a:cubicBezTo>
                  <a:pt x="41306" y="55562"/>
                  <a:pt x="50079" y="57623"/>
                  <a:pt x="54006" y="52387"/>
                </a:cubicBezTo>
                <a:cubicBezTo>
                  <a:pt x="65276" y="37361"/>
                  <a:pt x="48450" y="0"/>
                  <a:pt x="3971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59DF187-D341-6BE1-20C2-E4D2AE89D963}"/>
              </a:ext>
            </a:extLst>
          </p:cNvPr>
          <p:cNvSpPr/>
          <p:nvPr/>
        </p:nvSpPr>
        <p:spPr>
          <a:xfrm>
            <a:off x="4464365" y="3360923"/>
            <a:ext cx="77061" cy="145592"/>
          </a:xfrm>
          <a:custGeom>
            <a:avLst/>
            <a:gdLst>
              <a:gd name="connsiteX0" fmla="*/ 45820 w 88682"/>
              <a:gd name="connsiteY0" fmla="*/ 230 h 167547"/>
              <a:gd name="connsiteX1" fmla="*/ 17245 w 88682"/>
              <a:gd name="connsiteY1" fmla="*/ 24043 h 167547"/>
              <a:gd name="connsiteX2" fmla="*/ 7720 w 88682"/>
              <a:gd name="connsiteY2" fmla="*/ 105005 h 167547"/>
              <a:gd name="connsiteX3" fmla="*/ 50582 w 88682"/>
              <a:gd name="connsiteY3" fmla="*/ 133580 h 167547"/>
              <a:gd name="connsiteX4" fmla="*/ 79157 w 88682"/>
              <a:gd name="connsiteY4" fmla="*/ 166918 h 167547"/>
              <a:gd name="connsiteX5" fmla="*/ 88682 w 88682"/>
              <a:gd name="connsiteY5" fmla="*/ 105005 h 167547"/>
              <a:gd name="connsiteX6" fmla="*/ 79157 w 88682"/>
              <a:gd name="connsiteY6" fmla="*/ 57380 h 167547"/>
              <a:gd name="connsiteX7" fmla="*/ 69632 w 88682"/>
              <a:gd name="connsiteY7" fmla="*/ 38330 h 167547"/>
              <a:gd name="connsiteX8" fmla="*/ 45820 w 88682"/>
              <a:gd name="connsiteY8" fmla="*/ 230 h 16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682" h="167547">
                <a:moveTo>
                  <a:pt x="45820" y="230"/>
                </a:moveTo>
                <a:cubicBezTo>
                  <a:pt x="37089" y="-2151"/>
                  <a:pt x="25096" y="14447"/>
                  <a:pt x="17245" y="24043"/>
                </a:cubicBezTo>
                <a:cubicBezTo>
                  <a:pt x="294" y="44761"/>
                  <a:pt x="-6535" y="80772"/>
                  <a:pt x="7720" y="105005"/>
                </a:cubicBezTo>
                <a:cubicBezTo>
                  <a:pt x="16426" y="119806"/>
                  <a:pt x="50582" y="133580"/>
                  <a:pt x="50582" y="133580"/>
                </a:cubicBezTo>
                <a:cubicBezTo>
                  <a:pt x="52820" y="136937"/>
                  <a:pt x="75307" y="172693"/>
                  <a:pt x="79157" y="166918"/>
                </a:cubicBezTo>
                <a:cubicBezTo>
                  <a:pt x="90739" y="149544"/>
                  <a:pt x="85507" y="125643"/>
                  <a:pt x="88682" y="105005"/>
                </a:cubicBezTo>
                <a:cubicBezTo>
                  <a:pt x="85507" y="89130"/>
                  <a:pt x="83605" y="72946"/>
                  <a:pt x="79157" y="57380"/>
                </a:cubicBezTo>
                <a:cubicBezTo>
                  <a:pt x="77207" y="50554"/>
                  <a:pt x="71877" y="45065"/>
                  <a:pt x="69632" y="38330"/>
                </a:cubicBezTo>
                <a:cubicBezTo>
                  <a:pt x="57466" y="1830"/>
                  <a:pt x="54551" y="2611"/>
                  <a:pt x="45820" y="23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2D59315-D90B-6939-AE24-260A874CD860}"/>
              </a:ext>
            </a:extLst>
          </p:cNvPr>
          <p:cNvSpPr/>
          <p:nvPr/>
        </p:nvSpPr>
        <p:spPr>
          <a:xfrm>
            <a:off x="4601295" y="2828292"/>
            <a:ext cx="103840" cy="140706"/>
          </a:xfrm>
          <a:custGeom>
            <a:avLst/>
            <a:gdLst>
              <a:gd name="connsiteX0" fmla="*/ 0 w 119499"/>
              <a:gd name="connsiteY0" fmla="*/ 152400 h 161925"/>
              <a:gd name="connsiteX1" fmla="*/ 38100 w 119499"/>
              <a:gd name="connsiteY1" fmla="*/ 19050 h 161925"/>
              <a:gd name="connsiteX2" fmla="*/ 42863 w 119499"/>
              <a:gd name="connsiteY2" fmla="*/ 4762 h 161925"/>
              <a:gd name="connsiteX3" fmla="*/ 80963 w 119499"/>
              <a:gd name="connsiteY3" fmla="*/ 0 h 161925"/>
              <a:gd name="connsiteX4" fmla="*/ 109538 w 119499"/>
              <a:gd name="connsiteY4" fmla="*/ 4762 h 161925"/>
              <a:gd name="connsiteX5" fmla="*/ 100013 w 119499"/>
              <a:gd name="connsiteY5" fmla="*/ 90487 h 161925"/>
              <a:gd name="connsiteX6" fmla="*/ 61913 w 119499"/>
              <a:gd name="connsiteY6" fmla="*/ 138112 h 161925"/>
              <a:gd name="connsiteX7" fmla="*/ 47625 w 119499"/>
              <a:gd name="connsiteY7" fmla="*/ 147637 h 161925"/>
              <a:gd name="connsiteX8" fmla="*/ 33338 w 119499"/>
              <a:gd name="connsiteY8" fmla="*/ 161925 h 161925"/>
              <a:gd name="connsiteX9" fmla="*/ 0 w 119499"/>
              <a:gd name="connsiteY9" fmla="*/ 15240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499" h="161925">
                <a:moveTo>
                  <a:pt x="0" y="152400"/>
                </a:moveTo>
                <a:cubicBezTo>
                  <a:pt x="12700" y="107950"/>
                  <a:pt x="23480" y="62906"/>
                  <a:pt x="38100" y="19050"/>
                </a:cubicBezTo>
                <a:cubicBezTo>
                  <a:pt x="39688" y="14287"/>
                  <a:pt x="38275" y="6801"/>
                  <a:pt x="42863" y="4762"/>
                </a:cubicBezTo>
                <a:cubicBezTo>
                  <a:pt x="54559" y="-436"/>
                  <a:pt x="68263" y="1587"/>
                  <a:pt x="80963" y="0"/>
                </a:cubicBezTo>
                <a:cubicBezTo>
                  <a:pt x="90488" y="1587"/>
                  <a:pt x="102710" y="-2066"/>
                  <a:pt x="109538" y="4762"/>
                </a:cubicBezTo>
                <a:cubicBezTo>
                  <a:pt x="133010" y="28234"/>
                  <a:pt x="108796" y="71824"/>
                  <a:pt x="100013" y="90487"/>
                </a:cubicBezTo>
                <a:cubicBezTo>
                  <a:pt x="91727" y="108094"/>
                  <a:pt x="76706" y="125433"/>
                  <a:pt x="61913" y="138112"/>
                </a:cubicBezTo>
                <a:cubicBezTo>
                  <a:pt x="57567" y="141837"/>
                  <a:pt x="52022" y="143973"/>
                  <a:pt x="47625" y="147637"/>
                </a:cubicBezTo>
                <a:cubicBezTo>
                  <a:pt x="42451" y="151949"/>
                  <a:pt x="38100" y="157162"/>
                  <a:pt x="33338" y="161925"/>
                </a:cubicBezTo>
                <a:lnTo>
                  <a:pt x="0" y="152400"/>
                </a:ln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D5C014A-3D93-5444-9A33-2AED1D08AAF2}"/>
              </a:ext>
            </a:extLst>
          </p:cNvPr>
          <p:cNvSpPr/>
          <p:nvPr/>
        </p:nvSpPr>
        <p:spPr>
          <a:xfrm>
            <a:off x="3663715" y="2723978"/>
            <a:ext cx="138865" cy="97267"/>
          </a:xfrm>
          <a:custGeom>
            <a:avLst/>
            <a:gdLst>
              <a:gd name="connsiteX0" fmla="*/ 112181 w 159806"/>
              <a:gd name="connsiteY0" fmla="*/ 2397 h 111935"/>
              <a:gd name="connsiteX1" fmla="*/ 88368 w 159806"/>
              <a:gd name="connsiteY1" fmla="*/ 7160 h 111935"/>
              <a:gd name="connsiteX2" fmla="*/ 26456 w 159806"/>
              <a:gd name="connsiteY2" fmla="*/ 11922 h 111935"/>
              <a:gd name="connsiteX3" fmla="*/ 12168 w 159806"/>
              <a:gd name="connsiteY3" fmla="*/ 21447 h 111935"/>
              <a:gd name="connsiteX4" fmla="*/ 7406 w 159806"/>
              <a:gd name="connsiteY4" fmla="*/ 54785 h 111935"/>
              <a:gd name="connsiteX5" fmla="*/ 2643 w 159806"/>
              <a:gd name="connsiteY5" fmla="*/ 83360 h 111935"/>
              <a:gd name="connsiteX6" fmla="*/ 78843 w 159806"/>
              <a:gd name="connsiteY6" fmla="*/ 111935 h 111935"/>
              <a:gd name="connsiteX7" fmla="*/ 135993 w 159806"/>
              <a:gd name="connsiteY7" fmla="*/ 102410 h 111935"/>
              <a:gd name="connsiteX8" fmla="*/ 159806 w 159806"/>
              <a:gd name="connsiteY8" fmla="*/ 50022 h 111935"/>
              <a:gd name="connsiteX9" fmla="*/ 112181 w 159806"/>
              <a:gd name="connsiteY9" fmla="*/ 2397 h 11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06" h="111935">
                <a:moveTo>
                  <a:pt x="112181" y="2397"/>
                </a:moveTo>
                <a:cubicBezTo>
                  <a:pt x="100275" y="-4747"/>
                  <a:pt x="96413" y="6266"/>
                  <a:pt x="88368" y="7160"/>
                </a:cubicBezTo>
                <a:cubicBezTo>
                  <a:pt x="67796" y="9446"/>
                  <a:pt x="46800" y="8108"/>
                  <a:pt x="26456" y="11922"/>
                </a:cubicBezTo>
                <a:cubicBezTo>
                  <a:pt x="20830" y="12977"/>
                  <a:pt x="16931" y="18272"/>
                  <a:pt x="12168" y="21447"/>
                </a:cubicBezTo>
                <a:cubicBezTo>
                  <a:pt x="10581" y="32560"/>
                  <a:pt x="9113" y="43690"/>
                  <a:pt x="7406" y="54785"/>
                </a:cubicBezTo>
                <a:cubicBezTo>
                  <a:pt x="5938" y="64329"/>
                  <a:pt x="-4897" y="77328"/>
                  <a:pt x="2643" y="83360"/>
                </a:cubicBezTo>
                <a:cubicBezTo>
                  <a:pt x="23826" y="100306"/>
                  <a:pt x="78843" y="111935"/>
                  <a:pt x="78843" y="111935"/>
                </a:cubicBezTo>
                <a:cubicBezTo>
                  <a:pt x="97893" y="108760"/>
                  <a:pt x="118062" y="109583"/>
                  <a:pt x="135993" y="102410"/>
                </a:cubicBezTo>
                <a:cubicBezTo>
                  <a:pt x="150826" y="96477"/>
                  <a:pt x="157403" y="58432"/>
                  <a:pt x="159806" y="50022"/>
                </a:cubicBezTo>
                <a:cubicBezTo>
                  <a:pt x="154149" y="-885"/>
                  <a:pt x="124087" y="9541"/>
                  <a:pt x="112181" y="2397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97C3284-AC4D-7D21-175E-C4E5A2461991}"/>
              </a:ext>
            </a:extLst>
          </p:cNvPr>
          <p:cNvSpPr/>
          <p:nvPr/>
        </p:nvSpPr>
        <p:spPr>
          <a:xfrm>
            <a:off x="6421359" y="2603701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D071E01-3551-50B8-479C-BC5A494ADB47}"/>
              </a:ext>
            </a:extLst>
          </p:cNvPr>
          <p:cNvSpPr/>
          <p:nvPr/>
        </p:nvSpPr>
        <p:spPr>
          <a:xfrm>
            <a:off x="6340014" y="3537627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4EC309-9E13-053D-018A-7982FBDF909A}"/>
              </a:ext>
            </a:extLst>
          </p:cNvPr>
          <p:cNvCxnSpPr>
            <a:cxnSpLocks/>
          </p:cNvCxnSpPr>
          <p:nvPr/>
        </p:nvCxnSpPr>
        <p:spPr>
          <a:xfrm flipH="1">
            <a:off x="4464365" y="3144734"/>
            <a:ext cx="1776635" cy="1771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715B1FB-596D-3120-5622-23929476F2B0}"/>
              </a:ext>
            </a:extLst>
          </p:cNvPr>
          <p:cNvCxnSpPr>
            <a:cxnSpLocks/>
          </p:cNvCxnSpPr>
          <p:nvPr/>
        </p:nvCxnSpPr>
        <p:spPr>
          <a:xfrm flipH="1">
            <a:off x="4529814" y="3002354"/>
            <a:ext cx="83125" cy="3115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DBFA10-E3B8-B70D-659B-7FE2BA1BE9BD}"/>
              </a:ext>
            </a:extLst>
          </p:cNvPr>
          <p:cNvCxnSpPr>
            <a:cxnSpLocks/>
          </p:cNvCxnSpPr>
          <p:nvPr/>
        </p:nvCxnSpPr>
        <p:spPr>
          <a:xfrm>
            <a:off x="4288833" y="2828292"/>
            <a:ext cx="79886" cy="26078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8A9744-B843-3BE6-32EC-BCD8129E3796}"/>
              </a:ext>
            </a:extLst>
          </p:cNvPr>
          <p:cNvCxnSpPr>
            <a:cxnSpLocks/>
          </p:cNvCxnSpPr>
          <p:nvPr/>
        </p:nvCxnSpPr>
        <p:spPr>
          <a:xfrm>
            <a:off x="4725200" y="1584959"/>
            <a:ext cx="15648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AF5856A-8736-429C-7ACB-AC17134FD15F}"/>
              </a:ext>
            </a:extLst>
          </p:cNvPr>
          <p:cNvCxnSpPr>
            <a:cxnSpLocks/>
          </p:cNvCxnSpPr>
          <p:nvPr/>
        </p:nvCxnSpPr>
        <p:spPr>
          <a:xfrm flipH="1">
            <a:off x="5670915" y="2873683"/>
            <a:ext cx="1887773" cy="199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8" grpId="0" animBg="1"/>
      <p:bldP spid="9" grpId="0"/>
      <p:bldP spid="3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BAC487-BEE7-759B-DE15-6BA6A83E93E3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2C0585-271C-699B-8E4D-339A8B924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223"/>
          <a:stretch/>
        </p:blipFill>
        <p:spPr>
          <a:xfrm>
            <a:off x="276926" y="274645"/>
            <a:ext cx="6692929" cy="2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E646AE-8D94-C14C-D5C0-9870FF24C781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</p:spTree>
    <p:extLst>
      <p:ext uri="{BB962C8B-B14F-4D97-AF65-F5344CB8AC3E}">
        <p14:creationId xmlns:p14="http://schemas.microsoft.com/office/powerpoint/2010/main" val="2331401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4C697-A815-6B75-08D1-7A2B080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FFE51D8-2D68-E377-3878-1ADC600F5D4E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376FE6-8B85-8C0F-F752-EB10A2770E2B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6694C7-9C22-00F2-CADA-99B9D317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718"/>
          <a:stretch/>
        </p:blipFill>
        <p:spPr>
          <a:xfrm>
            <a:off x="276926" y="274646"/>
            <a:ext cx="6692929" cy="223280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6955F78-63C3-02A8-F888-7E25B5820911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562252-04BE-0363-1D1F-179628D41347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05709-E73E-78E8-0C43-44B5856B3944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definition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</p:spTree>
    <p:extLst>
      <p:ext uri="{BB962C8B-B14F-4D97-AF65-F5344CB8AC3E}">
        <p14:creationId xmlns:p14="http://schemas.microsoft.com/office/powerpoint/2010/main" val="6646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9D14-F961-FB1B-1B55-7B3119A8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49DA16-BC8B-4ACF-EF57-5410463310A7}"/>
              </a:ext>
            </a:extLst>
          </p:cNvPr>
          <p:cNvSpPr/>
          <p:nvPr/>
        </p:nvSpPr>
        <p:spPr>
          <a:xfrm>
            <a:off x="7037294" y="2507456"/>
            <a:ext cx="77259" cy="18100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7AB716-90C8-674B-6645-ED43312155F6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39B586-C693-2FAC-2F04-C59BFDE0653B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095D75-F070-F9D4-80DB-8AB86109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578"/>
          <a:stretch/>
        </p:blipFill>
        <p:spPr>
          <a:xfrm>
            <a:off x="276926" y="274645"/>
            <a:ext cx="6692929" cy="30400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4BB0E9-F718-0972-70B4-C0A83393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85" b="22907"/>
          <a:stretch>
            <a:fillRect/>
          </a:stretch>
        </p:blipFill>
        <p:spPr>
          <a:xfrm>
            <a:off x="273986" y="3115615"/>
            <a:ext cx="6692929" cy="120186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773D634-5366-26FD-DD48-FA61848D9F6C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C2B99A-52ED-041E-5E15-D79175322F99}"/>
              </a:ext>
            </a:extLst>
          </p:cNvPr>
          <p:cNvSpPr/>
          <p:nvPr/>
        </p:nvSpPr>
        <p:spPr>
          <a:xfrm>
            <a:off x="670560" y="2509245"/>
            <a:ext cx="982980" cy="1963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4C8BD-E547-B3C3-F977-33394F734AFC}"/>
              </a:ext>
            </a:extLst>
          </p:cNvPr>
          <p:cNvSpPr/>
          <p:nvPr/>
        </p:nvSpPr>
        <p:spPr>
          <a:xfrm>
            <a:off x="273986" y="4003040"/>
            <a:ext cx="6979114" cy="3144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9E41224-9A3D-F449-B9E6-59059E96A68D}"/>
                  </a:ext>
                </a:extLst>
              </p:cNvPr>
              <p:cNvSpPr/>
              <p:nvPr/>
            </p:nvSpPr>
            <p:spPr>
              <a:xfrm>
                <a:off x="802640" y="4714240"/>
                <a:ext cx="711200" cy="660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9E41224-9A3D-F449-B9E6-59059E96A6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" y="4714240"/>
                <a:ext cx="711200" cy="660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A10A8A-F028-03BD-DF08-1AE5D5CBA264}"/>
                  </a:ext>
                </a:extLst>
              </p:cNvPr>
              <p:cNvSpPr/>
              <p:nvPr/>
            </p:nvSpPr>
            <p:spPr>
              <a:xfrm>
                <a:off x="802640" y="5685268"/>
                <a:ext cx="711200" cy="660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A10A8A-F028-03BD-DF08-1AE5D5CBA2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" y="5685268"/>
                <a:ext cx="711200" cy="660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297C5C0-F9DD-32CC-39FB-6250CE5018D8}"/>
              </a:ext>
            </a:extLst>
          </p:cNvPr>
          <p:cNvSpPr/>
          <p:nvPr/>
        </p:nvSpPr>
        <p:spPr>
          <a:xfrm>
            <a:off x="670560" y="4576762"/>
            <a:ext cx="2105978" cy="1899667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31BB3F-1B71-066F-8D32-15C51D6AACEF}"/>
              </a:ext>
            </a:extLst>
          </p:cNvPr>
          <p:cNvCxnSpPr>
            <a:cxnSpLocks/>
          </p:cNvCxnSpPr>
          <p:nvPr/>
        </p:nvCxnSpPr>
        <p:spPr>
          <a:xfrm>
            <a:off x="1573530" y="5044440"/>
            <a:ext cx="552636" cy="33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101C30-C3FC-D871-C0E9-A347BB16D2F9}"/>
              </a:ext>
            </a:extLst>
          </p:cNvPr>
          <p:cNvCxnSpPr>
            <a:cxnSpLocks/>
          </p:cNvCxnSpPr>
          <p:nvPr/>
        </p:nvCxnSpPr>
        <p:spPr>
          <a:xfrm flipV="1">
            <a:off x="1570961" y="5617736"/>
            <a:ext cx="555205" cy="39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BF92C0-651A-E59E-C7E9-1500DEC57CE3}"/>
              </a:ext>
            </a:extLst>
          </p:cNvPr>
          <p:cNvGrpSpPr/>
          <p:nvPr/>
        </p:nvGrpSpPr>
        <p:grpSpPr>
          <a:xfrm>
            <a:off x="2151073" y="5327734"/>
            <a:ext cx="436017" cy="371316"/>
            <a:chOff x="2620499" y="4833143"/>
            <a:chExt cx="436017" cy="37131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D05D442-0FFD-B52E-D2E0-04B6C8E70A7D}"/>
                </a:ext>
              </a:extLst>
            </p:cNvPr>
            <p:cNvSpPr/>
            <p:nvPr/>
          </p:nvSpPr>
          <p:spPr>
            <a:xfrm>
              <a:off x="2662239" y="4861561"/>
              <a:ext cx="342898" cy="3428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9C6A281-F904-BB8A-38C8-AA2664B169A4}"/>
                    </a:ext>
                  </a:extLst>
                </p:cNvPr>
                <p:cNvSpPr txBox="1"/>
                <p:nvPr/>
              </p:nvSpPr>
              <p:spPr>
                <a:xfrm>
                  <a:off x="2620499" y="4833143"/>
                  <a:ext cx="436017" cy="3575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9C6A281-F904-BB8A-38C8-AA2664B16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0499" y="4833143"/>
                  <a:ext cx="436017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B5D089-FB12-64B3-3678-1E464DFFD20A}"/>
              </a:ext>
            </a:extLst>
          </p:cNvPr>
          <p:cNvCxnSpPr>
            <a:cxnSpLocks/>
          </p:cNvCxnSpPr>
          <p:nvPr/>
        </p:nvCxnSpPr>
        <p:spPr>
          <a:xfrm>
            <a:off x="2624137" y="5527601"/>
            <a:ext cx="1671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6D90A0-8DB8-27CB-D570-F27F5E35D858}"/>
                  </a:ext>
                </a:extLst>
              </p:cNvPr>
              <p:cNvSpPr txBox="1"/>
              <p:nvPr/>
            </p:nvSpPr>
            <p:spPr>
              <a:xfrm>
                <a:off x="1679443" y="4897125"/>
                <a:ext cx="3878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6D90A0-8DB8-27CB-D570-F27F5E35D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443" y="4897125"/>
                <a:ext cx="38786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CE4A75-D71E-4E6B-8A5E-E439BF5BE963}"/>
                  </a:ext>
                </a:extLst>
              </p:cNvPr>
              <p:cNvSpPr txBox="1"/>
              <p:nvPr/>
            </p:nvSpPr>
            <p:spPr>
              <a:xfrm>
                <a:off x="1723549" y="5782340"/>
                <a:ext cx="392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CE4A75-D71E-4E6B-8A5E-E439BF5B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549" y="5782340"/>
                <a:ext cx="39203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54AC64-1678-A963-2729-F4CB8C994AA8}"/>
                  </a:ext>
                </a:extLst>
              </p:cNvPr>
              <p:cNvSpPr txBox="1"/>
              <p:nvPr/>
            </p:nvSpPr>
            <p:spPr>
              <a:xfrm>
                <a:off x="2776538" y="5200662"/>
                <a:ext cx="1435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54AC64-1678-A963-2729-F4CB8C994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538" y="5200662"/>
                <a:ext cx="143552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D5C0B2F3-1F1F-B0DA-8554-67D056546D93}"/>
              </a:ext>
            </a:extLst>
          </p:cNvPr>
          <p:cNvSpPr txBox="1"/>
          <p:nvPr/>
        </p:nvSpPr>
        <p:spPr>
          <a:xfrm>
            <a:off x="5740297" y="4620159"/>
            <a:ext cx="2453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Clear idea of what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is being modelled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66F0777-E4B8-81BE-AF49-A959DD09994D}"/>
              </a:ext>
            </a:extLst>
          </p:cNvPr>
          <p:cNvCxnSpPr/>
          <p:nvPr/>
        </p:nvCxnSpPr>
        <p:spPr>
          <a:xfrm flipH="1" flipV="1">
            <a:off x="6388100" y="2705573"/>
            <a:ext cx="76200" cy="1914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82667C-5D09-C72D-B731-A0161577E7CE}"/>
              </a:ext>
            </a:extLst>
          </p:cNvPr>
          <p:cNvCxnSpPr/>
          <p:nvPr/>
        </p:nvCxnSpPr>
        <p:spPr>
          <a:xfrm flipH="1">
            <a:off x="4597400" y="5044440"/>
            <a:ext cx="1079500" cy="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C64DF-A9F6-225F-B713-1558EDB007DE}"/>
                  </a:ext>
                </a:extLst>
              </p:cNvPr>
              <p:cNvSpPr txBox="1"/>
              <p:nvPr/>
            </p:nvSpPr>
            <p:spPr>
              <a:xfrm>
                <a:off x="2833022" y="4512437"/>
                <a:ext cx="498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C64DF-A9F6-225F-B713-1558EDB00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022" y="4512437"/>
                <a:ext cx="4980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8A039B-2A68-9DB8-C57A-9CF09965A547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10AB9-B7EE-4E0D-EB3D-5CAD5F242D11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definition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C398D-6458-08E2-D28F-AC1CE2086D36}"/>
              </a:ext>
            </a:extLst>
          </p:cNvPr>
          <p:cNvSpPr txBox="1"/>
          <p:nvPr/>
        </p:nvSpPr>
        <p:spPr>
          <a:xfrm>
            <a:off x="7253100" y="2792448"/>
            <a:ext cx="474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Show that the formal definition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follows from the intuitive requirement</a:t>
            </a:r>
          </a:p>
        </p:txBody>
      </p:sp>
    </p:spTree>
    <p:extLst>
      <p:ext uri="{BB962C8B-B14F-4D97-AF65-F5344CB8AC3E}">
        <p14:creationId xmlns:p14="http://schemas.microsoft.com/office/powerpoint/2010/main" val="90940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CFEBE-61C3-0423-6826-BEBB71F1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703B-453C-3ED9-5CB9-66D66BA7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Spaces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CFDBC-89C0-46E4-DA20-86F64AF68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67692-E279-F9E0-42CD-EFB3C01C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3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1486-C92F-7703-5A69-F39A3A90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CDC149-60EE-3B48-8985-34D4870872EA}"/>
                  </a:ext>
                </a:extLst>
              </p:cNvPr>
              <p:cNvSpPr txBox="1"/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Scientific laws are relationships between ensembles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AD530E-E864-1366-9E84-9F4F648B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57D13F1D-A642-BD58-5B54-6D955FA6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32" y="291078"/>
            <a:ext cx="11210736" cy="65483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A76FD2A3-4875-FFDB-4EF7-DCD0F6915384}"/>
              </a:ext>
            </a:extLst>
          </p:cNvPr>
          <p:cNvGrpSpPr/>
          <p:nvPr/>
        </p:nvGrpSpPr>
        <p:grpSpPr>
          <a:xfrm>
            <a:off x="1165530" y="2048972"/>
            <a:ext cx="9352375" cy="2862320"/>
            <a:chOff x="580914" y="2173045"/>
            <a:chExt cx="10837491" cy="33168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E36022D-0B8A-8493-B3E5-A2DB802CFF16}"/>
                    </a:ext>
                  </a:extLst>
                </p:cNvPr>
                <p:cNvSpPr/>
                <p:nvPr/>
              </p:nvSpPr>
              <p:spPr>
                <a:xfrm>
                  <a:off x="1215616" y="2689412"/>
                  <a:ext cx="1605250" cy="14307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Preparation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E36022D-0B8A-8493-B3E5-A2DB802CFF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616" y="2689412"/>
                  <a:ext cx="1605250" cy="143076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77E388-AFAE-2304-117D-7FFD95091C67}"/>
                    </a:ext>
                  </a:extLst>
                </p:cNvPr>
                <p:cNvSpPr/>
                <p:nvPr/>
              </p:nvSpPr>
              <p:spPr>
                <a:xfrm>
                  <a:off x="4105836" y="2689412"/>
                  <a:ext cx="1605250" cy="14307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Process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77E388-AFAE-2304-117D-7FFD95091C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5836" y="2689412"/>
                  <a:ext cx="1605250" cy="143076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738AD7D-AD09-1338-5360-406821C3FFF3}"/>
                    </a:ext>
                  </a:extLst>
                </p:cNvPr>
                <p:cNvSpPr/>
                <p:nvPr/>
              </p:nvSpPr>
              <p:spPr>
                <a:xfrm>
                  <a:off x="6996057" y="2689412"/>
                  <a:ext cx="1605250" cy="14307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Measurement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738AD7D-AD09-1338-5360-406821C3FF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057" y="2689412"/>
                  <a:ext cx="1605250" cy="143076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59F842-04A5-7C07-9753-3CA568BD345B}"/>
                </a:ext>
              </a:extLst>
            </p:cNvPr>
            <p:cNvCxnSpPr>
              <a:stCxn id="9" idx="3"/>
              <a:endCxn id="11" idx="1"/>
            </p:cNvCxnSpPr>
            <p:nvPr/>
          </p:nvCxnSpPr>
          <p:spPr>
            <a:xfrm>
              <a:off x="2820866" y="3404796"/>
              <a:ext cx="1284970" cy="0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EBE0E20-8505-5EDB-F8DB-5496B2F08F14}"/>
                </a:ext>
              </a:extLst>
            </p:cNvPr>
            <p:cNvCxnSpPr>
              <a:cxnSpLocks/>
            </p:cNvCxnSpPr>
            <p:nvPr/>
          </p:nvCxnSpPr>
          <p:spPr>
            <a:xfrm>
              <a:off x="5711086" y="3404796"/>
              <a:ext cx="1284971" cy="0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3076A7-CD76-8C41-C0A8-0602F2AB10C1}"/>
                    </a:ext>
                  </a:extLst>
                </p:cNvPr>
                <p:cNvSpPr txBox="1"/>
                <p:nvPr/>
              </p:nvSpPr>
              <p:spPr>
                <a:xfrm>
                  <a:off x="3463351" y="2958353"/>
                  <a:ext cx="505180" cy="3923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3076A7-CD76-8C41-C0A8-0602F2AB10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3351" y="2958353"/>
                  <a:ext cx="505180" cy="3923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55F9EEF-B983-ADDA-0DE7-13646CC89F14}"/>
                    </a:ext>
                  </a:extLst>
                </p:cNvPr>
                <p:cNvSpPr txBox="1"/>
                <p:nvPr/>
              </p:nvSpPr>
              <p:spPr>
                <a:xfrm>
                  <a:off x="6353571" y="2958353"/>
                  <a:ext cx="520337" cy="3923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55F9EEF-B983-ADDA-0DE7-13646CC89F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3571" y="2958353"/>
                  <a:ext cx="520337" cy="39231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222B4C3-D28C-5D45-DEBE-98E53E8A8515}"/>
                    </a:ext>
                  </a:extLst>
                </p:cNvPr>
                <p:cNvSpPr txBox="1"/>
                <p:nvPr/>
              </p:nvSpPr>
              <p:spPr>
                <a:xfrm>
                  <a:off x="9243791" y="2958353"/>
                  <a:ext cx="546195" cy="3923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222B4C3-D28C-5D45-DEBE-98E53E8A85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3791" y="2958353"/>
                  <a:ext cx="546195" cy="3923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B1ADA54-4847-1DD1-6C10-519FA7E3E836}"/>
                </a:ext>
              </a:extLst>
            </p:cNvPr>
            <p:cNvCxnSpPr>
              <a:cxnSpLocks/>
            </p:cNvCxnSpPr>
            <p:nvPr/>
          </p:nvCxnSpPr>
          <p:spPr>
            <a:xfrm>
              <a:off x="8601307" y="3404796"/>
              <a:ext cx="1284971" cy="0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FBFC99-DAEB-896A-F410-CCCD2F0436F4}"/>
                </a:ext>
              </a:extLst>
            </p:cNvPr>
            <p:cNvSpPr/>
            <p:nvPr/>
          </p:nvSpPr>
          <p:spPr>
            <a:xfrm>
              <a:off x="931697" y="2495774"/>
              <a:ext cx="2531654" cy="1839558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47E555-8879-3937-C832-9B2631F0332C}"/>
                </a:ext>
              </a:extLst>
            </p:cNvPr>
            <p:cNvSpPr/>
            <p:nvPr/>
          </p:nvSpPr>
          <p:spPr>
            <a:xfrm>
              <a:off x="763794" y="2345167"/>
              <a:ext cx="5589777" cy="2142565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85301B-2350-67A3-485A-A771C2C0864F}"/>
                </a:ext>
              </a:extLst>
            </p:cNvPr>
            <p:cNvSpPr/>
            <p:nvPr/>
          </p:nvSpPr>
          <p:spPr>
            <a:xfrm>
              <a:off x="580914" y="2173045"/>
              <a:ext cx="8662877" cy="246708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B16C03-D33A-82EC-44C7-581660249B28}"/>
                </a:ext>
              </a:extLst>
            </p:cNvPr>
            <p:cNvSpPr txBox="1"/>
            <p:nvPr/>
          </p:nvSpPr>
          <p:spPr>
            <a:xfrm>
              <a:off x="2883511" y="4812254"/>
              <a:ext cx="1155770" cy="677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Initial</a:t>
              </a:r>
              <a:br>
                <a:rPr lang="en-US" sz="1600" dirty="0"/>
              </a:br>
              <a:r>
                <a:rPr lang="en-US" sz="1600" dirty="0"/>
                <a:t>ensemble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B103CE-EBD6-7702-7B12-AA856AADBF76}"/>
                </a:ext>
              </a:extLst>
            </p:cNvPr>
            <p:cNvSpPr txBox="1"/>
            <p:nvPr/>
          </p:nvSpPr>
          <p:spPr>
            <a:xfrm>
              <a:off x="5777640" y="4792532"/>
              <a:ext cx="1155770" cy="677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Final</a:t>
              </a:r>
              <a:br>
                <a:rPr lang="en-US" sz="1600" dirty="0"/>
              </a:br>
              <a:r>
                <a:rPr lang="en-US" sz="1600" dirty="0"/>
                <a:t>ensemble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3717BC-3A8D-634B-0D16-FF0F395238A6}"/>
                </a:ext>
              </a:extLst>
            </p:cNvPr>
            <p:cNvSpPr txBox="1"/>
            <p:nvPr/>
          </p:nvSpPr>
          <p:spPr>
            <a:xfrm>
              <a:off x="10283588" y="3092387"/>
              <a:ext cx="1134817" cy="677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Statistical</a:t>
              </a:r>
              <a:br>
                <a:rPr lang="en-US" sz="1600" dirty="0"/>
              </a:br>
              <a:r>
                <a:rPr lang="en-US" sz="1600" dirty="0"/>
                <a:t>data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1A9E4F-60A1-A787-937F-C87A241AE55C}"/>
              </a:ext>
            </a:extLst>
          </p:cNvPr>
          <p:cNvGrpSpPr/>
          <p:nvPr/>
        </p:nvGrpSpPr>
        <p:grpSpPr>
          <a:xfrm>
            <a:off x="1657638" y="5222065"/>
            <a:ext cx="6313622" cy="1429978"/>
            <a:chOff x="835433" y="4010249"/>
            <a:chExt cx="6313622" cy="142997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6C3CAF9-CCD9-5773-60EC-100738BE207D}"/>
                </a:ext>
              </a:extLst>
            </p:cNvPr>
            <p:cNvSpPr/>
            <p:nvPr/>
          </p:nvSpPr>
          <p:spPr>
            <a:xfrm>
              <a:off x="835433" y="4010249"/>
              <a:ext cx="1350577" cy="1021977"/>
            </a:xfrm>
            <a:custGeom>
              <a:avLst/>
              <a:gdLst>
                <a:gd name="connsiteX0" fmla="*/ 0 w 1269594"/>
                <a:gd name="connsiteY0" fmla="*/ 0 h 1021977"/>
                <a:gd name="connsiteX1" fmla="*/ 1183341 w 1269594"/>
                <a:gd name="connsiteY1" fmla="*/ 0 h 1021977"/>
                <a:gd name="connsiteX2" fmla="*/ 1183341 w 1269594"/>
                <a:gd name="connsiteY2" fmla="*/ 222350 h 1021977"/>
                <a:gd name="connsiteX3" fmla="*/ 1269594 w 1269594"/>
                <a:gd name="connsiteY3" fmla="*/ 172994 h 1021977"/>
                <a:gd name="connsiteX4" fmla="*/ 1269594 w 1269594"/>
                <a:gd name="connsiteY4" fmla="*/ 827044 h 1021977"/>
                <a:gd name="connsiteX5" fmla="*/ 1183341 w 1269594"/>
                <a:gd name="connsiteY5" fmla="*/ 777688 h 1021977"/>
                <a:gd name="connsiteX6" fmla="*/ 1183341 w 1269594"/>
                <a:gd name="connsiteY6" fmla="*/ 1021977 h 1021977"/>
                <a:gd name="connsiteX7" fmla="*/ 0 w 1269594"/>
                <a:gd name="connsiteY7" fmla="*/ 1021977 h 102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9594" h="1021977">
                  <a:moveTo>
                    <a:pt x="0" y="0"/>
                  </a:moveTo>
                  <a:lnTo>
                    <a:pt x="1183341" y="0"/>
                  </a:lnTo>
                  <a:lnTo>
                    <a:pt x="1183341" y="222350"/>
                  </a:lnTo>
                  <a:lnTo>
                    <a:pt x="1269594" y="172994"/>
                  </a:lnTo>
                  <a:lnTo>
                    <a:pt x="1269594" y="827044"/>
                  </a:lnTo>
                  <a:lnTo>
                    <a:pt x="1183341" y="777688"/>
                  </a:lnTo>
                  <a:lnTo>
                    <a:pt x="1183341" y="1021977"/>
                  </a:lnTo>
                  <a:lnTo>
                    <a:pt x="0" y="102197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dirty="0"/>
                <a:t>Preparation</a:t>
              </a:r>
              <a:br>
                <a:rPr lang="en-US" dirty="0"/>
              </a:br>
              <a:r>
                <a:rPr lang="en-US" dirty="0"/>
                <a:t>procedure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E5C8F44-DC13-C161-2286-323CAF5ADE03}"/>
                </a:ext>
              </a:extLst>
            </p:cNvPr>
            <p:cNvSpPr/>
            <p:nvPr/>
          </p:nvSpPr>
          <p:spPr>
            <a:xfrm>
              <a:off x="3759935" y="4390209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D6E524F-F60B-BDFE-B924-2585AD159D31}"/>
                </a:ext>
              </a:extLst>
            </p:cNvPr>
            <p:cNvSpPr/>
            <p:nvPr/>
          </p:nvSpPr>
          <p:spPr>
            <a:xfrm>
              <a:off x="2958223" y="463874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285DC77-7B3B-DB83-A7A6-5E8AD183CDAF}"/>
                </a:ext>
              </a:extLst>
            </p:cNvPr>
            <p:cNvSpPr/>
            <p:nvPr/>
          </p:nvSpPr>
          <p:spPr>
            <a:xfrm>
              <a:off x="5234312" y="461293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52896A6-6197-B9F8-7530-5D8C5A1E544F}"/>
                </a:ext>
              </a:extLst>
            </p:cNvPr>
            <p:cNvSpPr/>
            <p:nvPr/>
          </p:nvSpPr>
          <p:spPr>
            <a:xfrm>
              <a:off x="4381108" y="4227511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54C4DC0-2AF1-D9EF-74B8-74570737710A}"/>
                </a:ext>
              </a:extLst>
            </p:cNvPr>
            <p:cNvSpPr/>
            <p:nvPr/>
          </p:nvSpPr>
          <p:spPr>
            <a:xfrm>
              <a:off x="6282340" y="463874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C471F9-0F91-4B31-BCE9-84B83B0FFD0D}"/>
                </a:ext>
              </a:extLst>
            </p:cNvPr>
            <p:cNvSpPr txBox="1"/>
            <p:nvPr/>
          </p:nvSpPr>
          <p:spPr>
            <a:xfrm>
              <a:off x="3379696" y="4978562"/>
              <a:ext cx="27703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Ensemble of outputs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A57E91-E266-D2A2-D7CD-18A1ABBD124F}"/>
                    </a:ext>
                  </a:extLst>
                </p:cNvPr>
                <p:cNvSpPr txBox="1"/>
                <p:nvPr/>
              </p:nvSpPr>
              <p:spPr>
                <a:xfrm>
                  <a:off x="6616730" y="4183243"/>
                  <a:ext cx="5323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A57E91-E266-D2A2-D7CD-18A1ABBD1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6730" y="4183243"/>
                  <a:ext cx="532325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7ECEBA48-FA04-EC3E-A7EB-21022C2958D9}"/>
                </a:ext>
              </a:extLst>
            </p:cNvPr>
            <p:cNvSpPr/>
            <p:nvPr/>
          </p:nvSpPr>
          <p:spPr>
            <a:xfrm>
              <a:off x="5645484" y="4265178"/>
              <a:ext cx="156879" cy="156879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DD21C136-1638-641B-34E9-C475AFBF87F2}"/>
                </a:ext>
              </a:extLst>
            </p:cNvPr>
            <p:cNvSpPr/>
            <p:nvPr/>
          </p:nvSpPr>
          <p:spPr>
            <a:xfrm>
              <a:off x="4133991" y="4549426"/>
              <a:ext cx="156879" cy="156879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00B6D8C-38EA-C358-2B2D-15C9AA3E25E7}"/>
                </a:ext>
              </a:extLst>
            </p:cNvPr>
            <p:cNvSpPr/>
            <p:nvPr/>
          </p:nvSpPr>
          <p:spPr>
            <a:xfrm>
              <a:off x="2563371" y="4285623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AB0201C-C04F-8203-B265-6AFE3C4B2D15}"/>
                </a:ext>
              </a:extLst>
            </p:cNvPr>
            <p:cNvSpPr/>
            <p:nvPr/>
          </p:nvSpPr>
          <p:spPr>
            <a:xfrm>
              <a:off x="4848779" y="4369764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701404A-9B1F-A41E-D5D0-54742FD88AC5}"/>
                </a:ext>
              </a:extLst>
            </p:cNvPr>
            <p:cNvSpPr/>
            <p:nvPr/>
          </p:nvSpPr>
          <p:spPr>
            <a:xfrm>
              <a:off x="6433674" y="423333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D12E5B5-41B1-286F-C260-D7DBBFD781EC}"/>
                </a:ext>
              </a:extLst>
            </p:cNvPr>
            <p:cNvSpPr/>
            <p:nvPr/>
          </p:nvSpPr>
          <p:spPr>
            <a:xfrm>
              <a:off x="3227680" y="4227511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9795AE1-A5E1-1BD8-1DC7-414F56456616}"/>
                </a:ext>
              </a:extLst>
            </p:cNvPr>
            <p:cNvSpPr/>
            <p:nvPr/>
          </p:nvSpPr>
          <p:spPr>
            <a:xfrm>
              <a:off x="5645484" y="4763433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576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BA071-E44A-A8CC-0D52-0BA038215504}"/>
              </a:ext>
            </a:extLst>
          </p:cNvPr>
          <p:cNvSpPr txBox="1"/>
          <p:nvPr/>
        </p:nvSpPr>
        <p:spPr>
          <a:xfrm>
            <a:off x="2223345" y="113063"/>
            <a:ext cx="7745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Minimal requirements for an ensemble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72645-6D2B-3CDA-29A8-0D07E878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359"/>
          <a:stretch>
            <a:fillRect/>
          </a:stretch>
        </p:blipFill>
        <p:spPr>
          <a:xfrm>
            <a:off x="161364" y="787878"/>
            <a:ext cx="11869271" cy="10890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2EA73A-2EF5-6BA8-B34C-87A8E49B5C3F}"/>
              </a:ext>
            </a:extLst>
          </p:cNvPr>
          <p:cNvSpPr/>
          <p:nvPr/>
        </p:nvSpPr>
        <p:spPr>
          <a:xfrm>
            <a:off x="0" y="1161047"/>
            <a:ext cx="12192000" cy="71588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81298-0289-988C-0A37-412D9EA67E84}"/>
                  </a:ext>
                </a:extLst>
              </p:cNvPr>
              <p:cNvSpPr txBox="1"/>
              <p:nvPr/>
            </p:nvSpPr>
            <p:spPr>
              <a:xfrm>
                <a:off x="562744" y="1920249"/>
                <a:ext cx="55981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Experimental verifiability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Topology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81298-0289-988C-0A37-412D9EA67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1920249"/>
                <a:ext cx="5598136" cy="523220"/>
              </a:xfrm>
              <a:prstGeom prst="rect">
                <a:avLst/>
              </a:prstGeom>
              <a:blipFill>
                <a:blip r:embed="rId3"/>
                <a:stretch>
                  <a:fillRect l="-2176" t="-10465" r="-1197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3322D99-C010-1C23-3753-B12B179895D3}"/>
              </a:ext>
            </a:extLst>
          </p:cNvPr>
          <p:cNvSpPr txBox="1"/>
          <p:nvPr/>
        </p:nvSpPr>
        <p:spPr>
          <a:xfrm>
            <a:off x="7749039" y="1997193"/>
            <a:ext cx="3985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topological structures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9A4CD-926A-ACBD-993E-1A120836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161"/>
          <a:stretch>
            <a:fillRect/>
          </a:stretch>
        </p:blipFill>
        <p:spPr>
          <a:xfrm>
            <a:off x="141342" y="2604572"/>
            <a:ext cx="12011592" cy="446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42E0C4-4B1B-5156-CB71-5256BDC36669}"/>
                  </a:ext>
                </a:extLst>
              </p:cNvPr>
              <p:cNvSpPr txBox="1"/>
              <p:nvPr/>
            </p:nvSpPr>
            <p:spPr>
              <a:xfrm>
                <a:off x="562744" y="3136495"/>
                <a:ext cx="66855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Ensembles can be mixed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Convex structure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42E0C4-4B1B-5156-CB71-5256BDC36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3136495"/>
                <a:ext cx="6685548" cy="523220"/>
              </a:xfrm>
              <a:prstGeom prst="rect">
                <a:avLst/>
              </a:prstGeom>
              <a:blipFill>
                <a:blip r:embed="rId5"/>
                <a:stretch>
                  <a:fillRect l="-1823" t="-11765" r="-63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5E4411-EF50-E431-02A4-9AE7A342BA92}"/>
              </a:ext>
            </a:extLst>
          </p:cNvPr>
          <p:cNvSpPr txBox="1"/>
          <p:nvPr/>
        </p:nvSpPr>
        <p:spPr>
          <a:xfrm>
            <a:off x="7749038" y="3244334"/>
            <a:ext cx="348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linear structures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C2D-376C-4ACE-7CF8-FF12F46B13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4917"/>
          <a:stretch>
            <a:fillRect/>
          </a:stretch>
        </p:blipFill>
        <p:spPr>
          <a:xfrm>
            <a:off x="208082" y="3853202"/>
            <a:ext cx="9207825" cy="585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7C09-021C-F0FB-037A-10156701189F}"/>
                  </a:ext>
                </a:extLst>
              </p:cNvPr>
              <p:cNvSpPr txBox="1"/>
              <p:nvPr/>
            </p:nvSpPr>
            <p:spPr>
              <a:xfrm>
                <a:off x="562744" y="4531477"/>
                <a:ext cx="47178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Ensemble variability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Entropy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7C09-021C-F0FB-037A-101567011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4531477"/>
                <a:ext cx="4717894" cy="523220"/>
              </a:xfrm>
              <a:prstGeom prst="rect">
                <a:avLst/>
              </a:prstGeom>
              <a:blipFill>
                <a:blip r:embed="rId7"/>
                <a:stretch>
                  <a:fillRect l="-1938" t="-10465" r="-193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C93E148-E70C-6CA9-985D-B836FAAA3BD6}"/>
              </a:ext>
            </a:extLst>
          </p:cNvPr>
          <p:cNvSpPr txBox="1"/>
          <p:nvPr/>
        </p:nvSpPr>
        <p:spPr>
          <a:xfrm>
            <a:off x="5420739" y="4665371"/>
            <a:ext cx="3900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geometric structures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EF67D-7CDA-05B5-7A50-4FD477DB1934}"/>
              </a:ext>
            </a:extLst>
          </p:cNvPr>
          <p:cNvSpPr txBox="1"/>
          <p:nvPr/>
        </p:nvSpPr>
        <p:spPr>
          <a:xfrm>
            <a:off x="764956" y="5696953"/>
            <a:ext cx="8094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Still trying to find the right starting point for Poisson/commutator structure</a:t>
            </a:r>
          </a:p>
        </p:txBody>
      </p:sp>
    </p:spTree>
    <p:extLst>
      <p:ext uri="{BB962C8B-B14F-4D97-AF65-F5344CB8AC3E}">
        <p14:creationId xmlns:p14="http://schemas.microsoft.com/office/powerpoint/2010/main" val="10278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7DCDC-655C-EF98-BDA9-8781A56F400F}"/>
              </a:ext>
            </a:extLst>
          </p:cNvPr>
          <p:cNvSpPr txBox="1"/>
          <p:nvPr/>
        </p:nvSpPr>
        <p:spPr>
          <a:xfrm>
            <a:off x="3064063" y="113063"/>
            <a:ext cx="6063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Some general results/constructions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E454BB-DC7A-0E4E-A4AB-BB6D97A062A2}"/>
              </a:ext>
            </a:extLst>
          </p:cNvPr>
          <p:cNvGrpSpPr/>
          <p:nvPr/>
        </p:nvGrpSpPr>
        <p:grpSpPr>
          <a:xfrm>
            <a:off x="266005" y="913822"/>
            <a:ext cx="6188192" cy="779207"/>
            <a:chOff x="332748" y="184638"/>
            <a:chExt cx="11526504" cy="14513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80FFAC-F22C-4350-657A-A5DDA4716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8377"/>
            <a:stretch/>
          </p:blipFill>
          <p:spPr>
            <a:xfrm>
              <a:off x="332748" y="184638"/>
              <a:ext cx="11526504" cy="132763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8B111E-CF23-56A2-E639-668A1DBC4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4840"/>
            <a:stretch/>
          </p:blipFill>
          <p:spPr>
            <a:xfrm>
              <a:off x="332748" y="1319211"/>
              <a:ext cx="11526504" cy="3168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63F1-0761-5DCD-C798-C31892E93310}"/>
                  </a:ext>
                </a:extLst>
              </p:cNvPr>
              <p:cNvSpPr txBox="1"/>
              <p:nvPr/>
            </p:nvSpPr>
            <p:spPr>
              <a:xfrm>
                <a:off x="6765111" y="900096"/>
                <a:ext cx="525534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maximal entropy increase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uniquely</a:t>
                </a:r>
                <a:br>
                  <a:rPr lang="en-US" sz="2000" dirty="0"/>
                </a:br>
                <a:r>
                  <a:rPr lang="en-US" sz="2000" dirty="0"/>
                  <a:t>determined, independently of physical theory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63F1-0761-5DCD-C798-C31892E93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111" y="900096"/>
                <a:ext cx="5255349" cy="707886"/>
              </a:xfrm>
              <a:prstGeom prst="rect">
                <a:avLst/>
              </a:prstGeom>
              <a:blipFill>
                <a:blip r:embed="rId3"/>
                <a:stretch>
                  <a:fillRect l="-1276" t="-5172" r="-46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2FF4A2B-33A8-869F-ACC1-005896FF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193" y="1944940"/>
            <a:ext cx="6246450" cy="581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B8EE1-CED7-B325-3FEC-94579EC8DAED}"/>
              </a:ext>
            </a:extLst>
          </p:cNvPr>
          <p:cNvSpPr txBox="1"/>
          <p:nvPr/>
        </p:nvSpPr>
        <p:spPr>
          <a:xfrm>
            <a:off x="407860" y="1993772"/>
            <a:ext cx="4110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Ensembles embed into a vector space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D1960-2C37-13D7-B6AE-92F617823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68" y="2710607"/>
            <a:ext cx="5402926" cy="834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3F0514-DFE7-87A0-14DB-48DD8816CCDA}"/>
              </a:ext>
            </a:extLst>
          </p:cNvPr>
          <p:cNvSpPr txBox="1"/>
          <p:nvPr/>
        </p:nvSpPr>
        <p:spPr>
          <a:xfrm>
            <a:off x="6710469" y="2721114"/>
            <a:ext cx="50375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Entropy increase during mixing generalizes</a:t>
            </a:r>
            <a:br>
              <a:rPr lang="en-US" sz="2000" dirty="0"/>
            </a:br>
            <a:r>
              <a:rPr lang="en-US" sz="2000" dirty="0"/>
              <a:t>Jensen-Shannon Divergence (pseudo-distance)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027789-B275-D7D1-C288-B0A427E85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125" y="3686761"/>
            <a:ext cx="4210638" cy="8764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D7D370-CBA6-11DE-C095-F24DCC5F2048}"/>
              </a:ext>
            </a:extLst>
          </p:cNvPr>
          <p:cNvSpPr txBox="1"/>
          <p:nvPr/>
        </p:nvSpPr>
        <p:spPr>
          <a:xfrm>
            <a:off x="331268" y="3771029"/>
            <a:ext cx="4927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Hessian of the entropy generalizes Fisher-Rao</a:t>
            </a:r>
            <a:br>
              <a:rPr lang="en-US" sz="2000" dirty="0"/>
            </a:br>
            <a:r>
              <a:rPr lang="en-US" sz="2000" dirty="0"/>
              <a:t>metric from information geometry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B8B756-2096-E597-529C-A49B160052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004" y="4704340"/>
            <a:ext cx="6619285" cy="630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9EFBF9-A777-D09F-0B2F-CBD9E2F0653E}"/>
              </a:ext>
            </a:extLst>
          </p:cNvPr>
          <p:cNvSpPr txBox="1"/>
          <p:nvPr/>
        </p:nvSpPr>
        <p:spPr>
          <a:xfrm>
            <a:off x="7078822" y="4554366"/>
            <a:ext cx="32612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Non-additive </a:t>
            </a:r>
            <a:br>
              <a:rPr lang="en-US" sz="2000" dirty="0"/>
            </a:br>
            <a:r>
              <a:rPr lang="en-US" sz="2000" dirty="0"/>
              <a:t>generalization</a:t>
            </a:r>
            <a:br>
              <a:rPr lang="en-US" sz="2000" dirty="0"/>
            </a:br>
            <a:r>
              <a:rPr lang="en-US" sz="2000" dirty="0"/>
              <a:t>of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84F7F-620F-975A-FC86-4337B19F7F6C}"/>
                  </a:ext>
                </a:extLst>
              </p:cNvPr>
              <p:cNvSpPr txBox="1"/>
              <p:nvPr/>
            </p:nvSpPr>
            <p:spPr>
              <a:xfrm>
                <a:off x="331268" y="5600954"/>
                <a:ext cx="21316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Generalization of</a:t>
                </a:r>
                <a:br>
                  <a:rPr lang="en-US" sz="2000" dirty="0"/>
                </a:b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84F7F-620F-975A-FC86-4337B19F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68" y="5600954"/>
                <a:ext cx="2131674" cy="707886"/>
              </a:xfrm>
              <a:prstGeom prst="rect">
                <a:avLst/>
              </a:prstGeom>
              <a:blipFill>
                <a:blip r:embed="rId8"/>
                <a:stretch>
                  <a:fillRect l="-2857" t="-5172" r="-286" b="-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1F3311B-C313-B606-91E2-0162E4A3A3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7636" y="5803369"/>
            <a:ext cx="6415542" cy="4375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F8D7CCF-B873-25D7-8F22-052F8B075BCF}"/>
              </a:ext>
            </a:extLst>
          </p:cNvPr>
          <p:cNvSpPr/>
          <p:nvPr/>
        </p:nvSpPr>
        <p:spPr>
          <a:xfrm>
            <a:off x="9504763" y="3771029"/>
            <a:ext cx="2687237" cy="3086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B8915F-D8FA-FFED-0AFC-0F533F3150AA}"/>
              </a:ext>
            </a:extLst>
          </p:cNvPr>
          <p:cNvGrpSpPr/>
          <p:nvPr/>
        </p:nvGrpSpPr>
        <p:grpSpPr>
          <a:xfrm>
            <a:off x="9106248" y="4426187"/>
            <a:ext cx="1478175" cy="2287683"/>
            <a:chOff x="8482198" y="1098309"/>
            <a:chExt cx="965902" cy="152424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BCB5E9-E4D4-0D43-2021-809B69BC27C0}"/>
                </a:ext>
              </a:extLst>
            </p:cNvPr>
            <p:cNvSpPr/>
            <p:nvPr/>
          </p:nvSpPr>
          <p:spPr>
            <a:xfrm>
              <a:off x="8482198" y="1098309"/>
              <a:ext cx="939556" cy="15242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A457821-3CBD-6D7A-9AB3-C7B533F00077}"/>
                </a:ext>
              </a:extLst>
            </p:cNvPr>
            <p:cNvGrpSpPr/>
            <p:nvPr/>
          </p:nvGrpSpPr>
          <p:grpSpPr>
            <a:xfrm>
              <a:off x="8508544" y="1098309"/>
              <a:ext cx="939556" cy="1474361"/>
              <a:chOff x="11515366" y="5256226"/>
              <a:chExt cx="3037505" cy="4652874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78C9C79-EC1E-B345-BDED-C4EE2BF4EF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919"/>
              <a:stretch/>
            </p:blipFill>
            <p:spPr>
              <a:xfrm>
                <a:off x="11515366" y="8147942"/>
                <a:ext cx="3037505" cy="1761158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ACAE15C-E5BB-2F53-4953-BE27A82EF2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464"/>
              <a:stretch/>
            </p:blipFill>
            <p:spPr>
              <a:xfrm>
                <a:off x="11778154" y="5256226"/>
                <a:ext cx="2511928" cy="38653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50764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1E87B-63A1-DDF4-5D2F-38C2018E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3FF17-652E-659E-8332-554F246C3B3A}"/>
              </a:ext>
            </a:extLst>
          </p:cNvPr>
          <p:cNvSpPr txBox="1"/>
          <p:nvPr/>
        </p:nvSpPr>
        <p:spPr>
          <a:xfrm>
            <a:off x="1365407" y="113063"/>
            <a:ext cx="9461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Many open problems and conjectures listed in the book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6405A1-2F11-53F9-C467-C98200F1D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" r="768"/>
          <a:stretch>
            <a:fillRect/>
          </a:stretch>
        </p:blipFill>
        <p:spPr>
          <a:xfrm>
            <a:off x="273600" y="780803"/>
            <a:ext cx="9309600" cy="32680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6DD10F9-2455-59E9-5A1F-B23A6D59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05" y="4575229"/>
            <a:ext cx="5271095" cy="178236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5B773F6-FBF5-0676-6541-65BBF04C7FF6}"/>
              </a:ext>
            </a:extLst>
          </p:cNvPr>
          <p:cNvSpPr txBox="1"/>
          <p:nvPr/>
        </p:nvSpPr>
        <p:spPr>
          <a:xfrm>
            <a:off x="7941244" y="3591328"/>
            <a:ext cx="3283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Book is open access/open source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30BA15-AA48-5CE1-07B0-6CE8F919C0AB}"/>
              </a:ext>
            </a:extLst>
          </p:cNvPr>
          <p:cNvCxnSpPr/>
          <p:nvPr/>
        </p:nvCxnSpPr>
        <p:spPr>
          <a:xfrm flipH="1" flipV="1">
            <a:off x="7862400" y="3362400"/>
            <a:ext cx="201600" cy="27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FA16D2-5204-0F8B-3383-F5A58219705A}"/>
              </a:ext>
            </a:extLst>
          </p:cNvPr>
          <p:cNvCxnSpPr>
            <a:stCxn id="27" idx="1"/>
          </p:cNvCxnSpPr>
          <p:nvPr/>
        </p:nvCxnSpPr>
        <p:spPr>
          <a:xfrm flipH="1" flipV="1">
            <a:off x="6235200" y="3362400"/>
            <a:ext cx="1706044" cy="413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CF5DE8A-1AE7-1925-1A5D-35076849C5B1}"/>
              </a:ext>
            </a:extLst>
          </p:cNvPr>
          <p:cNvSpPr txBox="1"/>
          <p:nvPr/>
        </p:nvSpPr>
        <p:spPr>
          <a:xfrm>
            <a:off x="273600" y="4820079"/>
            <a:ext cx="3181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problems and conjectures</a:t>
            </a:r>
            <a:br>
              <a:rPr lang="en-US" dirty="0"/>
            </a:br>
            <a:r>
              <a:rPr lang="en-US" dirty="0"/>
              <a:t>are included in the book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346711D-251B-6937-B70E-C5D39C30C958}"/>
              </a:ext>
            </a:extLst>
          </p:cNvPr>
          <p:cNvCxnSpPr>
            <a:cxnSpLocks/>
          </p:cNvCxnSpPr>
          <p:nvPr/>
        </p:nvCxnSpPr>
        <p:spPr>
          <a:xfrm>
            <a:off x="2901600" y="5263200"/>
            <a:ext cx="1166400" cy="25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688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4BA0-92ED-D7FF-D013-A538656F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6B71-14E3-8615-0FEC-23BF635D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problems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7CBF6-8BFD-059C-31A1-E4740B73F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31BD3-B1F0-DFE6-B2BA-1B0F43AA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59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D231-63ED-CD8D-075E-E523262A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classical mechanics to field theories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31C14-AC30-C756-CA7C-F3C8E6861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Formally, the state changes 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position takes the role of the index of the degree of freedom</a:t>
                </a:r>
              </a:p>
              <a:p>
                <a:pPr lvl="1"/>
                <a:r>
                  <a:rPr lang="en-US" dirty="0"/>
                  <a:t>The fields take the place of the coordinates</a:t>
                </a:r>
              </a:p>
              <a:p>
                <a:endParaRPr lang="en-US" dirty="0"/>
              </a:p>
              <a:p>
                <a:r>
                  <a:rPr lang="en-US" dirty="0"/>
                  <a:t>To properly generalize results to classical field theory we need to understand</a:t>
                </a:r>
              </a:p>
              <a:p>
                <a:pPr lvl="1"/>
                <a:r>
                  <a:rPr lang="en-US" dirty="0"/>
                  <a:t>How do we define probability distribution on function spaces?</a:t>
                </a:r>
              </a:p>
              <a:p>
                <a:pPr lvl="1"/>
                <a:r>
                  <a:rPr lang="en-US" dirty="0"/>
                  <a:t>How do we define a symplectic form on function spaces?</a:t>
                </a:r>
              </a:p>
              <a:p>
                <a:pPr lvl="1"/>
                <a:r>
                  <a:rPr lang="en-US" dirty="0"/>
                  <a:t>How do we define a Shannon-like entropy on function spaces?</a:t>
                </a:r>
              </a:p>
              <a:p>
                <a:r>
                  <a:rPr lang="en-US" dirty="0"/>
                  <a:t>These three need to be done in a consistent way</a:t>
                </a:r>
                <a:br>
                  <a:rPr lang="en-US" dirty="0"/>
                </a:br>
                <a:r>
                  <a:rPr lang="en-US" dirty="0"/>
                  <a:t>which may help constrain the problem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31C14-AC30-C756-CA7C-F3C8E6861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6" t="-1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9B7C8-B483-F26C-66D9-B1176208FA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53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A977-FCD1-C562-3AE0-EFCE96E5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89BE-87E1-89F8-7039-9C60547D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Topological convex spaces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8964-19AE-4E45-7F99-0E445E337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955" y="1075038"/>
                <a:ext cx="11984090" cy="538174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axiom of ensemble guarantee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second countable topology</a:t>
                </a:r>
              </a:p>
              <a:p>
                <a:r>
                  <a:rPr lang="en-US" dirty="0"/>
                  <a:t>The axiom of mixture tells us an ensemble space must be a convex space</a:t>
                </a:r>
                <a:br>
                  <a:rPr lang="en-US" dirty="0"/>
                </a:br>
                <a:r>
                  <a:rPr lang="en-US" dirty="0"/>
                  <a:t>(i.e. allow convex combinations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Mixture must be continuous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topological convex space</a:t>
                </a:r>
              </a:p>
              <a:p>
                <a:r>
                  <a:rPr lang="en-US" dirty="0"/>
                  <a:t>The axiom of ensemble forces convex space to be embeddable in a vector space</a:t>
                </a:r>
              </a:p>
              <a:p>
                <a:endParaRPr lang="en-US" dirty="0"/>
              </a:p>
              <a:p>
                <a:r>
                  <a:rPr lang="en-US" dirty="0"/>
                  <a:t>Can we prove a continuous embedding in a topological vector space?</a:t>
                </a:r>
              </a:p>
              <a:p>
                <a:r>
                  <a:rPr lang="en-US" dirty="0"/>
                  <a:t>Can we prove the ambient topological vector space</a:t>
                </a:r>
                <a:br>
                  <a:rPr lang="en-US" dirty="0"/>
                </a:br>
                <a:r>
                  <a:rPr lang="en-US" dirty="0"/>
                  <a:t>must be second countable?</a:t>
                </a:r>
              </a:p>
              <a:p>
                <a:pPr lvl="1"/>
                <a:r>
                  <a:rPr lang="en-US" dirty="0"/>
                  <a:t>Since it would make it metrizable, any ensemble space would</a:t>
                </a:r>
                <a:br>
                  <a:rPr lang="en-US" dirty="0"/>
                </a:br>
                <a:r>
                  <a:rPr lang="en-US" dirty="0"/>
                  <a:t>admit a metric, regardless of the specific physical theory</a:t>
                </a:r>
              </a:p>
              <a:p>
                <a:r>
                  <a:rPr lang="en-US" dirty="0"/>
                  <a:t>We can show that the ensemble space must be bounded</a:t>
                </a:r>
                <a:br>
                  <a:rPr lang="en-US" dirty="0"/>
                </a:br>
                <a:r>
                  <a:rPr lang="en-US" dirty="0"/>
                  <a:t>along each direction: does it make it a bounded set?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8964-19AE-4E45-7F99-0E445E337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955" y="1075038"/>
                <a:ext cx="11984090" cy="5381746"/>
              </a:xfrm>
              <a:blipFill>
                <a:blip r:embed="rId2"/>
                <a:stretch>
                  <a:fillRect l="-763" t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F0AB1-FB6E-6BD0-04C2-B3C7300327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87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B78B-F01A-2FA4-4A55-AAE284B1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882160-792A-1051-F16C-8CECB8FDC2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955" y="1075038"/>
                <a:ext cx="11984090" cy="538174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The axiom of entropy is able to recover the entropy univocally ONLY under the assumption that the space is orthogonally decomposable</a:t>
                </a:r>
              </a:p>
              <a:p>
                <a:pPr lvl="1"/>
                <a:r>
                  <a:rPr lang="en-US" dirty="0"/>
                  <a:t>I.e. every ensemble is the convex combination of two ensemble that, when mixed, maximize the entropy</a:t>
                </a:r>
              </a:p>
              <a:p>
                <a:r>
                  <a:rPr lang="en-US" dirty="0"/>
                  <a:t>We lack a “three-point” relationship that would characterize the entropy more in general</a:t>
                </a:r>
              </a:p>
              <a:p>
                <a:endParaRPr lang="en-US" dirty="0"/>
              </a:p>
              <a:p>
                <a:r>
                  <a:rPr lang="en-US" dirty="0"/>
                  <a:t>The pseudo-distance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generalizes the Jensen-Shannon divergence, which is the square of a distance function: what requirements must the entropy satisfy such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e>
                    </m:rad>
                  </m:oMath>
                </a14:m>
                <a:r>
                  <a:rPr lang="en-US" dirty="0"/>
                  <a:t> is a distance?</a:t>
                </a:r>
              </a:p>
              <a:p>
                <a:r>
                  <a:rPr lang="en-US" dirty="0"/>
                  <a:t>Given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continuous and it is zero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can we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The open balls of the JSD are convex in both classical and quantum:</a:t>
                </a:r>
                <a:br>
                  <a:rPr lang="en-US" dirty="0"/>
                </a:br>
                <a:r>
                  <a:rPr lang="en-US" dirty="0"/>
                  <a:t>what requirements must the entropy satisfy such that</a:t>
                </a:r>
                <a:br>
                  <a:rPr lang="en-US" dirty="0"/>
                </a:br>
                <a:r>
                  <a:rPr lang="en-US" dirty="0"/>
                  <a:t>the open balls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</m:oMath>
                </a14:m>
                <a:r>
                  <a:rPr lang="en-US" dirty="0"/>
                  <a:t> are convex?</a:t>
                </a:r>
              </a:p>
              <a:p>
                <a:r>
                  <a:rPr lang="en-US" dirty="0"/>
                  <a:t>If these conjectures are provable from physically justifiable axioms,</a:t>
                </a:r>
                <a:br>
                  <a:rPr lang="en-US" dirty="0"/>
                </a:br>
                <a:r>
                  <a:rPr lang="en-US" dirty="0"/>
                  <a:t>it would mean every ensemble space is locally convex and metrizable,</a:t>
                </a:r>
                <a:br>
                  <a:rPr lang="en-US" dirty="0"/>
                </a:br>
                <a:r>
                  <a:rPr lang="en-US" dirty="0"/>
                  <a:t>and therefore the entropy gives us enough structure to define calculus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882160-792A-1051-F16C-8CECB8FDC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955" y="1075038"/>
                <a:ext cx="11984090" cy="5381746"/>
              </a:xfrm>
              <a:blipFill>
                <a:blip r:embed="rId2"/>
                <a:stretch>
                  <a:fillRect l="-661" t="-2605" r="-1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F4E62-A684-5F3C-C96C-AF87C0A9C1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01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527A-6300-A5EB-C7CE-0D66FA33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Lie algebraic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91816-5520-EF2D-9BF9-58ECDE47B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both classical mechanics and quantum mechanics, relationships between generators and observables are given by a Lie algebra</a:t>
            </a:r>
          </a:p>
          <a:p>
            <a:pPr lvl="1"/>
            <a:r>
              <a:rPr lang="en-US" dirty="0"/>
              <a:t>The Poisson brackets in classical mechanics</a:t>
            </a:r>
          </a:p>
          <a:p>
            <a:pPr lvl="1"/>
            <a:r>
              <a:rPr lang="en-US" dirty="0"/>
              <a:t>The commutators in quantum mechanics</a:t>
            </a:r>
          </a:p>
          <a:p>
            <a:r>
              <a:rPr lang="en-US" dirty="0"/>
              <a:t>The symplectic nature of both spaces is tied to this structure, and with the identification of generators and observables</a:t>
            </a:r>
          </a:p>
          <a:p>
            <a:r>
              <a:rPr lang="en-US" dirty="0"/>
              <a:t>We need a generalization that work on a generic ensemble space</a:t>
            </a:r>
          </a:p>
          <a:p>
            <a:endParaRPr lang="en-US" dirty="0"/>
          </a:p>
          <a:p>
            <a:r>
              <a:rPr lang="en-US" dirty="0"/>
              <a:t>How can we define this structure on the ensembles, instead of the pure states?</a:t>
            </a:r>
          </a:p>
          <a:p>
            <a:r>
              <a:rPr lang="en-US" dirty="0"/>
              <a:t>What exactly is the relationship to the entropy? In both classical</a:t>
            </a:r>
            <a:br>
              <a:rPr lang="en-US" dirty="0"/>
            </a:br>
            <a:r>
              <a:rPr lang="en-US" dirty="0"/>
              <a:t>and quantum mechanics, Hamiltonian evolution is connected to</a:t>
            </a:r>
            <a:br>
              <a:rPr lang="en-US" dirty="0"/>
            </a:br>
            <a:r>
              <a:rPr lang="en-US" dirty="0"/>
              <a:t>conservation of entropy</a:t>
            </a:r>
          </a:p>
          <a:p>
            <a:r>
              <a:rPr lang="en-US" dirty="0"/>
              <a:t>How much of this structure is already contained in the</a:t>
            </a:r>
            <a:br>
              <a:rPr lang="en-US" dirty="0"/>
            </a:br>
            <a:r>
              <a:rPr lang="en-US" dirty="0"/>
              <a:t>previous axioms? In classical mechanics, we saw that the</a:t>
            </a:r>
            <a:br>
              <a:rPr lang="en-US" dirty="0"/>
            </a:br>
            <a:r>
              <a:rPr lang="en-US" dirty="0"/>
              <a:t>existence of the symplectic structure is equivalent to be able</a:t>
            </a:r>
            <a:br>
              <a:rPr lang="en-US" dirty="0"/>
            </a:br>
            <a:r>
              <a:rPr lang="en-US" dirty="0"/>
              <a:t>to define an entropy on the states themselves, as opposed</a:t>
            </a:r>
            <a:br>
              <a:rPr lang="en-US" dirty="0"/>
            </a:br>
            <a:r>
              <a:rPr lang="en-US" dirty="0"/>
              <a:t>to separately to each coordinate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0E33-850C-62B4-153E-EE595C741F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26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D17C-7AA4-78E5-84E1-4D39F20F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59DB-D4B9-0C24-DA36-7BD4D4A1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 the points from the ensembles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FC157-7A23-65E9-D048-FDEA1E321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general, states do not necessarily correspond to ensembles. For example, given that position and momentum cannot be prepared with infinite precision, Dirac measures over the continuum are not ensembles</a:t>
            </a:r>
          </a:p>
          <a:p>
            <a:pPr lvl="1"/>
            <a:r>
              <a:rPr lang="en-US" dirty="0"/>
              <a:t>They also would have minus infinite entropy</a:t>
            </a:r>
          </a:p>
          <a:p>
            <a:r>
              <a:rPr lang="en-US" dirty="0"/>
              <a:t>This means that, in general, the ensemble space does not contain its own extreme points</a:t>
            </a:r>
          </a:p>
          <a:p>
            <a:endParaRPr lang="en-US" dirty="0"/>
          </a:p>
          <a:p>
            <a:r>
              <a:rPr lang="en-US" dirty="0"/>
              <a:t>What recipe can we use to construct the extreme points?</a:t>
            </a:r>
          </a:p>
          <a:p>
            <a:pPr lvl="1"/>
            <a:r>
              <a:rPr lang="en-US" dirty="0"/>
              <a:t>One attempt was to construct a lattice based on the notion</a:t>
            </a:r>
            <a:br>
              <a:rPr lang="en-US" dirty="0"/>
            </a:br>
            <a:r>
              <a:rPr lang="en-US" dirty="0"/>
              <a:t>of orthogonality as maximization of entropy during mixing,</a:t>
            </a:r>
            <a:br>
              <a:rPr lang="en-US" dirty="0"/>
            </a:br>
            <a:r>
              <a:rPr lang="en-US" dirty="0"/>
              <a:t>and use the Stone representation theorem for Boolean algebras,</a:t>
            </a:r>
            <a:br>
              <a:rPr lang="en-US" dirty="0"/>
            </a:br>
            <a:r>
              <a:rPr lang="en-US" dirty="0"/>
              <a:t>but this returns points that are too fine</a:t>
            </a:r>
          </a:p>
          <a:p>
            <a:pPr lvl="1"/>
            <a:r>
              <a:rPr lang="en-US" dirty="0"/>
              <a:t>Are the points obtained from the statistical variable</a:t>
            </a:r>
            <a:br>
              <a:rPr lang="en-US" dirty="0"/>
            </a:br>
            <a:r>
              <a:rPr lang="en-US" dirty="0"/>
              <a:t>(i.e. from linear functionals?)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2A737-27C8-3FBF-597C-76A3E75680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45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B68D5-C165-468C-8AAE-C8A680C4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Non-additive measure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599BE-C701-72BE-095F-5E3BB0B441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Based on the current axioms, it is straight-forward to define non-additive measures for probability and count of states that reduce to the usual classical mechanics ones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we find a non-additive integral that recovers the expectation</a:t>
                </a:r>
                <a:br>
                  <a:rPr lang="en-US" dirty="0"/>
                </a:br>
                <a:r>
                  <a:rPr lang="en-US" dirty="0"/>
                  <a:t>of statistical variables? That is,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are the extreme points, </a:t>
                </a:r>
                <a:br>
                  <a:rPr lang="en-US" dirty="0"/>
                </a:br>
                <a:r>
                  <a:rPr lang="en-US" dirty="0"/>
                  <a:t>for every continuous linear functional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599BE-C701-72BE-095F-5E3BB0B44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6" t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F9AAB-30FD-EF9B-9FDB-D8FB8598E1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EA57D-2BAC-73FE-639E-A6159BDF1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200" y="3045911"/>
            <a:ext cx="8107200" cy="541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49079C-16C2-DCA2-E6C4-84918772D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200" y="2162108"/>
            <a:ext cx="8107200" cy="746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4E7040-99EE-D40E-5828-8F215A55B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2891" y="5158133"/>
            <a:ext cx="4967910" cy="91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6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AB25-F2AB-5A82-8E0B-0156AB52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B2A6D-CFEA-0523-267F-9E2B2DCE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1195C-B066-71C6-5B15-17F6FB0278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20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75491</TotalTime>
  <Words>1393</Words>
  <Application>Microsoft Office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 Open Problems in Physical Mathematics</vt:lpstr>
      <vt:lpstr>Outline</vt:lpstr>
      <vt:lpstr>Introduction to the Assumptions of Physics research program </vt:lpstr>
      <vt:lpstr>Main goal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Ensemble Spaces </vt:lpstr>
      <vt:lpstr>PowerPoint Presentation</vt:lpstr>
      <vt:lpstr>PowerPoint Presentation</vt:lpstr>
      <vt:lpstr>PowerPoint Presentation</vt:lpstr>
      <vt:lpstr>PowerPoint Presentation</vt:lpstr>
      <vt:lpstr>Open problems </vt:lpstr>
      <vt:lpstr>From classical mechanics to field theories</vt:lpstr>
      <vt:lpstr>Topological convex spaces</vt:lpstr>
      <vt:lpstr>Entropy</vt:lpstr>
      <vt:lpstr>Lie algebraic structure</vt:lpstr>
      <vt:lpstr>Recover the points from the ensembles</vt:lpstr>
      <vt:lpstr>Non-additive measure theory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270</cp:revision>
  <dcterms:created xsi:type="dcterms:W3CDTF">2021-04-07T15:17:47Z</dcterms:created>
  <dcterms:modified xsi:type="dcterms:W3CDTF">2026-02-04T19:56:13Z</dcterms:modified>
</cp:coreProperties>
</file>