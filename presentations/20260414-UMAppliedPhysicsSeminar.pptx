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976" r:id="rId2"/>
    <p:sldId id="1011" r:id="rId3"/>
    <p:sldId id="1091" r:id="rId4"/>
    <p:sldId id="1095" r:id="rId5"/>
    <p:sldId id="1014" r:id="rId6"/>
    <p:sldId id="1015" r:id="rId7"/>
    <p:sldId id="986" r:id="rId8"/>
    <p:sldId id="1087" r:id="rId9"/>
    <p:sldId id="980" r:id="rId10"/>
    <p:sldId id="1097" r:id="rId11"/>
    <p:sldId id="1098" r:id="rId12"/>
    <p:sldId id="961" r:id="rId13"/>
    <p:sldId id="1099" r:id="rId14"/>
    <p:sldId id="1100" r:id="rId15"/>
    <p:sldId id="1101" r:id="rId16"/>
    <p:sldId id="1102" r:id="rId17"/>
    <p:sldId id="1103" r:id="rId18"/>
    <p:sldId id="1105" r:id="rId19"/>
    <p:sldId id="1104" r:id="rId20"/>
    <p:sldId id="1285" r:id="rId21"/>
    <p:sldId id="1286" r:id="rId22"/>
    <p:sldId id="1107" r:id="rId23"/>
    <p:sldId id="1277" r:id="rId24"/>
    <p:sldId id="894" r:id="rId25"/>
    <p:sldId id="1108" r:id="rId26"/>
    <p:sldId id="1109" r:id="rId27"/>
    <p:sldId id="1256" r:id="rId28"/>
    <p:sldId id="1254" r:id="rId29"/>
    <p:sldId id="1255" r:id="rId30"/>
    <p:sldId id="1239" r:id="rId31"/>
    <p:sldId id="1240" r:id="rId32"/>
    <p:sldId id="1110" r:id="rId33"/>
    <p:sldId id="1274" r:id="rId34"/>
    <p:sldId id="1275" r:id="rId35"/>
    <p:sldId id="1276" r:id="rId36"/>
    <p:sldId id="1258" r:id="rId37"/>
    <p:sldId id="1279" r:id="rId38"/>
    <p:sldId id="1280" r:id="rId39"/>
    <p:sldId id="1281" r:id="rId40"/>
    <p:sldId id="1282" r:id="rId41"/>
    <p:sldId id="1283" r:id="rId42"/>
    <p:sldId id="1094" r:id="rId43"/>
    <p:sldId id="1284" r:id="rId44"/>
    <p:sldId id="1271" r:id="rId45"/>
    <p:sldId id="1270" r:id="rId46"/>
    <p:sldId id="974" r:id="rId47"/>
    <p:sldId id="1090" r:id="rId48"/>
    <p:sldId id="901" r:id="rId49"/>
    <p:sldId id="1257" r:id="rId50"/>
    <p:sldId id="736" r:id="rId51"/>
    <p:sldId id="97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5607" autoAdjust="0"/>
  </p:normalViewPr>
  <p:slideViewPr>
    <p:cSldViewPr snapToGrid="0">
      <p:cViewPr varScale="1">
        <p:scale>
          <a:sx n="75" d="100"/>
          <a:sy n="75" d="100"/>
        </p:scale>
        <p:origin x="288" y="27"/>
      </p:cViewPr>
      <p:guideLst/>
    </p:cSldViewPr>
  </p:slideViewPr>
  <p:outlineViewPr>
    <p:cViewPr>
      <p:scale>
        <a:sx n="33" d="100"/>
        <a:sy n="33" d="100"/>
      </p:scale>
      <p:origin x="0" y="-9029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0.xml"/><Relationship Id="rId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put the axis on the ellipses. Make them move according to the map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9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491-54F5-45AA-8430-0DA28AFD8D1B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BE43-81C5-C3A7-19B2-4AEF320C7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9993"/>
            <a:ext cx="1676403" cy="152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FB429-4DC1-9EA8-5594-36E9029DC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6692"/>
            <a:ext cx="2229706" cy="7578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6A0094-1897-4107-B7A4-D86F4FEAFC50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C90A-B1C5-43F2-BCBF-30DB3DB35A4D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7CDA-0CE8-449B-BF1E-D029CD077B74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1D14-6119-492C-8B84-30AF5402E5BD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5B7A-16CA-43AA-9C32-B0AD1E8021D4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F5062-10EE-404B-A94F-B132CA25851F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B070-C281-4DA4-9A2D-00ADB4FE9658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424C-B5B5-4EDE-9CF6-7DF7132EDBF8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7D45A-038C-4009-9B05-E740BEE62318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244-DAD1-4219-A2C5-72F59EB76FEE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0B03A-34B3-4B8D-ACF4-EE1B86DD5109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4DAF4-877C-B697-9F33-77BD3CFF03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10"/>
            <a:ext cx="755810" cy="687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9385B-0892-E7A3-350A-12FC896047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74" y="6273515"/>
            <a:ext cx="1313865" cy="44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</p:spTree>
    <p:extLst>
      <p:ext uri="{BB962C8B-B14F-4D97-AF65-F5344CB8AC3E}">
        <p14:creationId xmlns:p14="http://schemas.microsoft.com/office/powerpoint/2010/main" val="36034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10.png"/><Relationship Id="rId4" Type="http://schemas.openxmlformats.org/officeDocument/2006/relationships/hyperlink" Target="https://assumptionsofphysics.or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9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211.png"/><Relationship Id="rId12" Type="http://schemas.openxmlformats.org/officeDocument/2006/relationships/image" Target="../media/image20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2.png"/><Relationship Id="rId11" Type="http://schemas.openxmlformats.org/officeDocument/2006/relationships/image" Target="../media/image190.png"/><Relationship Id="rId5" Type="http://schemas.openxmlformats.org/officeDocument/2006/relationships/image" Target="../media/image172.png"/><Relationship Id="rId15" Type="http://schemas.openxmlformats.org/officeDocument/2006/relationships/image" Target="../media/image34.png"/><Relationship Id="rId10" Type="http://schemas.openxmlformats.org/officeDocument/2006/relationships/image" Target="../media/image241.png"/><Relationship Id="rId9" Type="http://schemas.openxmlformats.org/officeDocument/2006/relationships/image" Target="../media/image232.png"/><Relationship Id="rId14" Type="http://schemas.openxmlformats.org/officeDocument/2006/relationships/image" Target="../media/image25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9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2.png"/><Relationship Id="rId5" Type="http://schemas.openxmlformats.org/officeDocument/2006/relationships/image" Target="../media/image313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9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72.png"/><Relationship Id="rId7" Type="http://schemas.openxmlformats.org/officeDocument/2006/relationships/image" Target="../media/image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7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90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png"/><Relationship Id="rId3" Type="http://schemas.openxmlformats.org/officeDocument/2006/relationships/image" Target="../media/image243.png"/><Relationship Id="rId7" Type="http://schemas.openxmlformats.org/officeDocument/2006/relationships/image" Target="../media/image26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50.png"/><Relationship Id="rId4" Type="http://schemas.openxmlformats.org/officeDocument/2006/relationships/image" Target="../media/image252.png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60.png"/><Relationship Id="rId7" Type="http://schemas.openxmlformats.org/officeDocument/2006/relationships/image" Target="../media/image40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1.png"/><Relationship Id="rId5" Type="http://schemas.openxmlformats.org/officeDocument/2006/relationships/image" Target="../media/image382.png"/><Relationship Id="rId4" Type="http://schemas.openxmlformats.org/officeDocument/2006/relationships/image" Target="../media/image3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1.png"/><Relationship Id="rId3" Type="http://schemas.openxmlformats.org/officeDocument/2006/relationships/image" Target="../media/image120.png"/><Relationship Id="rId7" Type="http://schemas.openxmlformats.org/officeDocument/2006/relationships/image" Target="../media/image913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0.png"/><Relationship Id="rId5" Type="http://schemas.openxmlformats.org/officeDocument/2006/relationships/image" Target="../media/image122.png"/><Relationship Id="rId4" Type="http://schemas.openxmlformats.org/officeDocument/2006/relationships/image" Target="../media/image56.png"/><Relationship Id="rId9" Type="http://schemas.openxmlformats.org/officeDocument/2006/relationships/image" Target="../media/image5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6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80.png"/><Relationship Id="rId10" Type="http://schemas.openxmlformats.org/officeDocument/2006/relationships/image" Target="../media/image70.png"/><Relationship Id="rId4" Type="http://schemas.openxmlformats.org/officeDocument/2006/relationships/image" Target="../media/image570.png"/><Relationship Id="rId9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82.png"/><Relationship Id="rId3" Type="http://schemas.openxmlformats.org/officeDocument/2006/relationships/image" Target="../media/image61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png"/><Relationship Id="rId13" Type="http://schemas.openxmlformats.org/officeDocument/2006/relationships/image" Target="../media/image462.png"/><Relationship Id="rId18" Type="http://schemas.openxmlformats.org/officeDocument/2006/relationships/image" Target="../media/image1001.png"/><Relationship Id="rId3" Type="http://schemas.openxmlformats.org/officeDocument/2006/relationships/image" Target="../media/image361.png"/><Relationship Id="rId7" Type="http://schemas.openxmlformats.org/officeDocument/2006/relationships/image" Target="../media/image4000.png"/><Relationship Id="rId12" Type="http://schemas.openxmlformats.org/officeDocument/2006/relationships/image" Target="../media/image4500.png"/><Relationship Id="rId17" Type="http://schemas.openxmlformats.org/officeDocument/2006/relationships/image" Target="../media/image65.png"/><Relationship Id="rId2" Type="http://schemas.openxmlformats.org/officeDocument/2006/relationships/image" Target="../media/image351.png"/><Relationship Id="rId16" Type="http://schemas.openxmlformats.org/officeDocument/2006/relationships/image" Target="../media/image492.png"/><Relationship Id="rId20" Type="http://schemas.openxmlformats.org/officeDocument/2006/relationships/image" Target="../media/image10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11" Type="http://schemas.openxmlformats.org/officeDocument/2006/relationships/image" Target="../media/image442.png"/><Relationship Id="rId5" Type="http://schemas.openxmlformats.org/officeDocument/2006/relationships/image" Target="../media/image3800.png"/><Relationship Id="rId15" Type="http://schemas.openxmlformats.org/officeDocument/2006/relationships/image" Target="../media/image481.png"/><Relationship Id="rId10" Type="http://schemas.openxmlformats.org/officeDocument/2006/relationships/image" Target="../media/image432.png"/><Relationship Id="rId19" Type="http://schemas.openxmlformats.org/officeDocument/2006/relationships/image" Target="../media/image1010.png"/><Relationship Id="rId4" Type="http://schemas.openxmlformats.org/officeDocument/2006/relationships/image" Target="../media/image371.png"/><Relationship Id="rId9" Type="http://schemas.openxmlformats.org/officeDocument/2006/relationships/image" Target="../media/image422.png"/><Relationship Id="rId14" Type="http://schemas.openxmlformats.org/officeDocument/2006/relationships/image" Target="../media/image47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66.png"/><Relationship Id="rId7" Type="http://schemas.openxmlformats.org/officeDocument/2006/relationships/image" Target="../media/image9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6.png"/><Relationship Id="rId3" Type="http://schemas.openxmlformats.org/officeDocument/2006/relationships/image" Target="../media/image94.png"/><Relationship Id="rId7" Type="http://schemas.openxmlformats.org/officeDocument/2006/relationships/image" Target="../media/image99.png"/><Relationship Id="rId12" Type="http://schemas.openxmlformats.org/officeDocument/2006/relationships/image" Target="../media/image10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5.png"/><Relationship Id="rId9" Type="http://schemas.openxmlformats.org/officeDocument/2006/relationships/image" Target="../media/image101.png"/><Relationship Id="rId14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4.png"/><Relationship Id="rId7" Type="http://schemas.openxmlformats.org/officeDocument/2006/relationships/image" Target="../media/image10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112.png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021.png"/><Relationship Id="rId7" Type="http://schemas.openxmlformats.org/officeDocument/2006/relationships/image" Target="../media/image11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1.png"/><Relationship Id="rId4" Type="http://schemas.openxmlformats.org/officeDocument/2006/relationships/image" Target="../media/image109.png"/><Relationship Id="rId9" Type="http://schemas.openxmlformats.org/officeDocument/2006/relationships/image" Target="../media/image11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3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17.png"/><Relationship Id="rId5" Type="http://schemas.openxmlformats.org/officeDocument/2006/relationships/image" Target="../media/image127.png"/><Relationship Id="rId15" Type="http://schemas.openxmlformats.org/officeDocument/2006/relationships/image" Target="../media/image119.png"/><Relationship Id="rId10" Type="http://schemas.openxmlformats.org/officeDocument/2006/relationships/image" Target="../media/image380.png"/><Relationship Id="rId4" Type="http://schemas.openxmlformats.org/officeDocument/2006/relationships/image" Target="../media/image126.png"/><Relationship Id="rId9" Type="http://schemas.openxmlformats.org/officeDocument/2006/relationships/image" Target="../media/image370.png"/><Relationship Id="rId14" Type="http://schemas.openxmlformats.org/officeDocument/2006/relationships/image" Target="../media/image4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sumptionsofphysics" TargetMode="External"/><Relationship Id="rId2" Type="http://schemas.openxmlformats.org/officeDocument/2006/relationships/hyperlink" Target="https://assumptionsofphysics.org/book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@AssumptionsofPhysicsResearch" TargetMode="External"/><Relationship Id="rId4" Type="http://schemas.openxmlformats.org/officeDocument/2006/relationships/hyperlink" Target="https://www.youtube.com/user/gcarcassi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ssumptionsofphysics.org/book" TargetMode="External"/><Relationship Id="rId2" Type="http://schemas.openxmlformats.org/officeDocument/2006/relationships/hyperlink" Target="https://assumptionsofphysic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ssumptionsofphysics" TargetMode="External"/><Relationship Id="rId5" Type="http://schemas.openxmlformats.org/officeDocument/2006/relationships/hyperlink" Target="https://www.youtube.com/@AssumptionsofPhysicsResearch" TargetMode="External"/><Relationship Id="rId4" Type="http://schemas.openxmlformats.org/officeDocument/2006/relationships/hyperlink" Target="https://www.youtube.com/@gcarcassi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0.png"/><Relationship Id="rId13" Type="http://schemas.openxmlformats.org/officeDocument/2006/relationships/image" Target="../media/image220.png"/><Relationship Id="rId18" Type="http://schemas.openxmlformats.org/officeDocument/2006/relationships/image" Target="../media/image270.png"/><Relationship Id="rId3" Type="http://schemas.openxmlformats.org/officeDocument/2006/relationships/image" Target="../media/image124.png"/><Relationship Id="rId12" Type="http://schemas.openxmlformats.org/officeDocument/2006/relationships/image" Target="../media/image212.png"/><Relationship Id="rId17" Type="http://schemas.openxmlformats.org/officeDocument/2006/relationships/image" Target="../media/image260.png"/><Relationship Id="rId2" Type="http://schemas.openxmlformats.org/officeDocument/2006/relationships/image" Target="../media/image121.png"/><Relationship Id="rId16" Type="http://schemas.openxmlformats.org/officeDocument/2006/relationships/image" Target="../media/image2500.png"/><Relationship Id="rId20" Type="http://schemas.openxmlformats.org/officeDocument/2006/relationships/image" Target="../media/image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200.png"/><Relationship Id="rId5" Type="http://schemas.openxmlformats.org/officeDocument/2006/relationships/image" Target="../media/image711.png"/><Relationship Id="rId15" Type="http://schemas.openxmlformats.org/officeDocument/2006/relationships/image" Target="../media/image242.png"/><Relationship Id="rId10" Type="http://schemas.openxmlformats.org/officeDocument/2006/relationships/image" Target="../media/image1900.png"/><Relationship Id="rId19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81.png"/><Relationship Id="rId14" Type="http://schemas.openxmlformats.org/officeDocument/2006/relationships/image" Target="../media/image7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0.png"/><Relationship Id="rId3" Type="http://schemas.openxmlformats.org/officeDocument/2006/relationships/image" Target="../media/image390.png"/><Relationship Id="rId7" Type="http://schemas.openxmlformats.org/officeDocument/2006/relationships/image" Target="../media/image1810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0.png"/><Relationship Id="rId5" Type="http://schemas.openxmlformats.org/officeDocument/2006/relationships/image" Target="../media/image411.png"/><Relationship Id="rId10" Type="http://schemas.openxmlformats.org/officeDocument/2006/relationships/image" Target="../media/image213.png"/><Relationship Id="rId4" Type="http://schemas.openxmlformats.org/officeDocument/2006/relationships/image" Target="../media/image134.png"/><Relationship Id="rId9" Type="http://schemas.openxmlformats.org/officeDocument/2006/relationships/image" Target="../media/image20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8EF8-1CA4-0AF4-8F17-8A411A359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/>
              <a:t>Assumptions of Physics:</a:t>
            </a:r>
            <a:br>
              <a:rPr lang="en-US" dirty="0"/>
            </a:br>
            <a:r>
              <a:rPr lang="en-US" dirty="0"/>
              <a:t>a new principled approach</a:t>
            </a:r>
            <a:br>
              <a:rPr lang="en-US" dirty="0"/>
            </a:br>
            <a:r>
              <a:rPr lang="en-US" dirty="0"/>
              <a:t>to the foundations of physics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6BA-E88F-9DF9-B52F-C052D3944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59062"/>
          </a:xfrm>
        </p:spPr>
        <p:txBody>
          <a:bodyPr>
            <a:normAutofit fontScale="92500" lnSpcReduction="20000"/>
          </a:bodyPr>
          <a:lstStyle/>
          <a:p>
            <a:endParaRPr lang="en-US" sz="2400" dirty="0"/>
          </a:p>
          <a:p>
            <a:r>
              <a:rPr lang="en-US" sz="2600" dirty="0"/>
              <a:t>Christine A. Aidala</a:t>
            </a:r>
          </a:p>
          <a:p>
            <a:r>
              <a:rPr lang="en-US" sz="2600" dirty="0"/>
              <a:t>Physics Department</a:t>
            </a:r>
            <a:br>
              <a:rPr lang="en-US" sz="2600" dirty="0"/>
            </a:br>
            <a:r>
              <a:rPr lang="en-US" sz="2600" dirty="0"/>
              <a:t>University of Michigan</a:t>
            </a:r>
          </a:p>
          <a:p>
            <a:endParaRPr lang="en-US" dirty="0"/>
          </a:p>
          <a:p>
            <a:r>
              <a:rPr lang="en-US" dirty="0"/>
              <a:t>U-M Applied Physics Seminar</a:t>
            </a:r>
          </a:p>
          <a:p>
            <a:r>
              <a:rPr lang="en-US" dirty="0"/>
              <a:t>April 14, 2026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13723-0645-42C7-86E8-C94B23AD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2DCE-BCE0-1B6B-E0EF-339384EA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8698074" cy="897424"/>
          </a:xfrm>
        </p:spPr>
        <p:txBody>
          <a:bodyPr/>
          <a:lstStyle/>
          <a:p>
            <a:r>
              <a:rPr lang="en-US" dirty="0"/>
              <a:t>Main goal of the program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682E2-9FF6-9416-54E1-85337245508A}"/>
              </a:ext>
            </a:extLst>
          </p:cNvPr>
          <p:cNvGrpSpPr/>
          <p:nvPr/>
        </p:nvGrpSpPr>
        <p:grpSpPr>
          <a:xfrm>
            <a:off x="8708668" y="320121"/>
            <a:ext cx="3436710" cy="2736585"/>
            <a:chOff x="8807251" y="356793"/>
            <a:chExt cx="3436710" cy="2736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D1683F9-8185-F744-0B0B-49403F1DAD2A}"/>
                </a:ext>
              </a:extLst>
            </p:cNvPr>
            <p:cNvGrpSpPr/>
            <p:nvPr/>
          </p:nvGrpSpPr>
          <p:grpSpPr>
            <a:xfrm>
              <a:off x="9410754" y="356793"/>
              <a:ext cx="2229706" cy="2324557"/>
              <a:chOff x="9664754" y="4369993"/>
              <a:chExt cx="2229706" cy="232455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09733E4-688D-4DCE-213B-967DFA3BC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1405" y="4369993"/>
                <a:ext cx="1676403" cy="152400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9A616A9-AC58-C779-B5DB-EE419585F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64754" y="5936692"/>
                <a:ext cx="2229706" cy="757858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EA1047-B877-5965-1071-F5EB143EBF14}"/>
                </a:ext>
              </a:extLst>
            </p:cNvPr>
            <p:cNvSpPr txBox="1"/>
            <p:nvPr/>
          </p:nvSpPr>
          <p:spPr>
            <a:xfrm>
              <a:off x="8807251" y="2724046"/>
              <a:ext cx="3436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hlinkClick r:id="rId4"/>
                </a:rPr>
                <a:t>https://assumptionsofphysics.org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B66391-9F55-EB42-1EB1-682E52F74556}"/>
              </a:ext>
            </a:extLst>
          </p:cNvPr>
          <p:cNvGrpSpPr/>
          <p:nvPr/>
        </p:nvGrpSpPr>
        <p:grpSpPr>
          <a:xfrm>
            <a:off x="5013216" y="3135761"/>
            <a:ext cx="3284859" cy="916207"/>
            <a:chOff x="7093758" y="5122425"/>
            <a:chExt cx="4379811" cy="122161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6941F6-ECEF-2954-C8FD-9F4E73884367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F747669-9FC5-5308-ACE7-767979452B47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60FE619-0A8C-D24C-65C3-D12BC00B5E76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Chord 5">
                  <a:extLst>
                    <a:ext uri="{FF2B5EF4-FFF2-40B4-BE49-F238E27FC236}">
                      <a16:creationId xmlns:a16="http://schemas.microsoft.com/office/drawing/2014/main" id="{03399512-243A-864D-82D6-FF368404A102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168AA96-BA97-6FE4-AF8D-E8D94B7DFC2A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81741CE2-3C06-3E12-4FF4-6C7006EC28D5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Chord 5">
                  <a:extLst>
                    <a:ext uri="{FF2B5EF4-FFF2-40B4-BE49-F238E27FC236}">
                      <a16:creationId xmlns:a16="http://schemas.microsoft.com/office/drawing/2014/main" id="{72198938-A6D8-2A11-6039-2C2DDD70A8D7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B27224C-E116-C9F7-85DE-97C643C348B1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FED6AD9-11ED-9855-4715-0E0D6212D3A8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92C8A9-51BB-099C-C97A-580FBBC85F41}"/>
                </a:ext>
              </a:extLst>
            </p:cNvPr>
            <p:cNvSpPr/>
            <p:nvPr/>
          </p:nvSpPr>
          <p:spPr>
            <a:xfrm>
              <a:off x="10844764" y="5974703"/>
              <a:ext cx="6288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BBD1CB7-D1ED-6F86-3276-E1780DD1C44B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5AE56FF-1C7E-6F3B-66C3-B9B85FD59EAC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43958" cy="3178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CD5787-63F5-D9AC-802B-7AF573B2B40A}"/>
                </a:ext>
              </a:extLst>
            </p:cNvPr>
            <p:cNvCxnSpPr>
              <a:cxnSpLocks/>
            </p:cNvCxnSpPr>
            <p:nvPr/>
          </p:nvCxnSpPr>
          <p:spPr>
            <a:xfrm>
              <a:off x="8153400" y="5486400"/>
              <a:ext cx="2105526" cy="20453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98D2628-72BB-2EB2-0DEE-58BEF260B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337" y="5277853"/>
              <a:ext cx="2093495" cy="15641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D2617C-2532-1D1B-8AF9-8CA9F2276E0B}"/>
                </a:ext>
              </a:extLst>
            </p:cNvPr>
            <p:cNvSpPr txBox="1"/>
            <p:nvPr/>
          </p:nvSpPr>
          <p:spPr>
            <a:xfrm>
              <a:off x="8920867" y="5478456"/>
              <a:ext cx="41293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B4A313-E91D-14D5-6C5E-10CF8D0A5864}"/>
              </a:ext>
            </a:extLst>
          </p:cNvPr>
          <p:cNvGrpSpPr/>
          <p:nvPr/>
        </p:nvGrpSpPr>
        <p:grpSpPr>
          <a:xfrm>
            <a:off x="717063" y="3127424"/>
            <a:ext cx="3299436" cy="919519"/>
            <a:chOff x="7093758" y="5122425"/>
            <a:chExt cx="4376570" cy="12197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CD865E9-6A34-D7C3-87B4-4D97B2125383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9B90261-D5A3-C943-2158-5BDCB41BE187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A27D122-1932-13DA-4E44-23E18A19A60E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8" name="Chord 5">
                  <a:extLst>
                    <a:ext uri="{FF2B5EF4-FFF2-40B4-BE49-F238E27FC236}">
                      <a16:creationId xmlns:a16="http://schemas.microsoft.com/office/drawing/2014/main" id="{4E6F583B-CC50-57FB-643E-FFC6FCE3C467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688925C7-45D2-5D72-02A6-C3767F495E4C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9FC66F9-6A33-071A-93A7-F6FAD8D23F51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6" name="Chord 5">
                  <a:extLst>
                    <a:ext uri="{FF2B5EF4-FFF2-40B4-BE49-F238E27FC236}">
                      <a16:creationId xmlns:a16="http://schemas.microsoft.com/office/drawing/2014/main" id="{1BF90216-A627-3EE5-03F5-55DCCD3B2A4C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44FAB1C-6424-B3A9-62AF-1BA2C6A9B35A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88D463B-1D53-F810-4FC9-682C06A4E1A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ADF4B4-9D39-F4BD-D6A4-A27406433539}"/>
                </a:ext>
              </a:extLst>
            </p:cNvPr>
            <p:cNvSpPr/>
            <p:nvPr/>
          </p:nvSpPr>
          <p:spPr>
            <a:xfrm>
              <a:off x="10844764" y="5974702"/>
              <a:ext cx="625564" cy="3674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AB262B-18B6-12CD-128F-F5229B66BC5F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0F0CBD2-5AE8-52F6-2FBD-01E92375990E}"/>
                </a:ext>
              </a:extLst>
            </p:cNvPr>
            <p:cNvSpPr/>
            <p:nvPr/>
          </p:nvSpPr>
          <p:spPr>
            <a:xfrm rot="2714105">
              <a:off x="10396427" y="5524374"/>
              <a:ext cx="65673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39538E6-4284-CF77-E895-18496D5FC5A1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04538" cy="8367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2C9A3D-D4FB-9714-2F02-3A658A6CDA24}"/>
                  </a:ext>
                </a:extLst>
              </p:cNvPr>
              <p:cNvSpPr txBox="1"/>
              <p:nvPr/>
            </p:nvSpPr>
            <p:spPr>
              <a:xfrm>
                <a:off x="530237" y="2598451"/>
                <a:ext cx="3599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Infinitesimal reducibility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Classical state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2C9A3D-D4FB-9714-2F02-3A658A6CD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37" y="2598451"/>
                <a:ext cx="3599960" cy="338554"/>
              </a:xfrm>
              <a:prstGeom prst="rect">
                <a:avLst/>
              </a:prstGeom>
              <a:blipFill>
                <a:blip r:embed="rId5"/>
                <a:stretch>
                  <a:fillRect l="-101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6D50F44-FA6F-7634-7B43-AF2CA8BDA007}"/>
                  </a:ext>
                </a:extLst>
              </p:cNvPr>
              <p:cNvSpPr txBox="1"/>
              <p:nvPr/>
            </p:nvSpPr>
            <p:spPr>
              <a:xfrm>
                <a:off x="5162412" y="2597262"/>
                <a:ext cx="27519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Irreducibility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Quantum state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6D50F44-FA6F-7634-7B43-AF2CA8BDA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412" y="2597262"/>
                <a:ext cx="2751972" cy="338554"/>
              </a:xfrm>
              <a:prstGeom prst="rect">
                <a:avLst/>
              </a:prstGeom>
              <a:blipFill>
                <a:blip r:embed="rId6"/>
                <a:stretch>
                  <a:fillRect l="-1330" t="-5357" r="-4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B3C1A7E-6F6A-1D88-2FCE-065DF3392CE8}"/>
              </a:ext>
            </a:extLst>
          </p:cNvPr>
          <p:cNvSpPr txBox="1"/>
          <p:nvPr/>
        </p:nvSpPr>
        <p:spPr>
          <a:xfrm>
            <a:off x="271285" y="962742"/>
            <a:ext cx="83634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Identify a handful of physical starting points from which the basic laws can be rigorously derived</a:t>
            </a:r>
            <a:endParaRPr lang="en-US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455218-73B4-5DD6-D4BD-1B9C04723948}"/>
              </a:ext>
            </a:extLst>
          </p:cNvPr>
          <p:cNvSpPr txBox="1"/>
          <p:nvPr/>
        </p:nvSpPr>
        <p:spPr>
          <a:xfrm>
            <a:off x="271285" y="2141167"/>
            <a:ext cx="139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example: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225324-B563-B7A7-7AD5-95E8E983D9E1}"/>
              </a:ext>
            </a:extLst>
          </p:cNvPr>
          <p:cNvSpPr txBox="1"/>
          <p:nvPr/>
        </p:nvSpPr>
        <p:spPr>
          <a:xfrm>
            <a:off x="1916624" y="4389644"/>
            <a:ext cx="7163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This also requires rederiving all mathematical structures</a:t>
            </a:r>
            <a:br>
              <a:rPr lang="en-US" sz="2400" dirty="0"/>
            </a:br>
            <a:r>
              <a:rPr lang="en-US" sz="2400" dirty="0"/>
              <a:t>from physical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DB74E7-8E10-1AA5-EAF7-09367F1CBFE4}"/>
                  </a:ext>
                </a:extLst>
              </p:cNvPr>
              <p:cNvSpPr txBox="1"/>
              <p:nvPr/>
            </p:nvSpPr>
            <p:spPr>
              <a:xfrm>
                <a:off x="785488" y="5293998"/>
                <a:ext cx="72767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Science is evidence based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scientific theory must be characterized by experimentally verifiable statements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-algebras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DB74E7-8E10-1AA5-EAF7-09367F1CB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88" y="5293998"/>
                <a:ext cx="7276785" cy="646331"/>
              </a:xfrm>
              <a:prstGeom prst="rect">
                <a:avLst/>
              </a:prstGeom>
              <a:blipFill>
                <a:blip r:embed="rId7"/>
                <a:stretch>
                  <a:fillRect l="-75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3D12C71-F59C-FB7B-2F9F-12AAE88104C8}"/>
              </a:ext>
            </a:extLst>
          </p:cNvPr>
          <p:cNvSpPr txBox="1"/>
          <p:nvPr/>
        </p:nvSpPr>
        <p:spPr>
          <a:xfrm>
            <a:off x="271285" y="4924176"/>
            <a:ext cx="139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example: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BF6D1-82CA-6A7A-DA0A-882BC89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55797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CDC4-B9B9-B91F-9080-C1E0DE58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9DEB843-C6EB-5F54-D5FA-67BF69D6237D}"/>
              </a:ext>
            </a:extLst>
          </p:cNvPr>
          <p:cNvGrpSpPr/>
          <p:nvPr/>
        </p:nvGrpSpPr>
        <p:grpSpPr>
          <a:xfrm>
            <a:off x="1253268" y="1478637"/>
            <a:ext cx="5329477" cy="4258323"/>
            <a:chOff x="6381363" y="1621601"/>
            <a:chExt cx="5537623" cy="4424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290A96-4AC2-3B03-8D13-B9C0A97A4ED1}"/>
                </a:ext>
              </a:extLst>
            </p:cNvPr>
            <p:cNvSpPr/>
            <p:nvPr/>
          </p:nvSpPr>
          <p:spPr>
            <a:xfrm>
              <a:off x="7535247" y="5514390"/>
              <a:ext cx="3006017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Theory of Everything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347899-42C6-763B-B355-4B658C3C09A7}"/>
                </a:ext>
              </a:extLst>
            </p:cNvPr>
            <p:cNvSpPr/>
            <p:nvPr/>
          </p:nvSpPr>
          <p:spPr>
            <a:xfrm>
              <a:off x="6381363" y="4544880"/>
              <a:ext cx="2053510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General Relativity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0D99E3-EBFC-8CFD-584D-9A9251401D7B}"/>
                </a:ext>
              </a:extLst>
            </p:cNvPr>
            <p:cNvSpPr/>
            <p:nvPr/>
          </p:nvSpPr>
          <p:spPr>
            <a:xfrm>
              <a:off x="9240421" y="4546864"/>
              <a:ext cx="2404890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Grand Unified Theory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E9E36C-8875-908C-362E-01AA351B538C}"/>
                </a:ext>
              </a:extLst>
            </p:cNvPr>
            <p:cNvSpPr/>
            <p:nvPr/>
          </p:nvSpPr>
          <p:spPr>
            <a:xfrm>
              <a:off x="10204511" y="3572691"/>
              <a:ext cx="1642258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Electro-weak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6A11A3-1D42-BABE-EF51-FCC0D9F75783}"/>
                </a:ext>
              </a:extLst>
            </p:cNvPr>
            <p:cNvSpPr/>
            <p:nvPr/>
          </p:nvSpPr>
          <p:spPr>
            <a:xfrm>
              <a:off x="6964528" y="3572690"/>
              <a:ext cx="2902597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QCD – Strong Interactions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CA4829-F152-E97E-B55A-C4DEDA4791DC}"/>
                </a:ext>
              </a:extLst>
            </p:cNvPr>
            <p:cNvSpPr/>
            <p:nvPr/>
          </p:nvSpPr>
          <p:spPr>
            <a:xfrm>
              <a:off x="9355401" y="2598518"/>
              <a:ext cx="2563585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QED -Electromagnetism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E579F3-6BBD-3A27-1741-6F62AE6E54B1}"/>
                </a:ext>
              </a:extLst>
            </p:cNvPr>
            <p:cNvSpPr/>
            <p:nvPr/>
          </p:nvSpPr>
          <p:spPr>
            <a:xfrm>
              <a:off x="6964528" y="2598518"/>
              <a:ext cx="2052735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Weak interactions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60713D-5AF1-935D-F38E-41D480A970FB}"/>
                </a:ext>
              </a:extLst>
            </p:cNvPr>
            <p:cNvSpPr/>
            <p:nvPr/>
          </p:nvSpPr>
          <p:spPr>
            <a:xfrm>
              <a:off x="10204511" y="1621601"/>
              <a:ext cx="1660239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…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F87C7B2-0334-006B-0F51-3A7BE2536853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rot="16200000" flipV="1">
              <a:off x="8004355" y="4480489"/>
              <a:ext cx="437665" cy="163013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96327121-E06F-2F17-FA57-FCD62E8266ED}"/>
                </a:ext>
              </a:extLst>
            </p:cNvPr>
            <p:cNvCxnSpPr>
              <a:stCxn id="6" idx="0"/>
              <a:endCxn id="8" idx="2"/>
            </p:cNvCxnSpPr>
            <p:nvPr/>
          </p:nvCxnSpPr>
          <p:spPr>
            <a:xfrm rot="5400000" flipH="1" flipV="1">
              <a:off x="9522721" y="4594245"/>
              <a:ext cx="435681" cy="140461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A576A14E-1919-7640-DB92-0FEA2B07C3FB}"/>
                </a:ext>
              </a:extLst>
            </p:cNvPr>
            <p:cNvCxnSpPr>
              <a:stCxn id="8" idx="0"/>
              <a:endCxn id="9" idx="2"/>
            </p:cNvCxnSpPr>
            <p:nvPr/>
          </p:nvCxnSpPr>
          <p:spPr>
            <a:xfrm rot="5400000" flipH="1" flipV="1">
              <a:off x="10513089" y="4034313"/>
              <a:ext cx="442328" cy="58277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53EAE37F-7CAA-3CE5-020A-744114B96D03}"/>
                </a:ext>
              </a:extLst>
            </p:cNvPr>
            <p:cNvCxnSpPr>
              <a:stCxn id="8" idx="0"/>
              <a:endCxn id="10" idx="2"/>
            </p:cNvCxnSpPr>
            <p:nvPr/>
          </p:nvCxnSpPr>
          <p:spPr>
            <a:xfrm rot="16200000" flipV="1">
              <a:off x="9208183" y="3312180"/>
              <a:ext cx="442329" cy="202703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7513E7FC-2A20-66EC-D52A-D43003BE0BB6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rot="16200000" flipV="1">
              <a:off x="10610253" y="3157304"/>
              <a:ext cx="442328" cy="38844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565B818-F95F-3FB3-A027-A89276E6742A}"/>
                </a:ext>
              </a:extLst>
            </p:cNvPr>
            <p:cNvCxnSpPr>
              <a:stCxn id="9" idx="0"/>
              <a:endCxn id="12" idx="2"/>
            </p:cNvCxnSpPr>
            <p:nvPr/>
          </p:nvCxnSpPr>
          <p:spPr>
            <a:xfrm rot="16200000" flipV="1">
              <a:off x="9287104" y="1834155"/>
              <a:ext cx="442328" cy="303474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3D117304-AC1A-FEFC-39A9-ACE7A56B1EE2}"/>
                </a:ext>
              </a:extLst>
            </p:cNvPr>
            <p:cNvCxnSpPr>
              <a:stCxn id="11" idx="0"/>
              <a:endCxn id="13" idx="2"/>
            </p:cNvCxnSpPr>
            <p:nvPr/>
          </p:nvCxnSpPr>
          <p:spPr>
            <a:xfrm rot="5400000" flipH="1" flipV="1">
              <a:off x="10613376" y="2177264"/>
              <a:ext cx="445072" cy="39743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6C64D1-BB3B-09D6-56ED-060A6FF51318}"/>
              </a:ext>
            </a:extLst>
          </p:cNvPr>
          <p:cNvGrpSpPr/>
          <p:nvPr/>
        </p:nvGrpSpPr>
        <p:grpSpPr>
          <a:xfrm>
            <a:off x="516811" y="1307839"/>
            <a:ext cx="1472914" cy="2304478"/>
            <a:chOff x="6540761" y="1223020"/>
            <a:chExt cx="1155588" cy="1807998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6A3FD69-0DB7-C4D7-C14C-A1508785F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761" y="1231641"/>
              <a:ext cx="0" cy="1799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2EFC58-C5F3-FC64-F014-B08BB040E8BF}"/>
                </a:ext>
              </a:extLst>
            </p:cNvPr>
            <p:cNvSpPr txBox="1"/>
            <p:nvPr/>
          </p:nvSpPr>
          <p:spPr>
            <a:xfrm>
              <a:off x="6600433" y="1223020"/>
              <a:ext cx="1095916" cy="2656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approximation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A8A7375-464E-0527-462F-01C636330AD8}"/>
              </a:ext>
            </a:extLst>
          </p:cNvPr>
          <p:cNvSpPr txBox="1"/>
          <p:nvPr/>
        </p:nvSpPr>
        <p:spPr>
          <a:xfrm>
            <a:off x="5492068" y="5225106"/>
            <a:ext cx="1459285" cy="23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Measurement problem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FB13C-A973-77D7-8867-37AF2C7AE1F9}"/>
              </a:ext>
            </a:extLst>
          </p:cNvPr>
          <p:cNvSpPr txBox="1"/>
          <p:nvPr/>
        </p:nvSpPr>
        <p:spPr>
          <a:xfrm>
            <a:off x="796329" y="5166525"/>
            <a:ext cx="1431436" cy="23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What “really” happens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61847F-630E-225B-E9F5-B4B653D59FC3}"/>
              </a:ext>
            </a:extLst>
          </p:cNvPr>
          <p:cNvSpPr txBox="1"/>
          <p:nvPr/>
        </p:nvSpPr>
        <p:spPr>
          <a:xfrm>
            <a:off x="1181170" y="5834195"/>
            <a:ext cx="1518077" cy="23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Ontology of observables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73D60-4801-1628-2F2C-08F59060464A}"/>
              </a:ext>
            </a:extLst>
          </p:cNvPr>
          <p:cNvSpPr txBox="1"/>
          <p:nvPr/>
        </p:nvSpPr>
        <p:spPr>
          <a:xfrm>
            <a:off x="5862504" y="5507217"/>
            <a:ext cx="1301475" cy="23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Role of the observer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7FDCE3-CB15-499E-3B18-F6A92386384B}"/>
              </a:ext>
            </a:extLst>
          </p:cNvPr>
          <p:cNvSpPr txBox="1"/>
          <p:nvPr/>
        </p:nvSpPr>
        <p:spPr>
          <a:xfrm>
            <a:off x="5602207" y="5871771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Dark matter/energy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B8E025-1682-1201-0889-929016052808}"/>
              </a:ext>
            </a:extLst>
          </p:cNvPr>
          <p:cNvSpPr txBox="1"/>
          <p:nvPr/>
        </p:nvSpPr>
        <p:spPr>
          <a:xfrm>
            <a:off x="350848" y="5507217"/>
            <a:ext cx="11400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Hidden variables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823A902B-AF96-3F16-7259-6E446D24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779"/>
            <a:ext cx="8278347" cy="897424"/>
          </a:xfrm>
        </p:spPr>
        <p:txBody>
          <a:bodyPr>
            <a:noAutofit/>
          </a:bodyPr>
          <a:lstStyle/>
          <a:p>
            <a:r>
              <a:rPr lang="en-US" sz="3200" dirty="0"/>
              <a:t>Standard view of the foundations of physics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467FE-61B6-A724-54FA-8A738557A270}"/>
              </a:ext>
            </a:extLst>
          </p:cNvPr>
          <p:cNvSpPr txBox="1"/>
          <p:nvPr/>
        </p:nvSpPr>
        <p:spPr>
          <a:xfrm>
            <a:off x="3102622" y="5917804"/>
            <a:ext cx="21611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Perfect description of the universe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2968399-FAEF-4BCE-50D8-F58FCB91078C}"/>
              </a:ext>
            </a:extLst>
          </p:cNvPr>
          <p:cNvCxnSpPr>
            <a:cxnSpLocks/>
          </p:cNvCxnSpPr>
          <p:nvPr/>
        </p:nvCxnSpPr>
        <p:spPr>
          <a:xfrm flipH="1">
            <a:off x="7214803" y="2820373"/>
            <a:ext cx="2242235" cy="213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7CDD6C8-F0C4-8ED5-AA41-A8E978BD2D9F}"/>
              </a:ext>
            </a:extLst>
          </p:cNvPr>
          <p:cNvSpPr txBox="1"/>
          <p:nvPr/>
        </p:nvSpPr>
        <p:spPr>
          <a:xfrm>
            <a:off x="7680157" y="2058211"/>
            <a:ext cx="3681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The “real” physics!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8B7FB4-7500-8834-169C-E4125937D6C9}"/>
              </a:ext>
            </a:extLst>
          </p:cNvPr>
          <p:cNvSpPr txBox="1"/>
          <p:nvPr/>
        </p:nvSpPr>
        <p:spPr>
          <a:xfrm>
            <a:off x="9947639" y="2698364"/>
            <a:ext cx="2032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Everything else</a:t>
            </a:r>
            <a:br>
              <a:rPr lang="en-US" dirty="0"/>
            </a:br>
            <a:r>
              <a:rPr lang="en-US" dirty="0"/>
              <a:t>is an approximation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E49BE3-A68D-0938-205A-1C471FDC47F0}"/>
              </a:ext>
            </a:extLst>
          </p:cNvPr>
          <p:cNvSpPr txBox="1"/>
          <p:nvPr/>
        </p:nvSpPr>
        <p:spPr>
          <a:xfrm>
            <a:off x="7305316" y="2820373"/>
            <a:ext cx="1711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foundations</a:t>
            </a:r>
            <a:br>
              <a:rPr lang="en-US" dirty="0"/>
            </a:br>
            <a:r>
              <a:rPr lang="en-US" dirty="0"/>
              <a:t>of physics!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FD5D6D-F02A-592E-1A43-E338D6F7358F}"/>
              </a:ext>
            </a:extLst>
          </p:cNvPr>
          <p:cNvSpPr txBox="1"/>
          <p:nvPr/>
        </p:nvSpPr>
        <p:spPr>
          <a:xfrm>
            <a:off x="7490127" y="879752"/>
            <a:ext cx="4701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Goal of physics is to find the true laws of the universe!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F193B4-B419-6452-5882-DB64033E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7678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7C2045-FA28-A701-4643-172B86C87CFC}"/>
                  </a:ext>
                </a:extLst>
              </p:cNvPr>
              <p:cNvSpPr txBox="1"/>
              <p:nvPr/>
            </p:nvSpPr>
            <p:spPr>
              <a:xfrm>
                <a:off x="589006" y="1000713"/>
                <a:ext cx="11013988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topologies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-algebras</a:t>
                </a:r>
              </a:p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Geometrical structures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Entropic structures</a:t>
                </a:r>
              </a:p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Hamiltonian evolution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det</a:t>
                </a:r>
                <a:r>
                  <a:rPr lang="en-US" sz="3200" dirty="0"/>
                  <a:t>-</a:t>
                </a:r>
                <a:r>
                  <a:rPr lang="en-US" sz="3200" dirty="0">
                    <a:solidFill>
                      <a:schemeClr val="tx1"/>
                    </a:solidFill>
                  </a:rPr>
                  <a:t>rev/isolation + DOF independence</a:t>
                </a:r>
              </a:p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Massive particles and potential forces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       + Kinematic eq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7C2045-FA28-A701-4643-172B86C87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06" y="1000713"/>
                <a:ext cx="11013988" cy="2062103"/>
              </a:xfrm>
              <a:prstGeom prst="rect">
                <a:avLst/>
              </a:prstGeom>
              <a:blipFill>
                <a:blip r:embed="rId2"/>
                <a:stretch>
                  <a:fillRect l="-609" t="-3550" r="-554" b="-9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C966CF-5103-181D-9D36-444F3DED48AF}"/>
              </a:ext>
            </a:extLst>
          </p:cNvPr>
          <p:cNvSpPr txBox="1"/>
          <p:nvPr/>
        </p:nvSpPr>
        <p:spPr>
          <a:xfrm>
            <a:off x="281138" y="3274024"/>
            <a:ext cx="11634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Physical requirements and assumptions drive most of the theoretical apparatus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7BCB-F83D-5611-3EAB-F67AB76B060E}"/>
              </a:ext>
            </a:extLst>
          </p:cNvPr>
          <p:cNvSpPr txBox="1"/>
          <p:nvPr/>
        </p:nvSpPr>
        <p:spPr>
          <a:xfrm>
            <a:off x="243307" y="4448340"/>
            <a:ext cx="4701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 of physics is to find the true laws of the universe!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4F7F79C-08DC-2759-7F56-DE50E361B65E}"/>
              </a:ext>
            </a:extLst>
          </p:cNvPr>
          <p:cNvGrpSpPr/>
          <p:nvPr/>
        </p:nvGrpSpPr>
        <p:grpSpPr>
          <a:xfrm>
            <a:off x="849980" y="4375134"/>
            <a:ext cx="2747840" cy="1100517"/>
            <a:chOff x="5862086" y="4215950"/>
            <a:chExt cx="2747840" cy="110051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414EEC-5FD5-A71C-B1D8-C13ACC3E3662}"/>
                </a:ext>
              </a:extLst>
            </p:cNvPr>
            <p:cNvCxnSpPr/>
            <p:nvPr/>
          </p:nvCxnSpPr>
          <p:spPr>
            <a:xfrm>
              <a:off x="5862086" y="4215950"/>
              <a:ext cx="2747840" cy="1100517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5099D18-E71B-D593-9697-101D52BFD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2086" y="4215950"/>
              <a:ext cx="2747840" cy="1100517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527D1FA-4916-705B-987B-20A8DCD1CF03}"/>
              </a:ext>
            </a:extLst>
          </p:cNvPr>
          <p:cNvSpPr txBox="1"/>
          <p:nvPr/>
        </p:nvSpPr>
        <p:spPr>
          <a:xfrm>
            <a:off x="419101" y="5548857"/>
            <a:ext cx="382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Less productive point of 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87A4C-4F69-D8F7-91A7-73F28F44CB22}"/>
              </a:ext>
            </a:extLst>
          </p:cNvPr>
          <p:cNvSpPr txBox="1"/>
          <p:nvPr/>
        </p:nvSpPr>
        <p:spPr>
          <a:xfrm>
            <a:off x="5027919" y="161842"/>
            <a:ext cx="2136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We found: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3AB3CC5-313B-A90E-4D14-41826B9B2525}"/>
              </a:ext>
            </a:extLst>
          </p:cNvPr>
          <p:cNvSpPr/>
          <p:nvPr/>
        </p:nvSpPr>
        <p:spPr>
          <a:xfrm rot="19924937">
            <a:off x="8108218" y="2506360"/>
            <a:ext cx="234669" cy="2994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CA24FF-27CE-F012-3DA3-564FD6AEC814}"/>
              </a:ext>
            </a:extLst>
          </p:cNvPr>
          <p:cNvSpPr txBox="1"/>
          <p:nvPr/>
        </p:nvSpPr>
        <p:spPr>
          <a:xfrm>
            <a:off x="4687327" y="4448338"/>
            <a:ext cx="4894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 of physics is to find models that can be empirically tested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240D5-8371-FCEE-213E-2242A927AA1C}"/>
              </a:ext>
            </a:extLst>
          </p:cNvPr>
          <p:cNvSpPr txBox="1"/>
          <p:nvPr/>
        </p:nvSpPr>
        <p:spPr>
          <a:xfrm>
            <a:off x="4945180" y="5548856"/>
            <a:ext cx="3980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More productive point of 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EE503-FF8D-104D-B4E5-BC978697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22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D448397-B8D4-1179-F3D7-42CAF0EF9C1A}"/>
              </a:ext>
            </a:extLst>
          </p:cNvPr>
          <p:cNvCxnSpPr>
            <a:stCxn id="46" idx="3"/>
            <a:endCxn id="50" idx="1"/>
          </p:cNvCxnSpPr>
          <p:nvPr/>
        </p:nvCxnSpPr>
        <p:spPr>
          <a:xfrm flipV="1">
            <a:off x="3725915" y="2131254"/>
            <a:ext cx="949024" cy="1028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1833B01-0AEA-FC46-1647-BF375E02B35E}"/>
              </a:ext>
            </a:extLst>
          </p:cNvPr>
          <p:cNvSpPr/>
          <p:nvPr/>
        </p:nvSpPr>
        <p:spPr>
          <a:xfrm>
            <a:off x="935433" y="1778199"/>
            <a:ext cx="2790483" cy="72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General physical principles</a:t>
            </a:r>
            <a:br>
              <a:rPr lang="en-US" sz="1600" dirty="0"/>
            </a:br>
            <a:r>
              <a:rPr lang="en-US" sz="1600" dirty="0"/>
              <a:t>and requirements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E8B9163-2895-C079-CAA8-09EC5E2C9DE6}"/>
              </a:ext>
            </a:extLst>
          </p:cNvPr>
          <p:cNvCxnSpPr>
            <a:stCxn id="47" idx="3"/>
            <a:endCxn id="82" idx="1"/>
          </p:cNvCxnSpPr>
          <p:nvPr/>
        </p:nvCxnSpPr>
        <p:spPr>
          <a:xfrm>
            <a:off x="3254087" y="3335369"/>
            <a:ext cx="961262" cy="140445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B4AEA42-65BC-759B-FF0D-2218853194C3}"/>
              </a:ext>
            </a:extLst>
          </p:cNvPr>
          <p:cNvCxnSpPr>
            <a:stCxn id="47" idx="3"/>
            <a:endCxn id="81" idx="1"/>
          </p:cNvCxnSpPr>
          <p:nvPr/>
        </p:nvCxnSpPr>
        <p:spPr>
          <a:xfrm>
            <a:off x="3254087" y="3335369"/>
            <a:ext cx="3660265" cy="14624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94D6ED4-E49F-020B-A6CD-CFD886462A0C}"/>
              </a:ext>
            </a:extLst>
          </p:cNvPr>
          <p:cNvCxnSpPr>
            <a:stCxn id="47" idx="3"/>
            <a:endCxn id="83" idx="1"/>
          </p:cNvCxnSpPr>
          <p:nvPr/>
        </p:nvCxnSpPr>
        <p:spPr>
          <a:xfrm>
            <a:off x="3254087" y="3335369"/>
            <a:ext cx="3764370" cy="131069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BA0CA5A-51B6-6CC2-A0B3-77A1CB65FA64}"/>
              </a:ext>
            </a:extLst>
          </p:cNvPr>
          <p:cNvSpPr/>
          <p:nvPr/>
        </p:nvSpPr>
        <p:spPr>
          <a:xfrm>
            <a:off x="1018288" y="3088672"/>
            <a:ext cx="2235799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Specific assumptions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4382CBC-25B4-093A-2FB4-EA1CE7BA6E73}"/>
              </a:ext>
            </a:extLst>
          </p:cNvPr>
          <p:cNvCxnSpPr>
            <a:stCxn id="47" idx="3"/>
            <a:endCxn id="55" idx="1"/>
          </p:cNvCxnSpPr>
          <p:nvPr/>
        </p:nvCxnSpPr>
        <p:spPr>
          <a:xfrm>
            <a:off x="3254087" y="3335369"/>
            <a:ext cx="1000505" cy="16886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2589ECB-4FEC-8822-C293-1E80E4AE1244}"/>
              </a:ext>
            </a:extLst>
          </p:cNvPr>
          <p:cNvSpPr/>
          <p:nvPr/>
        </p:nvSpPr>
        <p:spPr>
          <a:xfrm>
            <a:off x="4674939" y="1884557"/>
            <a:ext cx="3316669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General mathematical framework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67F18A-C6C4-6631-7C5A-2CA171BE9DF4}"/>
              </a:ext>
            </a:extLst>
          </p:cNvPr>
          <p:cNvSpPr/>
          <p:nvPr/>
        </p:nvSpPr>
        <p:spPr>
          <a:xfrm>
            <a:off x="4254592" y="3132989"/>
            <a:ext cx="1443880" cy="742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Classical mechanics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A5318C7-8417-DF7C-C752-CCB6F8A4A3D7}"/>
              </a:ext>
            </a:extLst>
          </p:cNvPr>
          <p:cNvCxnSpPr>
            <a:cxnSpLocks/>
            <a:stCxn id="82" idx="0"/>
            <a:endCxn id="50" idx="2"/>
          </p:cNvCxnSpPr>
          <p:nvPr/>
        </p:nvCxnSpPr>
        <p:spPr>
          <a:xfrm rot="5400000" flipH="1" flipV="1">
            <a:off x="4697712" y="2857562"/>
            <a:ext cx="2115173" cy="1155949"/>
          </a:xfrm>
          <a:prstGeom prst="bentConnector3">
            <a:avLst>
              <a:gd name="adj1" fmla="val 1581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F4BDF83E-D03B-A807-7306-AB39588802C5}"/>
              </a:ext>
            </a:extLst>
          </p:cNvPr>
          <p:cNvCxnSpPr>
            <a:cxnSpLocks/>
            <a:stCxn id="81" idx="0"/>
            <a:endCxn id="50" idx="2"/>
          </p:cNvCxnSpPr>
          <p:nvPr/>
        </p:nvCxnSpPr>
        <p:spPr>
          <a:xfrm rot="16200000" flipV="1">
            <a:off x="6618573" y="2092651"/>
            <a:ext cx="732423" cy="1303018"/>
          </a:xfrm>
          <a:prstGeom prst="bentConnector3">
            <a:avLst>
              <a:gd name="adj1" fmla="val 46709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AFFAC0F-4D84-36A4-60F4-D1DF1584C7E3}"/>
              </a:ext>
            </a:extLst>
          </p:cNvPr>
          <p:cNvCxnSpPr>
            <a:cxnSpLocks/>
            <a:stCxn id="83" idx="0"/>
            <a:endCxn id="50" idx="2"/>
          </p:cNvCxnSpPr>
          <p:nvPr/>
        </p:nvCxnSpPr>
        <p:spPr>
          <a:xfrm rot="16200000" flipV="1">
            <a:off x="5828213" y="2883011"/>
            <a:ext cx="2021420" cy="1011298"/>
          </a:xfrm>
          <a:prstGeom prst="bentConnector3">
            <a:avLst>
              <a:gd name="adj1" fmla="val 1184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A5607E8-01B8-AB17-62C2-FEB71456DCDF}"/>
              </a:ext>
            </a:extLst>
          </p:cNvPr>
          <p:cNvCxnSpPr>
            <a:cxnSpLocks/>
            <a:stCxn id="55" idx="0"/>
            <a:endCxn id="50" idx="2"/>
          </p:cNvCxnSpPr>
          <p:nvPr/>
        </p:nvCxnSpPr>
        <p:spPr>
          <a:xfrm rot="5400000" flipH="1" flipV="1">
            <a:off x="5277382" y="2077098"/>
            <a:ext cx="755040" cy="1356742"/>
          </a:xfrm>
          <a:prstGeom prst="bentConnector3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8F1B12-6402-8417-5D4D-4561E309C890}"/>
              </a:ext>
            </a:extLst>
          </p:cNvPr>
          <p:cNvSpPr txBox="1"/>
          <p:nvPr/>
        </p:nvSpPr>
        <p:spPr>
          <a:xfrm>
            <a:off x="1018288" y="4674991"/>
            <a:ext cx="144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specialization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3F4759-7443-71D3-0F39-79A31AAFF655}"/>
              </a:ext>
            </a:extLst>
          </p:cNvPr>
          <p:cNvCxnSpPr>
            <a:cxnSpLocks/>
          </p:cNvCxnSpPr>
          <p:nvPr/>
        </p:nvCxnSpPr>
        <p:spPr>
          <a:xfrm flipV="1">
            <a:off x="871765" y="4664851"/>
            <a:ext cx="0" cy="43403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F7C20F-C8BF-EF82-AFA4-F8F2C295FAE2}"/>
                  </a:ext>
                </a:extLst>
              </p:cNvPr>
              <p:cNvSpPr txBox="1"/>
              <p:nvPr/>
            </p:nvSpPr>
            <p:spPr>
              <a:xfrm>
                <a:off x="8814262" y="816766"/>
                <a:ext cx="320789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Foundations of physics</a:t>
                </a:r>
                <a:b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b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</a:br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The theory of physical models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F7C20F-C8BF-EF82-AFA4-F8F2C295F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262" y="816766"/>
                <a:ext cx="3207898" cy="2554545"/>
              </a:xfrm>
              <a:prstGeom prst="rect">
                <a:avLst/>
              </a:prstGeom>
              <a:blipFill>
                <a:blip r:embed="rId2"/>
                <a:stretch>
                  <a:fillRect t="-3103" r="-2471" b="-6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02DA4AF3-03BA-693A-5F74-F35B68D85F1E}"/>
              </a:ext>
            </a:extLst>
          </p:cNvPr>
          <p:cNvSpPr/>
          <p:nvPr/>
        </p:nvSpPr>
        <p:spPr>
          <a:xfrm>
            <a:off x="6914352" y="3110371"/>
            <a:ext cx="1443880" cy="742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Quantum mechanics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CC58172-C520-8D9B-3459-7D95656965CC}"/>
              </a:ext>
            </a:extLst>
          </p:cNvPr>
          <p:cNvSpPr/>
          <p:nvPr/>
        </p:nvSpPr>
        <p:spPr>
          <a:xfrm>
            <a:off x="4215348" y="4493122"/>
            <a:ext cx="1923953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Thermodynamics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8E4A39E-4020-45F7-2594-D0FCE4CD7932}"/>
              </a:ext>
            </a:extLst>
          </p:cNvPr>
          <p:cNvSpPr/>
          <p:nvPr/>
        </p:nvSpPr>
        <p:spPr>
          <a:xfrm>
            <a:off x="7018456" y="4399369"/>
            <a:ext cx="652228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…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8D0531C-598B-7E8A-5278-A46F910A073D}"/>
              </a:ext>
            </a:extLst>
          </p:cNvPr>
          <p:cNvSpPr txBox="1"/>
          <p:nvPr/>
        </p:nvSpPr>
        <p:spPr>
          <a:xfrm>
            <a:off x="1048233" y="4055438"/>
            <a:ext cx="113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derivation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F4D4F6C-6B11-53FA-711E-B9280B955F92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685800" y="4240104"/>
            <a:ext cx="362433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84F99B99-C72E-9414-BC83-463ADD15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779"/>
            <a:ext cx="8278347" cy="897424"/>
          </a:xfrm>
        </p:spPr>
        <p:txBody>
          <a:bodyPr>
            <a:noAutofit/>
          </a:bodyPr>
          <a:lstStyle/>
          <a:p>
            <a:r>
              <a:rPr lang="en-US" sz="3200" dirty="0"/>
              <a:t>Our view of the foundations of physics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6ACFED-AA19-8497-2787-00AF39CB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117393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53FD256-8EF3-2CAD-3891-DA63FAC9AC45}"/>
              </a:ext>
            </a:extLst>
          </p:cNvPr>
          <p:cNvGrpSpPr/>
          <p:nvPr/>
        </p:nvGrpSpPr>
        <p:grpSpPr>
          <a:xfrm>
            <a:off x="4710071" y="429936"/>
            <a:ext cx="6874792" cy="2141013"/>
            <a:chOff x="399019" y="972049"/>
            <a:chExt cx="8637977" cy="26901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29F3BCD-6C22-5015-4CA7-9B7479F446F0}"/>
                </a:ext>
              </a:extLst>
            </p:cNvPr>
            <p:cNvSpPr/>
            <p:nvPr/>
          </p:nvSpPr>
          <p:spPr>
            <a:xfrm>
              <a:off x="3795926" y="1329706"/>
              <a:ext cx="1844162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Physical theory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76610B-CEA6-FBB0-B9B5-0D9BF37FBC18}"/>
                </a:ext>
              </a:extLst>
            </p:cNvPr>
            <p:cNvSpPr/>
            <p:nvPr/>
          </p:nvSpPr>
          <p:spPr>
            <a:xfrm>
              <a:off x="6976707" y="1329706"/>
              <a:ext cx="2060289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Physical result/</a:t>
              </a:r>
              <a:br>
                <a:rPr lang="en-US" sz="1200" dirty="0"/>
              </a:br>
              <a:r>
                <a:rPr lang="en-US" sz="1200" dirty="0"/>
                <a:t>effect/prediction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BE36B8-A6D0-39C4-A154-AA905C41004F}"/>
                </a:ext>
              </a:extLst>
            </p:cNvPr>
            <p:cNvSpPr/>
            <p:nvPr/>
          </p:nvSpPr>
          <p:spPr>
            <a:xfrm>
              <a:off x="399019" y="1329706"/>
              <a:ext cx="2060289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Smallest set of assumptions required to rederive the theory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F24E5E-CCFF-20CC-B578-D81013155CA4}"/>
                </a:ext>
              </a:extLst>
            </p:cNvPr>
            <p:cNvSpPr/>
            <p:nvPr/>
          </p:nvSpPr>
          <p:spPr>
            <a:xfrm>
              <a:off x="3795926" y="2764005"/>
              <a:ext cx="1844162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Theorem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F5662A-11CC-A9A5-85A4-0EB4819E5760}"/>
                </a:ext>
              </a:extLst>
            </p:cNvPr>
            <p:cNvSpPr/>
            <p:nvPr/>
          </p:nvSpPr>
          <p:spPr>
            <a:xfrm>
              <a:off x="6976707" y="2764004"/>
              <a:ext cx="2060289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Mathematical result/</a:t>
              </a:r>
              <a:br>
                <a:rPr lang="en-US" sz="1200" dirty="0"/>
              </a:br>
              <a:r>
                <a:rPr lang="en-US" sz="1200" dirty="0"/>
                <a:t>corollary/calculation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283CDD-E5A5-6865-61C6-6F42896B003B}"/>
                </a:ext>
              </a:extLst>
            </p:cNvPr>
            <p:cNvSpPr/>
            <p:nvPr/>
          </p:nvSpPr>
          <p:spPr>
            <a:xfrm>
              <a:off x="399019" y="2755319"/>
              <a:ext cx="2060288" cy="898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Smallest set of axioms required to prove the theorem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43AB2F-47D9-0ADF-0D6F-11DFC381E15E}"/>
                </a:ext>
              </a:extLst>
            </p:cNvPr>
            <p:cNvSpPr txBox="1"/>
            <p:nvPr/>
          </p:nvSpPr>
          <p:spPr>
            <a:xfrm>
              <a:off x="5919156" y="972049"/>
              <a:ext cx="794614" cy="34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Physics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B2CE97-EF76-6FBD-8BF6-63958D3DF9F5}"/>
                </a:ext>
              </a:extLst>
            </p:cNvPr>
            <p:cNvSpPr txBox="1"/>
            <p:nvPr/>
          </p:nvSpPr>
          <p:spPr>
            <a:xfrm>
              <a:off x="5670562" y="2406347"/>
              <a:ext cx="1263743" cy="34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Mathematics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11A4CC-2AB0-C80D-0310-4CB077E92EAC}"/>
                </a:ext>
              </a:extLst>
            </p:cNvPr>
            <p:cNvSpPr txBox="1"/>
            <p:nvPr/>
          </p:nvSpPr>
          <p:spPr>
            <a:xfrm>
              <a:off x="2138980" y="2406347"/>
              <a:ext cx="1922927" cy="34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Reverse Mathematics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0093B7-F63D-5525-9E8E-40428990E2CA}"/>
                </a:ext>
              </a:extLst>
            </p:cNvPr>
            <p:cNvSpPr txBox="1"/>
            <p:nvPr/>
          </p:nvSpPr>
          <p:spPr>
            <a:xfrm>
              <a:off x="2387574" y="977841"/>
              <a:ext cx="1453797" cy="34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Reverse Physics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BB041DDA-3315-88BA-4B5D-0B523133EFB6}"/>
                </a:ext>
              </a:extLst>
            </p:cNvPr>
            <p:cNvSpPr/>
            <p:nvPr/>
          </p:nvSpPr>
          <p:spPr>
            <a:xfrm>
              <a:off x="5841981" y="1582148"/>
              <a:ext cx="932834" cy="3932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BF303E98-5098-A28D-C12A-2C380EA534C8}"/>
                </a:ext>
              </a:extLst>
            </p:cNvPr>
            <p:cNvSpPr/>
            <p:nvPr/>
          </p:nvSpPr>
          <p:spPr>
            <a:xfrm>
              <a:off x="5841981" y="3016446"/>
              <a:ext cx="932834" cy="3932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673ABAFE-21B5-F1AC-9A63-E9A373BC731A}"/>
                </a:ext>
              </a:extLst>
            </p:cNvPr>
            <p:cNvSpPr/>
            <p:nvPr/>
          </p:nvSpPr>
          <p:spPr>
            <a:xfrm flipH="1">
              <a:off x="2661200" y="1577251"/>
              <a:ext cx="932834" cy="3932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A86F3F47-F806-C396-9164-5D3FBBA5C453}"/>
                </a:ext>
              </a:extLst>
            </p:cNvPr>
            <p:cNvSpPr/>
            <p:nvPr/>
          </p:nvSpPr>
          <p:spPr>
            <a:xfrm flipH="1">
              <a:off x="2661199" y="3016446"/>
              <a:ext cx="932834" cy="3932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A84E64C-F062-6186-BFB5-ADE119629F4D}"/>
              </a:ext>
            </a:extLst>
          </p:cNvPr>
          <p:cNvSpPr txBox="1"/>
          <p:nvPr/>
        </p:nvSpPr>
        <p:spPr>
          <a:xfrm>
            <a:off x="312183" y="429936"/>
            <a:ext cx="413808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+mj-lt"/>
              </a:rPr>
              <a:t>Reverse physics</a:t>
            </a:r>
            <a:r>
              <a:rPr lang="en-US" sz="3200" dirty="0">
                <a:latin typeface="+mj-lt"/>
              </a:rPr>
              <a:t>:</a:t>
            </a:r>
            <a:br>
              <a:rPr lang="en-US" sz="3200" dirty="0">
                <a:latin typeface="+mj-lt"/>
              </a:rPr>
            </a:br>
            <a:r>
              <a:rPr lang="en-US" sz="2400" dirty="0"/>
              <a:t>Start with the equations,</a:t>
            </a:r>
            <a:br>
              <a:rPr lang="en-US" sz="2400" dirty="0"/>
            </a:br>
            <a:r>
              <a:rPr lang="en-US" sz="2400" dirty="0"/>
              <a:t>reverse engineer physical assumptions/principles</a:t>
            </a:r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5EBCFB-6C69-2A78-7DC7-BB2C9F6E8688}"/>
              </a:ext>
            </a:extLst>
          </p:cNvPr>
          <p:cNvSpPr txBox="1"/>
          <p:nvPr/>
        </p:nvSpPr>
        <p:spPr>
          <a:xfrm>
            <a:off x="312183" y="2889928"/>
            <a:ext cx="11634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find the right overall physical concepts, “elevate” the discussion from mathematical constructs to physical principles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56BD7-6D62-3C17-6715-106FC651938E}"/>
              </a:ext>
            </a:extLst>
          </p:cNvPr>
          <p:cNvSpPr txBox="1"/>
          <p:nvPr/>
        </p:nvSpPr>
        <p:spPr>
          <a:xfrm>
            <a:off x="312184" y="3619907"/>
            <a:ext cx="43275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>
                <a:latin typeface="+mj-lt"/>
              </a:rPr>
              <a:t>Physical mathematics</a:t>
            </a:r>
            <a:r>
              <a:rPr lang="en-US" sz="3200">
                <a:latin typeface="+mj-lt"/>
              </a:rPr>
              <a:t>: </a:t>
            </a:r>
            <a:r>
              <a:rPr lang="en-US" sz="2400"/>
              <a:t>Start from scratch and rederive all mathematical structures from physical requirements</a:t>
            </a:r>
            <a:endParaRPr lang="en-US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CA008-AC4D-7585-97AA-7CB9439BF587}"/>
              </a:ext>
            </a:extLst>
          </p:cNvPr>
          <p:cNvSpPr txBox="1"/>
          <p:nvPr/>
        </p:nvSpPr>
        <p:spPr>
          <a:xfrm>
            <a:off x="312183" y="5752716"/>
            <a:ext cx="1163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get the details right, perfect one-to-one map between mathematical and physical objects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BEDE08-09D5-7EFF-9987-91627F5B13A4}"/>
              </a:ext>
            </a:extLst>
          </p:cNvPr>
          <p:cNvGrpSpPr/>
          <p:nvPr/>
        </p:nvGrpSpPr>
        <p:grpSpPr>
          <a:xfrm>
            <a:off x="5255523" y="3578239"/>
            <a:ext cx="2854992" cy="1887622"/>
            <a:chOff x="5664688" y="1950599"/>
            <a:chExt cx="3247734" cy="214729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6C4FC1-812B-C0D6-72F4-02BE99A16AC0}"/>
                </a:ext>
              </a:extLst>
            </p:cNvPr>
            <p:cNvSpPr/>
            <p:nvPr/>
          </p:nvSpPr>
          <p:spPr>
            <a:xfrm>
              <a:off x="6719639" y="1950599"/>
              <a:ext cx="1203649" cy="58607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Physics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C3AA9D-ECB2-0F25-ACE9-B17F803D53B0}"/>
                </a:ext>
              </a:extLst>
            </p:cNvPr>
            <p:cNvSpPr/>
            <p:nvPr/>
          </p:nvSpPr>
          <p:spPr>
            <a:xfrm>
              <a:off x="6719638" y="3511811"/>
              <a:ext cx="1533029" cy="58607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Physical mathematics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00AEFC6-FB5C-7016-C007-BC5685F5DCF3}"/>
                </a:ext>
              </a:extLst>
            </p:cNvPr>
            <p:cNvSpPr/>
            <p:nvPr/>
          </p:nvSpPr>
          <p:spPr>
            <a:xfrm>
              <a:off x="5664688" y="2701218"/>
              <a:ext cx="1533029" cy="58607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Physical requirements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21D225-5FE0-2CC6-CD7A-D80DB11F3DD9}"/>
                </a:ext>
              </a:extLst>
            </p:cNvPr>
            <p:cNvSpPr/>
            <p:nvPr/>
          </p:nvSpPr>
          <p:spPr>
            <a:xfrm>
              <a:off x="7379393" y="2701217"/>
              <a:ext cx="1533029" cy="58607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Semantics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385D63F1-0B84-79A7-5A6D-89F1784C6586}"/>
                </a:ext>
              </a:extLst>
            </p:cNvPr>
            <p:cNvCxnSpPr>
              <a:cxnSpLocks/>
              <a:stCxn id="24" idx="1"/>
              <a:endCxn id="26" idx="0"/>
            </p:cNvCxnSpPr>
            <p:nvPr/>
          </p:nvCxnSpPr>
          <p:spPr>
            <a:xfrm rot="10800000" flipV="1">
              <a:off x="6431203" y="2243638"/>
              <a:ext cx="288436" cy="45757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48E3DC06-D692-BA12-57A9-7D57B0F99690}"/>
                </a:ext>
              </a:extLst>
            </p:cNvPr>
            <p:cNvCxnSpPr>
              <a:cxnSpLocks/>
              <a:stCxn id="24" idx="3"/>
              <a:endCxn id="27" idx="0"/>
            </p:cNvCxnSpPr>
            <p:nvPr/>
          </p:nvCxnSpPr>
          <p:spPr>
            <a:xfrm>
              <a:off x="7923288" y="2243639"/>
              <a:ext cx="222620" cy="45757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3532B734-C3AA-F223-19DB-DBDF89C0C67C}"/>
                </a:ext>
              </a:extLst>
            </p:cNvPr>
            <p:cNvCxnSpPr>
              <a:cxnSpLocks/>
              <a:stCxn id="26" idx="2"/>
              <a:endCxn id="25" idx="1"/>
            </p:cNvCxnSpPr>
            <p:nvPr/>
          </p:nvCxnSpPr>
          <p:spPr>
            <a:xfrm rot="16200000" flipH="1">
              <a:off x="6316644" y="3401855"/>
              <a:ext cx="517554" cy="28843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E67379-7191-B0CE-50CB-FD5FCC991021}"/>
              </a:ext>
            </a:extLst>
          </p:cNvPr>
          <p:cNvSpPr txBox="1"/>
          <p:nvPr/>
        </p:nvSpPr>
        <p:spPr>
          <a:xfrm>
            <a:off x="1729209" y="2113443"/>
            <a:ext cx="25911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i="1" dirty="0"/>
              <a:t>Found Phys</a:t>
            </a:r>
            <a:r>
              <a:rPr lang="en-US" dirty="0"/>
              <a:t> </a:t>
            </a:r>
            <a:r>
              <a:rPr lang="en-US" b="1" dirty="0"/>
              <a:t>52</a:t>
            </a:r>
            <a:r>
              <a:rPr lang="en-US" dirty="0"/>
              <a:t>, 40 (2022)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A16540-E440-B395-7EC3-66423D899F08}"/>
              </a:ext>
            </a:extLst>
          </p:cNvPr>
          <p:cNvSpPr txBox="1"/>
          <p:nvPr/>
        </p:nvSpPr>
        <p:spPr>
          <a:xfrm>
            <a:off x="3021164" y="233145"/>
            <a:ext cx="302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right overall concepts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3A4DB8-00F8-53D8-0187-42F5CE66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2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82C3-A092-FA85-1231-9008571D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Physics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C823A-1000-EF79-2BD0-6904BA1D3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F6204-CBCF-CE04-23A2-403AC414B51E}"/>
              </a:ext>
            </a:extLst>
          </p:cNvPr>
          <p:cNvSpPr txBox="1"/>
          <p:nvPr/>
        </p:nvSpPr>
        <p:spPr>
          <a:xfrm>
            <a:off x="399262" y="5720388"/>
            <a:ext cx="30341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600" i="1" dirty="0">
                <a:effectLst/>
              </a:rPr>
              <a:t>J. Phys. Commun.</a:t>
            </a:r>
            <a:r>
              <a:rPr lang="fr-FR" sz="1600" dirty="0">
                <a:effectLst/>
              </a:rPr>
              <a:t> </a:t>
            </a:r>
            <a:r>
              <a:rPr lang="fr-FR" sz="1600" b="1" dirty="0">
                <a:effectLst/>
              </a:rPr>
              <a:t>2</a:t>
            </a:r>
            <a:r>
              <a:rPr lang="fr-FR" sz="1600" dirty="0">
                <a:effectLst/>
              </a:rPr>
              <a:t> 045026 (2018)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22107-DDF2-BDC8-0F1B-4630A10D6898}"/>
              </a:ext>
            </a:extLst>
          </p:cNvPr>
          <p:cNvSpPr txBox="1"/>
          <p:nvPr/>
        </p:nvSpPr>
        <p:spPr>
          <a:xfrm>
            <a:off x="399262" y="5092266"/>
            <a:ext cx="2693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Assumptions of Physics</a:t>
            </a:r>
            <a:r>
              <a:rPr lang="en-US" sz="1600" i="1" dirty="0"/>
              <a:t>,</a:t>
            </a:r>
            <a:br>
              <a:rPr lang="en-US" sz="1600" i="1" dirty="0"/>
            </a:br>
            <a:r>
              <a:rPr lang="en-US" sz="1600" i="1" dirty="0"/>
              <a:t>Michigan Publishing </a:t>
            </a:r>
            <a:r>
              <a:rPr lang="en-US" sz="1600" dirty="0"/>
              <a:t>(v3 2025)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B41EA-ACDF-43BB-4CCB-3D17C626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143991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4C956A-2E17-11FA-949B-2F18A41F1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2" y="951962"/>
            <a:ext cx="6096000" cy="21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20009-DF9C-A45C-B00E-E00250D78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0" y="1155779"/>
            <a:ext cx="6096000" cy="21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94489-F80C-BA88-6D54-75DABD593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6" y="1576432"/>
            <a:ext cx="6096018" cy="173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0D5C3F-B2F4-4E0D-BA97-6CD799F41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34" y="1373071"/>
            <a:ext cx="6096016" cy="187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BFD925-E307-B14A-5BEA-0AF5054DD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12898"/>
            <a:ext cx="6096000" cy="206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1E450B-2519-D7D1-5FF4-69C1CAA20A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152" y="3633037"/>
            <a:ext cx="6096000" cy="169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56C4D7-390E-A41F-ABF5-F80423FD57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536" y="3826166"/>
            <a:ext cx="6096000" cy="20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EDF79A-6BDC-FC5A-BDBF-882FC5C586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" y="2023592"/>
            <a:ext cx="6096000" cy="1761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CFB706-9395-2130-DD0E-56BE5B86FC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" y="2216588"/>
            <a:ext cx="6096000" cy="1838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122787B-B817-CDEA-5D3B-C08C21CE6E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03" y="2412288"/>
            <a:ext cx="6096000" cy="1909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076AB2-6393-D1E6-BDD6-BE6C713EFA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" y="2605207"/>
            <a:ext cx="6096000" cy="2067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1FB214F-023E-61AA-CB6A-95502FDEAB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44" y="938676"/>
            <a:ext cx="5382768" cy="10997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73B4E6-9F3C-E925-E631-D8D614E423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5440" y="5100847"/>
            <a:ext cx="3172268" cy="5620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F78EEA1-DBB9-3E61-16B8-EDF3E7C6CC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2488" y="4802210"/>
            <a:ext cx="2381582" cy="12098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ABCBBC9-733C-BE07-5660-D73E1D16D1E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144" y="228449"/>
            <a:ext cx="5636790" cy="5614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A06B06F-8E48-6D1D-D072-7AE190944FF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3068" y="228449"/>
            <a:ext cx="5636790" cy="555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4F7DF-2CB7-7583-2D41-475131E71EA0}"/>
                  </a:ext>
                </a:extLst>
              </p:cNvPr>
              <p:cNvSpPr txBox="1"/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4F7DF-2CB7-7583-2D41-475131E7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6210A6-1BE6-0B5F-E325-240DCE76A8F0}"/>
                  </a:ext>
                </a:extLst>
              </p:cNvPr>
              <p:cNvSpPr txBox="1"/>
              <p:nvPr/>
            </p:nvSpPr>
            <p:spPr>
              <a:xfrm rot="7029569">
                <a:off x="6494657" y="2877223"/>
                <a:ext cx="7024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6210A6-1BE6-0B5F-E325-240DCE76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029569">
                <a:off x="6494657" y="2877223"/>
                <a:ext cx="702435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FF3605-DCFB-B1AF-2CBE-BC7DE9BC4422}"/>
                  </a:ext>
                </a:extLst>
              </p:cNvPr>
              <p:cNvSpPr txBox="1"/>
              <p:nvPr/>
            </p:nvSpPr>
            <p:spPr>
              <a:xfrm rot="3547819">
                <a:off x="4453604" y="2853120"/>
                <a:ext cx="7024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FF3605-DCFB-B1AF-2CBE-BC7DE9BC4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47819">
                <a:off x="4453604" y="2853120"/>
                <a:ext cx="702435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ECAA97-E18F-A46B-A889-96426842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837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F4B4D98B-0442-6960-D7E8-BAE4FFCF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j-lt"/>
              </a:rPr>
              <a:t>Reversing the principle of stationary 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43EE8-30C5-7AF2-87C3-32F23C7584E3}"/>
                  </a:ext>
                </a:extLst>
              </p:cNvPr>
              <p:cNvSpPr txBox="1"/>
              <p:nvPr/>
            </p:nvSpPr>
            <p:spPr>
              <a:xfrm>
                <a:off x="6519372" y="1134996"/>
                <a:ext cx="4146713" cy="700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𝒜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𝐿𝑑𝑡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43EE8-30C5-7AF2-87C3-32F23C758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2" y="1134996"/>
                <a:ext cx="4146713" cy="7008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2748C64-E500-8EB8-1DC3-7368240567B0}"/>
              </a:ext>
            </a:extLst>
          </p:cNvPr>
          <p:cNvSpPr txBox="1"/>
          <p:nvPr/>
        </p:nvSpPr>
        <p:spPr>
          <a:xfrm>
            <a:off x="489984" y="2428977"/>
            <a:ext cx="11451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The action is the line integral of the vector potential of the flow of states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934EBD-F2EB-C23B-0C29-073D567A7677}"/>
              </a:ext>
            </a:extLst>
          </p:cNvPr>
          <p:cNvGrpSpPr/>
          <p:nvPr/>
        </p:nvGrpSpPr>
        <p:grpSpPr>
          <a:xfrm>
            <a:off x="6294342" y="3146706"/>
            <a:ext cx="6054680" cy="2048907"/>
            <a:chOff x="216809" y="3130562"/>
            <a:chExt cx="6054680" cy="204890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0C9B84-EEF5-1B8F-54D5-BFFADDFD00C3}"/>
                </a:ext>
              </a:extLst>
            </p:cNvPr>
            <p:cNvSpPr txBox="1"/>
            <p:nvPr/>
          </p:nvSpPr>
          <p:spPr>
            <a:xfrm>
              <a:off x="216809" y="3130562"/>
              <a:ext cx="34298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Variation of the action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0B6F311-2370-CAD4-AF4A-39725729180A}"/>
                    </a:ext>
                  </a:extLst>
                </p:cNvPr>
                <p:cNvSpPr txBox="1"/>
                <p:nvPr/>
              </p:nvSpPr>
              <p:spPr>
                <a:xfrm>
                  <a:off x="351606" y="3649755"/>
                  <a:ext cx="5919883" cy="15297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  <m:r>
                          <a:rPr lang="en-US" sz="280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⃗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  <a:br>
                    <a:rPr lang="en-US" sz="2800" i="1" dirty="0">
                      <a:latin typeface="Cambria Math" panose="02040503050406030204" pitchFamily="18" charset="0"/>
                    </a:rPr>
                  </a:br>
                  <a14:m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a14:m>
                  <a:r>
                    <a:rPr 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0B6F311-2370-CAD4-AF4A-397257291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606" y="3649755"/>
                  <a:ext cx="5919883" cy="15297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86361A-315E-FF11-0DFE-25066F02D74D}"/>
                </a:ext>
              </a:extLst>
            </p:cNvPr>
            <p:cNvSpPr txBox="1"/>
            <p:nvPr/>
          </p:nvSpPr>
          <p:spPr>
            <a:xfrm>
              <a:off x="3884084" y="3332385"/>
              <a:ext cx="21010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Gauge independent,</a:t>
              </a:r>
              <a:br>
                <a:rPr lang="en-US" dirty="0"/>
              </a:br>
              <a:r>
                <a:rPr lang="en-US" dirty="0"/>
                <a:t>physical!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F67B491-DD28-C7AF-F515-4F9564107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495" y="3916421"/>
              <a:ext cx="1184589" cy="8915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7DC48C6-6553-C238-5277-941BBBD68709}"/>
              </a:ext>
            </a:extLst>
          </p:cNvPr>
          <p:cNvGrpSpPr/>
          <p:nvPr/>
        </p:nvGrpSpPr>
        <p:grpSpPr>
          <a:xfrm>
            <a:off x="252573" y="2992009"/>
            <a:ext cx="5597810" cy="2479087"/>
            <a:chOff x="6358089" y="2920544"/>
            <a:chExt cx="5597810" cy="247908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5760DB0-606D-FA04-D5A6-095681312C66}"/>
                </a:ext>
              </a:extLst>
            </p:cNvPr>
            <p:cNvGrpSpPr/>
            <p:nvPr/>
          </p:nvGrpSpPr>
          <p:grpSpPr>
            <a:xfrm>
              <a:off x="6358089" y="2920544"/>
              <a:ext cx="5597810" cy="2479087"/>
              <a:chOff x="2232077" y="446667"/>
              <a:chExt cx="7827339" cy="346647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EBCE0E9-CF2A-6CE8-1D35-515627BA1B59}"/>
                  </a:ext>
                </a:extLst>
              </p:cNvPr>
              <p:cNvGrpSpPr/>
              <p:nvPr/>
            </p:nvGrpSpPr>
            <p:grpSpPr>
              <a:xfrm>
                <a:off x="2781901" y="1186514"/>
                <a:ext cx="7204963" cy="1897690"/>
                <a:chOff x="2583782" y="3876971"/>
                <a:chExt cx="7204963" cy="1897690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171B509D-E020-66A8-A5F6-299134C3802D}"/>
                    </a:ext>
                  </a:extLst>
                </p:cNvPr>
                <p:cNvSpPr/>
                <p:nvPr/>
              </p:nvSpPr>
              <p:spPr>
                <a:xfrm>
                  <a:off x="2583782" y="3876971"/>
                  <a:ext cx="3565709" cy="933464"/>
                </a:xfrm>
                <a:custGeom>
                  <a:avLst/>
                  <a:gdLst>
                    <a:gd name="connsiteX0" fmla="*/ 596230 w 3565709"/>
                    <a:gd name="connsiteY0" fmla="*/ 739 h 934203"/>
                    <a:gd name="connsiteX1" fmla="*/ 2368550 w 3565709"/>
                    <a:gd name="connsiteY1" fmla="*/ 244594 h 934203"/>
                    <a:gd name="connsiteX2" fmla="*/ 3511550 w 3565709"/>
                    <a:gd name="connsiteY2" fmla="*/ 897056 h 934203"/>
                    <a:gd name="connsiteX3" fmla="*/ 3565709 w 3565709"/>
                    <a:gd name="connsiteY3" fmla="*/ 934203 h 934203"/>
                    <a:gd name="connsiteX4" fmla="*/ 2580814 w 3565709"/>
                    <a:gd name="connsiteY4" fmla="*/ 677074 h 934203"/>
                    <a:gd name="connsiteX5" fmla="*/ 2518231 w 3565709"/>
                    <a:gd name="connsiteY5" fmla="*/ 639039 h 934203"/>
                    <a:gd name="connsiteX6" fmla="*/ 1943100 w 3565709"/>
                    <a:gd name="connsiteY6" fmla="*/ 352545 h 934203"/>
                    <a:gd name="connsiteX7" fmla="*/ 7620 w 3565709"/>
                    <a:gd name="connsiteY7" fmla="*/ 3295 h 934203"/>
                    <a:gd name="connsiteX8" fmla="*/ 2153953 w 3565709"/>
                    <a:gd name="connsiteY8" fmla="*/ 565632 h 934203"/>
                    <a:gd name="connsiteX9" fmla="*/ 0 w 3565709"/>
                    <a:gd name="connsiteY9" fmla="*/ 3294 h 934203"/>
                    <a:gd name="connsiteX10" fmla="*/ 596230 w 3565709"/>
                    <a:gd name="connsiteY10" fmla="*/ 739 h 934203"/>
                    <a:gd name="connsiteX0" fmla="*/ 596230 w 3565709"/>
                    <a:gd name="connsiteY0" fmla="*/ 0 h 1314701"/>
                    <a:gd name="connsiteX1" fmla="*/ 2368550 w 3565709"/>
                    <a:gd name="connsiteY1" fmla="*/ 243855 h 1314701"/>
                    <a:gd name="connsiteX2" fmla="*/ 3511550 w 3565709"/>
                    <a:gd name="connsiteY2" fmla="*/ 896317 h 1314701"/>
                    <a:gd name="connsiteX3" fmla="*/ 3565709 w 3565709"/>
                    <a:gd name="connsiteY3" fmla="*/ 933464 h 1314701"/>
                    <a:gd name="connsiteX4" fmla="*/ 2580814 w 3565709"/>
                    <a:gd name="connsiteY4" fmla="*/ 676335 h 1314701"/>
                    <a:gd name="connsiteX5" fmla="*/ 2518231 w 3565709"/>
                    <a:gd name="connsiteY5" fmla="*/ 638300 h 1314701"/>
                    <a:gd name="connsiteX6" fmla="*/ 1943100 w 3565709"/>
                    <a:gd name="connsiteY6" fmla="*/ 351806 h 1314701"/>
                    <a:gd name="connsiteX7" fmla="*/ 7620 w 3565709"/>
                    <a:gd name="connsiteY7" fmla="*/ 2556 h 1314701"/>
                    <a:gd name="connsiteX8" fmla="*/ 1123729 w 3565709"/>
                    <a:gd name="connsiteY8" fmla="*/ 1314701 h 1314701"/>
                    <a:gd name="connsiteX9" fmla="*/ 0 w 3565709"/>
                    <a:gd name="connsiteY9" fmla="*/ 2555 h 1314701"/>
                    <a:gd name="connsiteX10" fmla="*/ 596230 w 3565709"/>
                    <a:gd name="connsiteY10" fmla="*/ 0 h 1314701"/>
                    <a:gd name="connsiteX0" fmla="*/ 596230 w 3565709"/>
                    <a:gd name="connsiteY0" fmla="*/ 0 h 933464"/>
                    <a:gd name="connsiteX1" fmla="*/ 2368550 w 3565709"/>
                    <a:gd name="connsiteY1" fmla="*/ 243855 h 933464"/>
                    <a:gd name="connsiteX2" fmla="*/ 3511550 w 3565709"/>
                    <a:gd name="connsiteY2" fmla="*/ 896317 h 933464"/>
                    <a:gd name="connsiteX3" fmla="*/ 3565709 w 3565709"/>
                    <a:gd name="connsiteY3" fmla="*/ 933464 h 933464"/>
                    <a:gd name="connsiteX4" fmla="*/ 2580814 w 3565709"/>
                    <a:gd name="connsiteY4" fmla="*/ 676335 h 933464"/>
                    <a:gd name="connsiteX5" fmla="*/ 2518231 w 3565709"/>
                    <a:gd name="connsiteY5" fmla="*/ 638300 h 933464"/>
                    <a:gd name="connsiteX6" fmla="*/ 1943100 w 3565709"/>
                    <a:gd name="connsiteY6" fmla="*/ 351806 h 933464"/>
                    <a:gd name="connsiteX7" fmla="*/ 7620 w 3565709"/>
                    <a:gd name="connsiteY7" fmla="*/ 2556 h 933464"/>
                    <a:gd name="connsiteX8" fmla="*/ 0 w 3565709"/>
                    <a:gd name="connsiteY8" fmla="*/ 2555 h 933464"/>
                    <a:gd name="connsiteX9" fmla="*/ 596230 w 3565709"/>
                    <a:gd name="connsiteY9" fmla="*/ 0 h 93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65709" h="933464">
                      <a:moveTo>
                        <a:pt x="596230" y="0"/>
                      </a:moveTo>
                      <a:cubicBezTo>
                        <a:pt x="1191915" y="5829"/>
                        <a:pt x="1785144" y="49386"/>
                        <a:pt x="2368550" y="243855"/>
                      </a:cubicBezTo>
                      <a:cubicBezTo>
                        <a:pt x="2757488" y="373501"/>
                        <a:pt x="3133461" y="634116"/>
                        <a:pt x="3511550" y="896317"/>
                      </a:cubicBezTo>
                      <a:lnTo>
                        <a:pt x="3565709" y="933464"/>
                      </a:lnTo>
                      <a:lnTo>
                        <a:pt x="2580814" y="676335"/>
                      </a:lnTo>
                      <a:lnTo>
                        <a:pt x="2518231" y="638300"/>
                      </a:lnTo>
                      <a:cubicBezTo>
                        <a:pt x="2319391" y="521999"/>
                        <a:pt x="2126933" y="421127"/>
                        <a:pt x="1943100" y="351806"/>
                      </a:cubicBezTo>
                      <a:cubicBezTo>
                        <a:pt x="1207770" y="74523"/>
                        <a:pt x="632460" y="7742"/>
                        <a:pt x="7620" y="2556"/>
                      </a:cubicBezTo>
                      <a:lnTo>
                        <a:pt x="0" y="2555"/>
                      </a:lnTo>
                      <a:lnTo>
                        <a:pt x="596230" y="0"/>
                      </a:lnTo>
                      <a:close/>
                    </a:path>
                  </a:pathLst>
                </a:cu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37AF5297-82F4-4D0E-9321-7C8A593A5232}"/>
                    </a:ext>
                  </a:extLst>
                </p:cNvPr>
                <p:cNvSpPr/>
                <p:nvPr/>
              </p:nvSpPr>
              <p:spPr>
                <a:xfrm>
                  <a:off x="5165739" y="4553999"/>
                  <a:ext cx="4623006" cy="1220662"/>
                </a:xfrm>
                <a:custGeom>
                  <a:avLst/>
                  <a:gdLst>
                    <a:gd name="connsiteX0" fmla="*/ 0 w 4623006"/>
                    <a:gd name="connsiteY0" fmla="*/ 0 h 1220662"/>
                    <a:gd name="connsiteX1" fmla="*/ 986836 w 4623006"/>
                    <a:gd name="connsiteY1" fmla="*/ 258550 h 1220662"/>
                    <a:gd name="connsiteX2" fmla="*/ 1213792 w 4623006"/>
                    <a:gd name="connsiteY2" fmla="*/ 414215 h 1220662"/>
                    <a:gd name="connsiteX3" fmla="*/ 2085292 w 4623006"/>
                    <a:gd name="connsiteY3" fmla="*/ 881275 h 1220662"/>
                    <a:gd name="connsiteX4" fmla="*/ 4328363 w 4623006"/>
                    <a:gd name="connsiteY4" fmla="*/ 1208169 h 1220662"/>
                    <a:gd name="connsiteX5" fmla="*/ 4611824 w 4623006"/>
                    <a:gd name="connsiteY5" fmla="*/ 1208292 h 1220662"/>
                    <a:gd name="connsiteX6" fmla="*/ 4623006 w 4623006"/>
                    <a:gd name="connsiteY6" fmla="*/ 1211222 h 1220662"/>
                    <a:gd name="connsiteX7" fmla="*/ 1837642 w 4623006"/>
                    <a:gd name="connsiteY7" fmla="*/ 989226 h 1220662"/>
                    <a:gd name="connsiteX8" fmla="*/ 239042 w 4623006"/>
                    <a:gd name="connsiteY8" fmla="*/ 145277 h 1220662"/>
                    <a:gd name="connsiteX9" fmla="*/ 0 w 4623006"/>
                    <a:gd name="connsiteY9" fmla="*/ 0 h 1220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23006" h="1220662">
                      <a:moveTo>
                        <a:pt x="0" y="0"/>
                      </a:moveTo>
                      <a:lnTo>
                        <a:pt x="986836" y="258550"/>
                      </a:lnTo>
                      <a:lnTo>
                        <a:pt x="1213792" y="414215"/>
                      </a:lnTo>
                      <a:cubicBezTo>
                        <a:pt x="1498860" y="605397"/>
                        <a:pt x="1787239" y="779278"/>
                        <a:pt x="2085292" y="881275"/>
                      </a:cubicBezTo>
                      <a:cubicBezTo>
                        <a:pt x="2780749" y="1119268"/>
                        <a:pt x="3608202" y="1198526"/>
                        <a:pt x="4328363" y="1208169"/>
                      </a:cubicBezTo>
                      <a:lnTo>
                        <a:pt x="4611824" y="1208292"/>
                      </a:lnTo>
                      <a:lnTo>
                        <a:pt x="4623006" y="1211222"/>
                      </a:lnTo>
                      <a:cubicBezTo>
                        <a:pt x="3691672" y="1230801"/>
                        <a:pt x="2705475" y="1244284"/>
                        <a:pt x="1837642" y="989226"/>
                      </a:cubicBezTo>
                      <a:cubicBezTo>
                        <a:pt x="1295247" y="829815"/>
                        <a:pt x="750701" y="464524"/>
                        <a:pt x="239042" y="14527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3A58EDB6-2F6A-7E80-F581-668398C123BF}"/>
                  </a:ext>
                </a:extLst>
              </p:cNvPr>
              <p:cNvGrpSpPr/>
              <p:nvPr/>
            </p:nvGrpSpPr>
            <p:grpSpPr>
              <a:xfrm>
                <a:off x="2475831" y="1191874"/>
                <a:ext cx="7583585" cy="1893349"/>
                <a:chOff x="2475831" y="1185778"/>
                <a:chExt cx="7583585" cy="1893349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ABB64BA9-3797-54D1-85B4-18317BE67843}"/>
                    </a:ext>
                  </a:extLst>
                </p:cNvPr>
                <p:cNvSpPr/>
                <p:nvPr/>
              </p:nvSpPr>
              <p:spPr>
                <a:xfrm>
                  <a:off x="2794343" y="1185778"/>
                  <a:ext cx="7211695" cy="1886971"/>
                </a:xfrm>
                <a:custGeom>
                  <a:avLst/>
                  <a:gdLst>
                    <a:gd name="connsiteX0" fmla="*/ 0 w 7137400"/>
                    <a:gd name="connsiteY0" fmla="*/ 3294 h 1876544"/>
                    <a:gd name="connsiteX1" fmla="*/ 2368550 w 7137400"/>
                    <a:gd name="connsiteY1" fmla="*/ 244594 h 1876544"/>
                    <a:gd name="connsiteX2" fmla="*/ 4667250 w 7137400"/>
                    <a:gd name="connsiteY2" fmla="*/ 1559044 h 1876544"/>
                    <a:gd name="connsiteX3" fmla="*/ 7137400 w 7137400"/>
                    <a:gd name="connsiteY3" fmla="*/ 1876544 h 1876544"/>
                    <a:gd name="connsiteX0" fmla="*/ 0 w 7211695"/>
                    <a:gd name="connsiteY0" fmla="*/ 3294 h 1886069"/>
                    <a:gd name="connsiteX1" fmla="*/ 2368550 w 7211695"/>
                    <a:gd name="connsiteY1" fmla="*/ 244594 h 1886069"/>
                    <a:gd name="connsiteX2" fmla="*/ 4667250 w 7211695"/>
                    <a:gd name="connsiteY2" fmla="*/ 1559044 h 1886069"/>
                    <a:gd name="connsiteX3" fmla="*/ 7211695 w 7211695"/>
                    <a:gd name="connsiteY3" fmla="*/ 1886069 h 1886069"/>
                    <a:gd name="connsiteX0" fmla="*/ 0 w 7211695"/>
                    <a:gd name="connsiteY0" fmla="*/ 3294 h 1886971"/>
                    <a:gd name="connsiteX1" fmla="*/ 2368550 w 7211695"/>
                    <a:gd name="connsiteY1" fmla="*/ 244594 h 1886971"/>
                    <a:gd name="connsiteX2" fmla="*/ 4667250 w 7211695"/>
                    <a:gd name="connsiteY2" fmla="*/ 1559044 h 1886971"/>
                    <a:gd name="connsiteX3" fmla="*/ 7211695 w 7211695"/>
                    <a:gd name="connsiteY3" fmla="*/ 1886069 h 1886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1695" h="1886971">
                      <a:moveTo>
                        <a:pt x="0" y="3294"/>
                      </a:moveTo>
                      <a:cubicBezTo>
                        <a:pt x="795337" y="-5702"/>
                        <a:pt x="1590675" y="-14698"/>
                        <a:pt x="2368550" y="244594"/>
                      </a:cubicBezTo>
                      <a:cubicBezTo>
                        <a:pt x="3146425" y="503886"/>
                        <a:pt x="3872442" y="1287052"/>
                        <a:pt x="4667250" y="1559044"/>
                      </a:cubicBezTo>
                      <a:cubicBezTo>
                        <a:pt x="5462058" y="1831036"/>
                        <a:pt x="6429269" y="1895700"/>
                        <a:pt x="7211695" y="1886069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9BD0B726-9630-169C-E17A-BF243641FB92}"/>
                    </a:ext>
                  </a:extLst>
                </p:cNvPr>
                <p:cNvSpPr/>
                <p:nvPr/>
              </p:nvSpPr>
              <p:spPr>
                <a:xfrm>
                  <a:off x="2532981" y="1755738"/>
                  <a:ext cx="7361335" cy="488561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61335" h="488561">
                      <a:moveTo>
                        <a:pt x="0" y="416091"/>
                      </a:moveTo>
                      <a:cubicBezTo>
                        <a:pt x="585495" y="19540"/>
                        <a:pt x="1220237" y="-8840"/>
                        <a:pt x="2052346" y="1657"/>
                      </a:cubicBezTo>
                      <a:cubicBezTo>
                        <a:pt x="2884455" y="12154"/>
                        <a:pt x="3859115" y="394320"/>
                        <a:pt x="4992655" y="479073"/>
                      </a:cubicBezTo>
                      <a:cubicBezTo>
                        <a:pt x="6126195" y="563826"/>
                        <a:pt x="6712858" y="51162"/>
                        <a:pt x="7361335" y="116476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07DC84F-F51B-5A81-B6F9-25AB4401B2A5}"/>
                    </a:ext>
                  </a:extLst>
                </p:cNvPr>
                <p:cNvSpPr/>
                <p:nvPr/>
              </p:nvSpPr>
              <p:spPr>
                <a:xfrm>
                  <a:off x="2685381" y="1951758"/>
                  <a:ext cx="7247035" cy="510126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61335"/>
                    <a:gd name="connsiteY0" fmla="*/ 417442 h 521158"/>
                    <a:gd name="connsiteX1" fmla="*/ 2052346 w 7361335"/>
                    <a:gd name="connsiteY1" fmla="*/ 3008 h 521158"/>
                    <a:gd name="connsiteX2" fmla="*/ 4637055 w 7361335"/>
                    <a:gd name="connsiteY2" fmla="*/ 512174 h 521158"/>
                    <a:gd name="connsiteX3" fmla="*/ 7361335 w 7361335"/>
                    <a:gd name="connsiteY3" fmla="*/ 117827 h 521158"/>
                    <a:gd name="connsiteX0" fmla="*/ 0 w 7247035"/>
                    <a:gd name="connsiteY0" fmla="*/ 417442 h 512500"/>
                    <a:gd name="connsiteX1" fmla="*/ 2052346 w 7247035"/>
                    <a:gd name="connsiteY1" fmla="*/ 3008 h 512500"/>
                    <a:gd name="connsiteX2" fmla="*/ 4637055 w 7247035"/>
                    <a:gd name="connsiteY2" fmla="*/ 512174 h 512500"/>
                    <a:gd name="connsiteX3" fmla="*/ 7247035 w 7247035"/>
                    <a:gd name="connsiteY3" fmla="*/ 92427 h 512500"/>
                    <a:gd name="connsiteX0" fmla="*/ 0 w 7247035"/>
                    <a:gd name="connsiteY0" fmla="*/ 459518 h 510126"/>
                    <a:gd name="connsiteX1" fmla="*/ 2052346 w 7247035"/>
                    <a:gd name="connsiteY1" fmla="*/ 634 h 510126"/>
                    <a:gd name="connsiteX2" fmla="*/ 4637055 w 7247035"/>
                    <a:gd name="connsiteY2" fmla="*/ 509800 h 510126"/>
                    <a:gd name="connsiteX3" fmla="*/ 7247035 w 7247035"/>
                    <a:gd name="connsiteY3" fmla="*/ 90053 h 510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47035" h="510126">
                      <a:moveTo>
                        <a:pt x="0" y="459518"/>
                      </a:moveTo>
                      <a:cubicBezTo>
                        <a:pt x="585495" y="62967"/>
                        <a:pt x="1279504" y="-7746"/>
                        <a:pt x="2052346" y="634"/>
                      </a:cubicBezTo>
                      <a:cubicBezTo>
                        <a:pt x="2825188" y="9014"/>
                        <a:pt x="3771274" y="494897"/>
                        <a:pt x="4637055" y="509800"/>
                      </a:cubicBezTo>
                      <a:cubicBezTo>
                        <a:pt x="5502836" y="524703"/>
                        <a:pt x="6598558" y="24739"/>
                        <a:pt x="7247035" y="90053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6F880F9-DDB2-FA5E-6D68-30C775D4E290}"/>
                    </a:ext>
                  </a:extLst>
                </p:cNvPr>
                <p:cNvSpPr/>
                <p:nvPr/>
              </p:nvSpPr>
              <p:spPr>
                <a:xfrm>
                  <a:off x="2786981" y="1512108"/>
                  <a:ext cx="7247035" cy="463552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61335"/>
                    <a:gd name="connsiteY0" fmla="*/ 351037 h 414114"/>
                    <a:gd name="connsiteX1" fmla="*/ 2071396 w 7361335"/>
                    <a:gd name="connsiteY1" fmla="*/ 6453 h 414114"/>
                    <a:gd name="connsiteX2" fmla="*/ 4992655 w 7361335"/>
                    <a:gd name="connsiteY2" fmla="*/ 414019 h 414114"/>
                    <a:gd name="connsiteX3" fmla="*/ 7361335 w 7361335"/>
                    <a:gd name="connsiteY3" fmla="*/ 51422 h 414114"/>
                    <a:gd name="connsiteX0" fmla="*/ 0 w 7361335"/>
                    <a:gd name="connsiteY0" fmla="*/ 298252 h 437529"/>
                    <a:gd name="connsiteX1" fmla="*/ 2071396 w 7361335"/>
                    <a:gd name="connsiteY1" fmla="*/ 29868 h 437529"/>
                    <a:gd name="connsiteX2" fmla="*/ 4992655 w 7361335"/>
                    <a:gd name="connsiteY2" fmla="*/ 437434 h 437529"/>
                    <a:gd name="connsiteX3" fmla="*/ 7361335 w 7361335"/>
                    <a:gd name="connsiteY3" fmla="*/ 74837 h 437529"/>
                    <a:gd name="connsiteX0" fmla="*/ 0 w 7361335"/>
                    <a:gd name="connsiteY0" fmla="*/ 275880 h 415157"/>
                    <a:gd name="connsiteX1" fmla="*/ 2071396 w 7361335"/>
                    <a:gd name="connsiteY1" fmla="*/ 7496 h 415157"/>
                    <a:gd name="connsiteX2" fmla="*/ 4992655 w 7361335"/>
                    <a:gd name="connsiteY2" fmla="*/ 415062 h 415157"/>
                    <a:gd name="connsiteX3" fmla="*/ 7361335 w 7361335"/>
                    <a:gd name="connsiteY3" fmla="*/ 52465 h 415157"/>
                    <a:gd name="connsiteX0" fmla="*/ 0 w 7361335"/>
                    <a:gd name="connsiteY0" fmla="*/ 278721 h 462439"/>
                    <a:gd name="connsiteX1" fmla="*/ 2071396 w 7361335"/>
                    <a:gd name="connsiteY1" fmla="*/ 10337 h 462439"/>
                    <a:gd name="connsiteX2" fmla="*/ 4973605 w 7361335"/>
                    <a:gd name="connsiteY2" fmla="*/ 462353 h 462439"/>
                    <a:gd name="connsiteX3" fmla="*/ 7361335 w 7361335"/>
                    <a:gd name="connsiteY3" fmla="*/ 55306 h 462439"/>
                    <a:gd name="connsiteX0" fmla="*/ 0 w 7247035"/>
                    <a:gd name="connsiteY0" fmla="*/ 278721 h 463552"/>
                    <a:gd name="connsiteX1" fmla="*/ 2071396 w 7247035"/>
                    <a:gd name="connsiteY1" fmla="*/ 10337 h 463552"/>
                    <a:gd name="connsiteX2" fmla="*/ 4973605 w 7247035"/>
                    <a:gd name="connsiteY2" fmla="*/ 462353 h 463552"/>
                    <a:gd name="connsiteX3" fmla="*/ 7247035 w 7247035"/>
                    <a:gd name="connsiteY3" fmla="*/ 163256 h 463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47035" h="463552">
                      <a:moveTo>
                        <a:pt x="0" y="278721"/>
                      </a:moveTo>
                      <a:cubicBezTo>
                        <a:pt x="661695" y="2820"/>
                        <a:pt x="1242462" y="-20268"/>
                        <a:pt x="2071396" y="10337"/>
                      </a:cubicBezTo>
                      <a:cubicBezTo>
                        <a:pt x="2900330" y="40942"/>
                        <a:pt x="4110999" y="436867"/>
                        <a:pt x="4973605" y="462353"/>
                      </a:cubicBezTo>
                      <a:cubicBezTo>
                        <a:pt x="5836211" y="487839"/>
                        <a:pt x="6598558" y="97942"/>
                        <a:pt x="7247035" y="163256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2148092-AA61-93CD-A40C-56BF9A49DB22}"/>
                    </a:ext>
                  </a:extLst>
                </p:cNvPr>
                <p:cNvSpPr/>
                <p:nvPr/>
              </p:nvSpPr>
              <p:spPr>
                <a:xfrm>
                  <a:off x="2583781" y="2221937"/>
                  <a:ext cx="7386735" cy="478070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386735"/>
                    <a:gd name="connsiteY0" fmla="*/ 503369 h 503369"/>
                    <a:gd name="connsiteX1" fmla="*/ 2077746 w 7386735"/>
                    <a:gd name="connsiteY1" fmla="*/ 35 h 503369"/>
                    <a:gd name="connsiteX2" fmla="*/ 5018055 w 7386735"/>
                    <a:gd name="connsiteY2" fmla="*/ 477451 h 503369"/>
                    <a:gd name="connsiteX3" fmla="*/ 7386735 w 7386735"/>
                    <a:gd name="connsiteY3" fmla="*/ 114854 h 503369"/>
                    <a:gd name="connsiteX0" fmla="*/ 0 w 7386735"/>
                    <a:gd name="connsiteY0" fmla="*/ 477966 h 477966"/>
                    <a:gd name="connsiteX1" fmla="*/ 2084096 w 7386735"/>
                    <a:gd name="connsiteY1" fmla="*/ 32 h 477966"/>
                    <a:gd name="connsiteX2" fmla="*/ 5018055 w 7386735"/>
                    <a:gd name="connsiteY2" fmla="*/ 452048 h 477966"/>
                    <a:gd name="connsiteX3" fmla="*/ 7386735 w 7386735"/>
                    <a:gd name="connsiteY3" fmla="*/ 89451 h 477966"/>
                    <a:gd name="connsiteX0" fmla="*/ 0 w 7386735"/>
                    <a:gd name="connsiteY0" fmla="*/ 478098 h 478098"/>
                    <a:gd name="connsiteX1" fmla="*/ 2084096 w 7386735"/>
                    <a:gd name="connsiteY1" fmla="*/ 164 h 478098"/>
                    <a:gd name="connsiteX2" fmla="*/ 5024405 w 7386735"/>
                    <a:gd name="connsiteY2" fmla="*/ 420430 h 478098"/>
                    <a:gd name="connsiteX3" fmla="*/ 7386735 w 7386735"/>
                    <a:gd name="connsiteY3" fmla="*/ 89583 h 478098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  <a:gd name="connsiteX0" fmla="*/ 0 w 7386735"/>
                    <a:gd name="connsiteY0" fmla="*/ 478070 h 478070"/>
                    <a:gd name="connsiteX1" fmla="*/ 2084096 w 7386735"/>
                    <a:gd name="connsiteY1" fmla="*/ 136 h 478070"/>
                    <a:gd name="connsiteX2" fmla="*/ 5024405 w 7386735"/>
                    <a:gd name="connsiteY2" fmla="*/ 420402 h 478070"/>
                    <a:gd name="connsiteX3" fmla="*/ 7386735 w 7386735"/>
                    <a:gd name="connsiteY3" fmla="*/ 89555 h 478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86735" h="478070">
                      <a:moveTo>
                        <a:pt x="0" y="478070"/>
                      </a:moveTo>
                      <a:cubicBezTo>
                        <a:pt x="585495" y="81519"/>
                        <a:pt x="1246695" y="9747"/>
                        <a:pt x="2084096" y="136"/>
                      </a:cubicBezTo>
                      <a:cubicBezTo>
                        <a:pt x="2921497" y="-9475"/>
                        <a:pt x="4140632" y="494399"/>
                        <a:pt x="5024405" y="420402"/>
                      </a:cubicBezTo>
                      <a:cubicBezTo>
                        <a:pt x="5908178" y="346405"/>
                        <a:pt x="6706508" y="106791"/>
                        <a:pt x="7386735" y="89555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ECB780D1-E473-E9DB-EF09-16EE3827F27E}"/>
                    </a:ext>
                  </a:extLst>
                </p:cNvPr>
                <p:cNvSpPr/>
                <p:nvPr/>
              </p:nvSpPr>
              <p:spPr>
                <a:xfrm>
                  <a:off x="2475831" y="1240491"/>
                  <a:ext cx="7583585" cy="525571"/>
                </a:xfrm>
                <a:custGeom>
                  <a:avLst/>
                  <a:gdLst>
                    <a:gd name="connsiteX0" fmla="*/ 0 w 7949681"/>
                    <a:gd name="connsiteY0" fmla="*/ 951722 h 1007848"/>
                    <a:gd name="connsiteX1" fmla="*/ 1912775 w 7949681"/>
                    <a:gd name="connsiteY1" fmla="*/ 167951 h 1007848"/>
                    <a:gd name="connsiteX2" fmla="*/ 4450702 w 7949681"/>
                    <a:gd name="connsiteY2" fmla="*/ 1007706 h 1007848"/>
                    <a:gd name="connsiteX3" fmla="*/ 6615404 w 7949681"/>
                    <a:gd name="connsiteY3" fmla="*/ 233265 h 1007848"/>
                    <a:gd name="connsiteX4" fmla="*/ 7949681 w 7949681"/>
                    <a:gd name="connsiteY4" fmla="*/ 0 h 1007848"/>
                    <a:gd name="connsiteX0" fmla="*/ 0 w 6615404"/>
                    <a:gd name="connsiteY0" fmla="*/ 783933 h 840059"/>
                    <a:gd name="connsiteX1" fmla="*/ 1912775 w 6615404"/>
                    <a:gd name="connsiteY1" fmla="*/ 162 h 840059"/>
                    <a:gd name="connsiteX2" fmla="*/ 4450702 w 6615404"/>
                    <a:gd name="connsiteY2" fmla="*/ 839917 h 840059"/>
                    <a:gd name="connsiteX3" fmla="*/ 6615404 w 6615404"/>
                    <a:gd name="connsiteY3" fmla="*/ 65476 h 840059"/>
                    <a:gd name="connsiteX0" fmla="*/ 0 w 6615404"/>
                    <a:gd name="connsiteY0" fmla="*/ 799754 h 855880"/>
                    <a:gd name="connsiteX1" fmla="*/ 1912775 w 6615404"/>
                    <a:gd name="connsiteY1" fmla="*/ 15983 h 855880"/>
                    <a:gd name="connsiteX2" fmla="*/ 4450702 w 6615404"/>
                    <a:gd name="connsiteY2" fmla="*/ 855738 h 855880"/>
                    <a:gd name="connsiteX3" fmla="*/ 6615404 w 6615404"/>
                    <a:gd name="connsiteY3" fmla="*/ 81297 h 855880"/>
                    <a:gd name="connsiteX0" fmla="*/ 0 w 6615404"/>
                    <a:gd name="connsiteY0" fmla="*/ 799754 h 913292"/>
                    <a:gd name="connsiteX1" fmla="*/ 1912775 w 6615404"/>
                    <a:gd name="connsiteY1" fmla="*/ 15983 h 913292"/>
                    <a:gd name="connsiteX2" fmla="*/ 4450702 w 6615404"/>
                    <a:gd name="connsiteY2" fmla="*/ 855738 h 913292"/>
                    <a:gd name="connsiteX3" fmla="*/ 6615404 w 6615404"/>
                    <a:gd name="connsiteY3" fmla="*/ 81297 h 913292"/>
                    <a:gd name="connsiteX0" fmla="*/ 0 w 7072604"/>
                    <a:gd name="connsiteY0" fmla="*/ 799754 h 865540"/>
                    <a:gd name="connsiteX1" fmla="*/ 1912775 w 7072604"/>
                    <a:gd name="connsiteY1" fmla="*/ 15983 h 865540"/>
                    <a:gd name="connsiteX2" fmla="*/ 4450702 w 7072604"/>
                    <a:gd name="connsiteY2" fmla="*/ 855738 h 865540"/>
                    <a:gd name="connsiteX3" fmla="*/ 7072604 w 7072604"/>
                    <a:gd name="connsiteY3" fmla="*/ 435861 h 865540"/>
                    <a:gd name="connsiteX0" fmla="*/ 0 w 7072604"/>
                    <a:gd name="connsiteY0" fmla="*/ 799754 h 869733"/>
                    <a:gd name="connsiteX1" fmla="*/ 1912775 w 7072604"/>
                    <a:gd name="connsiteY1" fmla="*/ 15983 h 869733"/>
                    <a:gd name="connsiteX2" fmla="*/ 4450702 w 7072604"/>
                    <a:gd name="connsiteY2" fmla="*/ 855738 h 869733"/>
                    <a:gd name="connsiteX3" fmla="*/ 7072604 w 7072604"/>
                    <a:gd name="connsiteY3" fmla="*/ 435861 h 869733"/>
                    <a:gd name="connsiteX0" fmla="*/ 0 w 7072604"/>
                    <a:gd name="connsiteY0" fmla="*/ 799754 h 909752"/>
                    <a:gd name="connsiteX1" fmla="*/ 1912775 w 7072604"/>
                    <a:gd name="connsiteY1" fmla="*/ 15983 h 909752"/>
                    <a:gd name="connsiteX2" fmla="*/ 4450702 w 7072604"/>
                    <a:gd name="connsiteY2" fmla="*/ 855738 h 909752"/>
                    <a:gd name="connsiteX3" fmla="*/ 7072604 w 7072604"/>
                    <a:gd name="connsiteY3" fmla="*/ 435861 h 909752"/>
                    <a:gd name="connsiteX0" fmla="*/ 0 w 7361853"/>
                    <a:gd name="connsiteY0" fmla="*/ 799754 h 969459"/>
                    <a:gd name="connsiteX1" fmla="*/ 1912775 w 7361853"/>
                    <a:gd name="connsiteY1" fmla="*/ 15983 h 969459"/>
                    <a:gd name="connsiteX2" fmla="*/ 4450702 w 7361853"/>
                    <a:gd name="connsiteY2" fmla="*/ 855738 h 969459"/>
                    <a:gd name="connsiteX3" fmla="*/ 7361853 w 7361853"/>
                    <a:gd name="connsiteY3" fmla="*/ 771763 h 969459"/>
                    <a:gd name="connsiteX0" fmla="*/ 0 w 7361853"/>
                    <a:gd name="connsiteY0" fmla="*/ 799754 h 889173"/>
                    <a:gd name="connsiteX1" fmla="*/ 1912775 w 7361853"/>
                    <a:gd name="connsiteY1" fmla="*/ 15983 h 889173"/>
                    <a:gd name="connsiteX2" fmla="*/ 4450702 w 7361853"/>
                    <a:gd name="connsiteY2" fmla="*/ 855738 h 889173"/>
                    <a:gd name="connsiteX3" fmla="*/ 7361853 w 7361853"/>
                    <a:gd name="connsiteY3" fmla="*/ 771763 h 889173"/>
                    <a:gd name="connsiteX0" fmla="*/ 0 w 7343192"/>
                    <a:gd name="connsiteY0" fmla="*/ 799754 h 875460"/>
                    <a:gd name="connsiteX1" fmla="*/ 1912775 w 7343192"/>
                    <a:gd name="connsiteY1" fmla="*/ 15983 h 875460"/>
                    <a:gd name="connsiteX2" fmla="*/ 4450702 w 7343192"/>
                    <a:gd name="connsiteY2" fmla="*/ 855738 h 875460"/>
                    <a:gd name="connsiteX3" fmla="*/ 7343192 w 7343192"/>
                    <a:gd name="connsiteY3" fmla="*/ 659796 h 875460"/>
                    <a:gd name="connsiteX0" fmla="*/ 0 w 7343192"/>
                    <a:gd name="connsiteY0" fmla="*/ 783782 h 788934"/>
                    <a:gd name="connsiteX1" fmla="*/ 1912775 w 7343192"/>
                    <a:gd name="connsiteY1" fmla="*/ 11 h 788934"/>
                    <a:gd name="connsiteX2" fmla="*/ 4758612 w 7343192"/>
                    <a:gd name="connsiteY2" fmla="*/ 765121 h 788934"/>
                    <a:gd name="connsiteX3" fmla="*/ 7343192 w 7343192"/>
                    <a:gd name="connsiteY3" fmla="*/ 643824 h 788934"/>
                    <a:gd name="connsiteX0" fmla="*/ 0 w 7343192"/>
                    <a:gd name="connsiteY0" fmla="*/ 877086 h 887565"/>
                    <a:gd name="connsiteX1" fmla="*/ 2332653 w 7343192"/>
                    <a:gd name="connsiteY1" fmla="*/ 9 h 887565"/>
                    <a:gd name="connsiteX2" fmla="*/ 4758612 w 7343192"/>
                    <a:gd name="connsiteY2" fmla="*/ 858425 h 887565"/>
                    <a:gd name="connsiteX3" fmla="*/ 7343192 w 7343192"/>
                    <a:gd name="connsiteY3" fmla="*/ 737128 h 887565"/>
                    <a:gd name="connsiteX0" fmla="*/ 0 w 7081935"/>
                    <a:gd name="connsiteY0" fmla="*/ 683060 h 889482"/>
                    <a:gd name="connsiteX1" fmla="*/ 2071396 w 7081935"/>
                    <a:gd name="connsiteY1" fmla="*/ 1926 h 889482"/>
                    <a:gd name="connsiteX2" fmla="*/ 4497355 w 7081935"/>
                    <a:gd name="connsiteY2" fmla="*/ 860342 h 889482"/>
                    <a:gd name="connsiteX3" fmla="*/ 7081935 w 7081935"/>
                    <a:gd name="connsiteY3" fmla="*/ 739045 h 889482"/>
                    <a:gd name="connsiteX0" fmla="*/ 0 w 7081935"/>
                    <a:gd name="connsiteY0" fmla="*/ 323585 h 530007"/>
                    <a:gd name="connsiteX1" fmla="*/ 1741196 w 7081935"/>
                    <a:gd name="connsiteY1" fmla="*/ 23451 h 530007"/>
                    <a:gd name="connsiteX2" fmla="*/ 4497355 w 7081935"/>
                    <a:gd name="connsiteY2" fmla="*/ 500867 h 530007"/>
                    <a:gd name="connsiteX3" fmla="*/ 7081935 w 7081935"/>
                    <a:gd name="connsiteY3" fmla="*/ 379570 h 530007"/>
                    <a:gd name="connsiteX0" fmla="*/ 0 w 7393085"/>
                    <a:gd name="connsiteY0" fmla="*/ 416091 h 508213"/>
                    <a:gd name="connsiteX1" fmla="*/ 2052346 w 7393085"/>
                    <a:gd name="connsiteY1" fmla="*/ 1657 h 508213"/>
                    <a:gd name="connsiteX2" fmla="*/ 4808505 w 7393085"/>
                    <a:gd name="connsiteY2" fmla="*/ 479073 h 508213"/>
                    <a:gd name="connsiteX3" fmla="*/ 7393085 w 7393085"/>
                    <a:gd name="connsiteY3" fmla="*/ 357776 h 508213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80850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497011"/>
                    <a:gd name="connsiteX1" fmla="*/ 2052346 w 7361335"/>
                    <a:gd name="connsiteY1" fmla="*/ 1657 h 497011"/>
                    <a:gd name="connsiteX2" fmla="*/ 4992655 w 7361335"/>
                    <a:gd name="connsiteY2" fmla="*/ 479073 h 497011"/>
                    <a:gd name="connsiteX3" fmla="*/ 7361335 w 7361335"/>
                    <a:gd name="connsiteY3" fmla="*/ 116476 h 497011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61242"/>
                    <a:gd name="connsiteX1" fmla="*/ 2052346 w 7361335"/>
                    <a:gd name="connsiteY1" fmla="*/ 1657 h 561242"/>
                    <a:gd name="connsiteX2" fmla="*/ 4992655 w 7361335"/>
                    <a:gd name="connsiteY2" fmla="*/ 479073 h 561242"/>
                    <a:gd name="connsiteX3" fmla="*/ 7361335 w 7361335"/>
                    <a:gd name="connsiteY3" fmla="*/ 116476 h 561242"/>
                    <a:gd name="connsiteX0" fmla="*/ 0 w 7361335"/>
                    <a:gd name="connsiteY0" fmla="*/ 416091 h 558948"/>
                    <a:gd name="connsiteX1" fmla="*/ 2052346 w 7361335"/>
                    <a:gd name="connsiteY1" fmla="*/ 1657 h 558948"/>
                    <a:gd name="connsiteX2" fmla="*/ 4992655 w 7361335"/>
                    <a:gd name="connsiteY2" fmla="*/ 479073 h 558948"/>
                    <a:gd name="connsiteX3" fmla="*/ 7361335 w 7361335"/>
                    <a:gd name="connsiteY3" fmla="*/ 116476 h 558948"/>
                    <a:gd name="connsiteX0" fmla="*/ 0 w 7361335"/>
                    <a:gd name="connsiteY0" fmla="*/ 416091 h 522234"/>
                    <a:gd name="connsiteX1" fmla="*/ 2052346 w 7361335"/>
                    <a:gd name="connsiteY1" fmla="*/ 1657 h 522234"/>
                    <a:gd name="connsiteX2" fmla="*/ 4992655 w 7361335"/>
                    <a:gd name="connsiteY2" fmla="*/ 479073 h 522234"/>
                    <a:gd name="connsiteX3" fmla="*/ 7361335 w 7361335"/>
                    <a:gd name="connsiteY3" fmla="*/ 116476 h 522234"/>
                    <a:gd name="connsiteX0" fmla="*/ 0 w 7361335"/>
                    <a:gd name="connsiteY0" fmla="*/ 416091 h 501861"/>
                    <a:gd name="connsiteX1" fmla="*/ 2052346 w 7361335"/>
                    <a:gd name="connsiteY1" fmla="*/ 1657 h 501861"/>
                    <a:gd name="connsiteX2" fmla="*/ 4992655 w 7361335"/>
                    <a:gd name="connsiteY2" fmla="*/ 479073 h 501861"/>
                    <a:gd name="connsiteX3" fmla="*/ 7361335 w 7361335"/>
                    <a:gd name="connsiteY3" fmla="*/ 116476 h 501861"/>
                    <a:gd name="connsiteX0" fmla="*/ 0 w 7361335"/>
                    <a:gd name="connsiteY0" fmla="*/ 416091 h 488561"/>
                    <a:gd name="connsiteX1" fmla="*/ 2052346 w 7361335"/>
                    <a:gd name="connsiteY1" fmla="*/ 1657 h 488561"/>
                    <a:gd name="connsiteX2" fmla="*/ 4992655 w 7361335"/>
                    <a:gd name="connsiteY2" fmla="*/ 479073 h 488561"/>
                    <a:gd name="connsiteX3" fmla="*/ 7361335 w 7361335"/>
                    <a:gd name="connsiteY3" fmla="*/ 116476 h 488561"/>
                    <a:gd name="connsiteX0" fmla="*/ 0 w 7615335"/>
                    <a:gd name="connsiteY0" fmla="*/ 416091 h 486221"/>
                    <a:gd name="connsiteX1" fmla="*/ 2052346 w 7615335"/>
                    <a:gd name="connsiteY1" fmla="*/ 1657 h 486221"/>
                    <a:gd name="connsiteX2" fmla="*/ 4992655 w 7615335"/>
                    <a:gd name="connsiteY2" fmla="*/ 479073 h 486221"/>
                    <a:gd name="connsiteX3" fmla="*/ 7615335 w 7615335"/>
                    <a:gd name="connsiteY3" fmla="*/ 326026 h 486221"/>
                    <a:gd name="connsiteX0" fmla="*/ 0 w 7615335"/>
                    <a:gd name="connsiteY0" fmla="*/ 417734 h 525170"/>
                    <a:gd name="connsiteX1" fmla="*/ 2052346 w 7615335"/>
                    <a:gd name="connsiteY1" fmla="*/ 3300 h 525170"/>
                    <a:gd name="connsiteX2" fmla="*/ 5100605 w 7615335"/>
                    <a:gd name="connsiteY2" fmla="*/ 518816 h 525170"/>
                    <a:gd name="connsiteX3" fmla="*/ 7615335 w 7615335"/>
                    <a:gd name="connsiteY3" fmla="*/ 327669 h 525170"/>
                    <a:gd name="connsiteX0" fmla="*/ 0 w 7583585"/>
                    <a:gd name="connsiteY0" fmla="*/ 368528 h 533114"/>
                    <a:gd name="connsiteX1" fmla="*/ 2020596 w 7583585"/>
                    <a:gd name="connsiteY1" fmla="*/ 11244 h 533114"/>
                    <a:gd name="connsiteX2" fmla="*/ 5068855 w 7583585"/>
                    <a:gd name="connsiteY2" fmla="*/ 526760 h 533114"/>
                    <a:gd name="connsiteX3" fmla="*/ 7583585 w 7583585"/>
                    <a:gd name="connsiteY3" fmla="*/ 335613 h 533114"/>
                    <a:gd name="connsiteX0" fmla="*/ 0 w 7583585"/>
                    <a:gd name="connsiteY0" fmla="*/ 361689 h 526275"/>
                    <a:gd name="connsiteX1" fmla="*/ 2020596 w 7583585"/>
                    <a:gd name="connsiteY1" fmla="*/ 4405 h 526275"/>
                    <a:gd name="connsiteX2" fmla="*/ 5068855 w 7583585"/>
                    <a:gd name="connsiteY2" fmla="*/ 519921 h 526275"/>
                    <a:gd name="connsiteX3" fmla="*/ 7583585 w 7583585"/>
                    <a:gd name="connsiteY3" fmla="*/ 328774 h 526275"/>
                    <a:gd name="connsiteX0" fmla="*/ 0 w 7583585"/>
                    <a:gd name="connsiteY0" fmla="*/ 360985 h 525571"/>
                    <a:gd name="connsiteX1" fmla="*/ 2020596 w 7583585"/>
                    <a:gd name="connsiteY1" fmla="*/ 3701 h 525571"/>
                    <a:gd name="connsiteX2" fmla="*/ 5068855 w 7583585"/>
                    <a:gd name="connsiteY2" fmla="*/ 519217 h 525571"/>
                    <a:gd name="connsiteX3" fmla="*/ 7583585 w 7583585"/>
                    <a:gd name="connsiteY3" fmla="*/ 328070 h 52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83585" h="525571">
                      <a:moveTo>
                        <a:pt x="0" y="360985"/>
                      </a:moveTo>
                      <a:cubicBezTo>
                        <a:pt x="623595" y="91434"/>
                        <a:pt x="1175787" y="-22671"/>
                        <a:pt x="2020596" y="3701"/>
                      </a:cubicBezTo>
                      <a:cubicBezTo>
                        <a:pt x="2865405" y="30073"/>
                        <a:pt x="4141690" y="465156"/>
                        <a:pt x="5068855" y="519217"/>
                      </a:cubicBezTo>
                      <a:cubicBezTo>
                        <a:pt x="5996020" y="573279"/>
                        <a:pt x="6935108" y="262756"/>
                        <a:pt x="7583585" y="328070"/>
                      </a:cubicBezTo>
                    </a:path>
                  </a:pathLst>
                </a:custGeom>
                <a:noFill/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F4C7E0D3-39B2-2E4C-1B76-90F8B6ED8C18}"/>
                    </a:ext>
                  </a:extLst>
                </p:cNvPr>
                <p:cNvSpPr/>
                <p:nvPr/>
              </p:nvSpPr>
              <p:spPr>
                <a:xfrm>
                  <a:off x="2801963" y="1189072"/>
                  <a:ext cx="7142480" cy="1890055"/>
                </a:xfrm>
                <a:custGeom>
                  <a:avLst/>
                  <a:gdLst>
                    <a:gd name="connsiteX0" fmla="*/ 0 w 7188200"/>
                    <a:gd name="connsiteY0" fmla="*/ 0 h 1871005"/>
                    <a:gd name="connsiteX1" fmla="*/ 1981200 w 7188200"/>
                    <a:gd name="connsiteY1" fmla="*/ 330200 h 1871005"/>
                    <a:gd name="connsiteX2" fmla="*/ 4457700 w 7188200"/>
                    <a:gd name="connsiteY2" fmla="*/ 1644650 h 1871005"/>
                    <a:gd name="connsiteX3" fmla="*/ 7188200 w 7188200"/>
                    <a:gd name="connsiteY3" fmla="*/ 1860550 h 1871005"/>
                    <a:gd name="connsiteX0" fmla="*/ 0 w 7142480"/>
                    <a:gd name="connsiteY0" fmla="*/ 0 h 1890055"/>
                    <a:gd name="connsiteX1" fmla="*/ 1935480 w 7142480"/>
                    <a:gd name="connsiteY1" fmla="*/ 349250 h 1890055"/>
                    <a:gd name="connsiteX2" fmla="*/ 4411980 w 7142480"/>
                    <a:gd name="connsiteY2" fmla="*/ 1663700 h 1890055"/>
                    <a:gd name="connsiteX3" fmla="*/ 7142480 w 7142480"/>
                    <a:gd name="connsiteY3" fmla="*/ 1879600 h 1890055"/>
                    <a:gd name="connsiteX0" fmla="*/ 0 w 7142480"/>
                    <a:gd name="connsiteY0" fmla="*/ 0 h 1890055"/>
                    <a:gd name="connsiteX1" fmla="*/ 1935480 w 7142480"/>
                    <a:gd name="connsiteY1" fmla="*/ 349250 h 1890055"/>
                    <a:gd name="connsiteX2" fmla="*/ 4411980 w 7142480"/>
                    <a:gd name="connsiteY2" fmla="*/ 1663700 h 1890055"/>
                    <a:gd name="connsiteX3" fmla="*/ 7142480 w 7142480"/>
                    <a:gd name="connsiteY3" fmla="*/ 1879600 h 1890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42480" h="1890055">
                      <a:moveTo>
                        <a:pt x="0" y="0"/>
                      </a:moveTo>
                      <a:cubicBezTo>
                        <a:pt x="624840" y="5186"/>
                        <a:pt x="1200150" y="71967"/>
                        <a:pt x="1935480" y="349250"/>
                      </a:cubicBezTo>
                      <a:cubicBezTo>
                        <a:pt x="2670810" y="626533"/>
                        <a:pt x="3544147" y="1408642"/>
                        <a:pt x="4411980" y="1663700"/>
                      </a:cubicBezTo>
                      <a:cubicBezTo>
                        <a:pt x="5279813" y="1918758"/>
                        <a:pt x="6211146" y="1899179"/>
                        <a:pt x="7142480" y="187960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F2F96486-4870-B505-7771-54B8181FB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3460" y="1225731"/>
                  <a:ext cx="318770" cy="2093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96B7B48C-B315-B2EE-A602-5CD59BB30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1463" y="1547212"/>
                  <a:ext cx="261620" cy="2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A8548349-9731-7A5E-0A31-9431D957E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1765" y="1943175"/>
                  <a:ext cx="292358" cy="6651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0B5E9C64-10C8-4119-79FF-5E2068B6A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11438" y="2290120"/>
                  <a:ext cx="290365" cy="775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47105687-820A-50A2-42FF-0CE3774B5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67233" y="2599033"/>
                  <a:ext cx="255270" cy="4854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F3F615A-58C8-9119-C16A-87A661BFAB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5401" y="446667"/>
                <a:ext cx="0" cy="3466473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A627E44-6ADA-276E-1BDA-DE99FAFDAAE3}"/>
                  </a:ext>
                </a:extLst>
              </p:cNvPr>
              <p:cNvCxnSpPr/>
              <p:nvPr/>
            </p:nvCxnSpPr>
            <p:spPr>
              <a:xfrm flipH="1">
                <a:off x="2326943" y="955336"/>
                <a:ext cx="2929812" cy="292981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07E9702-3558-F839-CBC7-CEFC3BD8C5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2077" y="3166690"/>
                <a:ext cx="7773961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FB870AFD-E154-97D9-C44E-09F1189048F6}"/>
                      </a:ext>
                    </a:extLst>
                  </p:cNvPr>
                  <p:cNvSpPr txBox="1"/>
                  <p:nvPr/>
                </p:nvSpPr>
                <p:spPr>
                  <a:xfrm>
                    <a:off x="2641073" y="446667"/>
                    <a:ext cx="3686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051FFF04-2E44-4343-AC05-200159DE55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1073" y="446667"/>
                    <a:ext cx="36862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6279" b="-47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34813527-2A91-FAD1-3405-1FEC3ED29A7F}"/>
                      </a:ext>
                    </a:extLst>
                  </p:cNvPr>
                  <p:cNvSpPr txBox="1"/>
                  <p:nvPr/>
                </p:nvSpPr>
                <p:spPr>
                  <a:xfrm>
                    <a:off x="9713989" y="3204310"/>
                    <a:ext cx="33457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9B70D0F0-7D57-45AB-A3E4-CED51A7337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13989" y="3204310"/>
                    <a:ext cx="33457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7500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0D4AA0D-4848-E511-0B89-5D99CB389649}"/>
                      </a:ext>
                    </a:extLst>
                  </p:cNvPr>
                  <p:cNvSpPr txBox="1"/>
                  <p:nvPr/>
                </p:nvSpPr>
                <p:spPr>
                  <a:xfrm>
                    <a:off x="6130885" y="1679973"/>
                    <a:ext cx="3656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A83C4AA1-20B0-4A41-9E34-7710C07FAD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30885" y="1679973"/>
                    <a:ext cx="36561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1628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6115EDD-5356-DF47-3721-040229515211}"/>
                      </a:ext>
                    </a:extLst>
                  </p:cNvPr>
                  <p:cNvSpPr txBox="1"/>
                  <p:nvPr/>
                </p:nvSpPr>
                <p:spPr>
                  <a:xfrm>
                    <a:off x="6448529" y="2623910"/>
                    <a:ext cx="4187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015A23EF-B586-40CF-B528-528684C522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8529" y="2623910"/>
                    <a:ext cx="41870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122" r="-30612" b="-581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1E7BEFC-8F3E-59E4-494D-D774A3865AAB}"/>
                  </a:ext>
                </a:extLst>
              </p:cNvPr>
              <p:cNvCxnSpPr/>
              <p:nvPr/>
            </p:nvCxnSpPr>
            <p:spPr>
              <a:xfrm flipV="1">
                <a:off x="5763016" y="1387762"/>
                <a:ext cx="166433" cy="4349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5F59DF4F-FDD5-E8C0-773C-FF2AB96F1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846232" y="1089509"/>
                    <a:ext cx="3642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9895BF88-B9C0-4E9E-8220-811ED6611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6232" y="1089509"/>
                    <a:ext cx="36420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6667" b="-302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B0DEDF01-DEBB-1EE6-B680-DEABA1154886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728" y="684019"/>
                    <a:ext cx="3695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E3DA8E67-BB84-42F0-9C8A-3C590656EE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728" y="684019"/>
                    <a:ext cx="36958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3953" b="-47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442F9D0-E46D-9CDE-C6C6-CB0AFD500DF6}"/>
                </a:ext>
              </a:extLst>
            </p:cNvPr>
            <p:cNvGrpSpPr/>
            <p:nvPr/>
          </p:nvGrpSpPr>
          <p:grpSpPr>
            <a:xfrm>
              <a:off x="10204302" y="3750499"/>
              <a:ext cx="1096194" cy="797225"/>
              <a:chOff x="10204301" y="3725841"/>
              <a:chExt cx="1330457" cy="1146342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0CF5B21-B2DB-9E8A-AA10-3ABE6988F6FE}"/>
                  </a:ext>
                </a:extLst>
              </p:cNvPr>
              <p:cNvSpPr/>
              <p:nvPr/>
            </p:nvSpPr>
            <p:spPr>
              <a:xfrm rot="4458677">
                <a:off x="10296359" y="3633783"/>
                <a:ext cx="1146342" cy="1330457"/>
              </a:xfrm>
              <a:custGeom>
                <a:avLst/>
                <a:gdLst>
                  <a:gd name="connsiteX0" fmla="*/ 543485 w 2015003"/>
                  <a:gd name="connsiteY0" fmla="*/ 57463 h 2116231"/>
                  <a:gd name="connsiteX1" fmla="*/ 1523199 w 2015003"/>
                  <a:gd name="connsiteY1" fmla="*/ 178761 h 2116231"/>
                  <a:gd name="connsiteX2" fmla="*/ 1560522 w 2015003"/>
                  <a:gd name="connsiteY2" fmla="*/ 943871 h 2116231"/>
                  <a:gd name="connsiteX3" fmla="*/ 1999060 w 2015003"/>
                  <a:gd name="connsiteY3" fmla="*/ 1643667 h 2116231"/>
                  <a:gd name="connsiteX4" fmla="*/ 916709 w 2015003"/>
                  <a:gd name="connsiteY4" fmla="*/ 2110198 h 2116231"/>
                  <a:gd name="connsiteX5" fmla="*/ 720766 w 2015003"/>
                  <a:gd name="connsiteY5" fmla="*/ 1317096 h 2116231"/>
                  <a:gd name="connsiteX6" fmla="*/ 2309 w 2015003"/>
                  <a:gd name="connsiteY6" fmla="*/ 934541 h 2116231"/>
                  <a:gd name="connsiteX7" fmla="*/ 543485 w 2015003"/>
                  <a:gd name="connsiteY7" fmla="*/ 57463 h 2116231"/>
                  <a:gd name="connsiteX0" fmla="*/ 543485 w 2014235"/>
                  <a:gd name="connsiteY0" fmla="*/ 57463 h 2119110"/>
                  <a:gd name="connsiteX1" fmla="*/ 1523199 w 2014235"/>
                  <a:gd name="connsiteY1" fmla="*/ 178761 h 2119110"/>
                  <a:gd name="connsiteX2" fmla="*/ 1560522 w 2014235"/>
                  <a:gd name="connsiteY2" fmla="*/ 943871 h 2119110"/>
                  <a:gd name="connsiteX3" fmla="*/ 1999060 w 2014235"/>
                  <a:gd name="connsiteY3" fmla="*/ 1643667 h 2119110"/>
                  <a:gd name="connsiteX4" fmla="*/ 916709 w 2014235"/>
                  <a:gd name="connsiteY4" fmla="*/ 2110198 h 2119110"/>
                  <a:gd name="connsiteX5" fmla="*/ 720766 w 2014235"/>
                  <a:gd name="connsiteY5" fmla="*/ 1317096 h 2119110"/>
                  <a:gd name="connsiteX6" fmla="*/ 2309 w 2014235"/>
                  <a:gd name="connsiteY6" fmla="*/ 934541 h 2119110"/>
                  <a:gd name="connsiteX7" fmla="*/ 543485 w 2014235"/>
                  <a:gd name="connsiteY7" fmla="*/ 57463 h 2119110"/>
                  <a:gd name="connsiteX0" fmla="*/ 543485 w 1980874"/>
                  <a:gd name="connsiteY0" fmla="*/ 57463 h 2128421"/>
                  <a:gd name="connsiteX1" fmla="*/ 1523199 w 1980874"/>
                  <a:gd name="connsiteY1" fmla="*/ 178761 h 2128421"/>
                  <a:gd name="connsiteX2" fmla="*/ 1560522 w 1980874"/>
                  <a:gd name="connsiteY2" fmla="*/ 943871 h 2128421"/>
                  <a:gd name="connsiteX3" fmla="*/ 1964847 w 1980874"/>
                  <a:gd name="connsiteY3" fmla="*/ 1730974 h 2128421"/>
                  <a:gd name="connsiteX4" fmla="*/ 916709 w 1980874"/>
                  <a:gd name="connsiteY4" fmla="*/ 2110198 h 2128421"/>
                  <a:gd name="connsiteX5" fmla="*/ 720766 w 1980874"/>
                  <a:gd name="connsiteY5" fmla="*/ 1317096 h 2128421"/>
                  <a:gd name="connsiteX6" fmla="*/ 2309 w 1980874"/>
                  <a:gd name="connsiteY6" fmla="*/ 934541 h 2128421"/>
                  <a:gd name="connsiteX7" fmla="*/ 543485 w 1980874"/>
                  <a:gd name="connsiteY7" fmla="*/ 57463 h 2128421"/>
                  <a:gd name="connsiteX0" fmla="*/ 543485 w 1975539"/>
                  <a:gd name="connsiteY0" fmla="*/ 57463 h 2163482"/>
                  <a:gd name="connsiteX1" fmla="*/ 1523199 w 1975539"/>
                  <a:gd name="connsiteY1" fmla="*/ 178761 h 2163482"/>
                  <a:gd name="connsiteX2" fmla="*/ 1560522 w 1975539"/>
                  <a:gd name="connsiteY2" fmla="*/ 943871 h 2163482"/>
                  <a:gd name="connsiteX3" fmla="*/ 1964847 w 1975539"/>
                  <a:gd name="connsiteY3" fmla="*/ 1730974 h 2163482"/>
                  <a:gd name="connsiteX4" fmla="*/ 1069419 w 1975539"/>
                  <a:gd name="connsiteY4" fmla="*/ 2153091 h 2163482"/>
                  <a:gd name="connsiteX5" fmla="*/ 720766 w 1975539"/>
                  <a:gd name="connsiteY5" fmla="*/ 1317096 h 2163482"/>
                  <a:gd name="connsiteX6" fmla="*/ 2309 w 1975539"/>
                  <a:gd name="connsiteY6" fmla="*/ 934541 h 2163482"/>
                  <a:gd name="connsiteX7" fmla="*/ 543485 w 1975539"/>
                  <a:gd name="connsiteY7" fmla="*/ 57463 h 2163482"/>
                  <a:gd name="connsiteX0" fmla="*/ 543485 w 1975539"/>
                  <a:gd name="connsiteY0" fmla="*/ 57463 h 2170997"/>
                  <a:gd name="connsiteX1" fmla="*/ 1523199 w 1975539"/>
                  <a:gd name="connsiteY1" fmla="*/ 178761 h 2170997"/>
                  <a:gd name="connsiteX2" fmla="*/ 1560522 w 1975539"/>
                  <a:gd name="connsiteY2" fmla="*/ 943871 h 2170997"/>
                  <a:gd name="connsiteX3" fmla="*/ 1964847 w 1975539"/>
                  <a:gd name="connsiteY3" fmla="*/ 1730974 h 2170997"/>
                  <a:gd name="connsiteX4" fmla="*/ 1069419 w 1975539"/>
                  <a:gd name="connsiteY4" fmla="*/ 2153091 h 2170997"/>
                  <a:gd name="connsiteX5" fmla="*/ 720766 w 1975539"/>
                  <a:gd name="connsiteY5" fmla="*/ 1317096 h 2170997"/>
                  <a:gd name="connsiteX6" fmla="*/ 2309 w 1975539"/>
                  <a:gd name="connsiteY6" fmla="*/ 934541 h 2170997"/>
                  <a:gd name="connsiteX7" fmla="*/ 543485 w 1975539"/>
                  <a:gd name="connsiteY7" fmla="*/ 57463 h 2170997"/>
                  <a:gd name="connsiteX0" fmla="*/ 543485 w 1986971"/>
                  <a:gd name="connsiteY0" fmla="*/ 57463 h 2188674"/>
                  <a:gd name="connsiteX1" fmla="*/ 1523199 w 1986971"/>
                  <a:gd name="connsiteY1" fmla="*/ 178761 h 2188674"/>
                  <a:gd name="connsiteX2" fmla="*/ 1560522 w 1986971"/>
                  <a:gd name="connsiteY2" fmla="*/ 943871 h 2188674"/>
                  <a:gd name="connsiteX3" fmla="*/ 1964847 w 1986971"/>
                  <a:gd name="connsiteY3" fmla="*/ 1730974 h 2188674"/>
                  <a:gd name="connsiteX4" fmla="*/ 1069419 w 1986971"/>
                  <a:gd name="connsiteY4" fmla="*/ 2153091 h 2188674"/>
                  <a:gd name="connsiteX5" fmla="*/ 720766 w 1986971"/>
                  <a:gd name="connsiteY5" fmla="*/ 1317096 h 2188674"/>
                  <a:gd name="connsiteX6" fmla="*/ 2309 w 1986971"/>
                  <a:gd name="connsiteY6" fmla="*/ 934541 h 2188674"/>
                  <a:gd name="connsiteX7" fmla="*/ 543485 w 1986971"/>
                  <a:gd name="connsiteY7" fmla="*/ 57463 h 2188674"/>
                  <a:gd name="connsiteX0" fmla="*/ 554169 w 1997655"/>
                  <a:gd name="connsiteY0" fmla="*/ 57463 h 2203770"/>
                  <a:gd name="connsiteX1" fmla="*/ 1533883 w 1997655"/>
                  <a:gd name="connsiteY1" fmla="*/ 178761 h 2203770"/>
                  <a:gd name="connsiteX2" fmla="*/ 1571206 w 1997655"/>
                  <a:gd name="connsiteY2" fmla="*/ 943871 h 2203770"/>
                  <a:gd name="connsiteX3" fmla="*/ 1975531 w 1997655"/>
                  <a:gd name="connsiteY3" fmla="*/ 1730974 h 2203770"/>
                  <a:gd name="connsiteX4" fmla="*/ 1080103 w 1997655"/>
                  <a:gd name="connsiteY4" fmla="*/ 2153091 h 2203770"/>
                  <a:gd name="connsiteX5" fmla="*/ 12993 w 1997655"/>
                  <a:gd name="connsiteY5" fmla="*/ 934541 h 2203770"/>
                  <a:gd name="connsiteX6" fmla="*/ 554169 w 1997655"/>
                  <a:gd name="connsiteY6" fmla="*/ 57463 h 2203770"/>
                  <a:gd name="connsiteX0" fmla="*/ 554169 w 1989255"/>
                  <a:gd name="connsiteY0" fmla="*/ 54327 h 2179975"/>
                  <a:gd name="connsiteX1" fmla="*/ 1533883 w 1989255"/>
                  <a:gd name="connsiteY1" fmla="*/ 175625 h 2179975"/>
                  <a:gd name="connsiteX2" fmla="*/ 1616926 w 1989255"/>
                  <a:gd name="connsiteY2" fmla="*/ 846968 h 2179975"/>
                  <a:gd name="connsiteX3" fmla="*/ 1975531 w 1989255"/>
                  <a:gd name="connsiteY3" fmla="*/ 1727838 h 2179975"/>
                  <a:gd name="connsiteX4" fmla="*/ 1080103 w 1989255"/>
                  <a:gd name="connsiteY4" fmla="*/ 2149955 h 2179975"/>
                  <a:gd name="connsiteX5" fmla="*/ 12993 w 1989255"/>
                  <a:gd name="connsiteY5" fmla="*/ 931405 h 2179975"/>
                  <a:gd name="connsiteX6" fmla="*/ 554169 w 1989255"/>
                  <a:gd name="connsiteY6" fmla="*/ 54327 h 2179975"/>
                  <a:gd name="connsiteX0" fmla="*/ 305977 w 1741063"/>
                  <a:gd name="connsiteY0" fmla="*/ 90459 h 2192681"/>
                  <a:gd name="connsiteX1" fmla="*/ 1285691 w 1741063"/>
                  <a:gd name="connsiteY1" fmla="*/ 211757 h 2192681"/>
                  <a:gd name="connsiteX2" fmla="*/ 1368734 w 1741063"/>
                  <a:gd name="connsiteY2" fmla="*/ 883100 h 2192681"/>
                  <a:gd name="connsiteX3" fmla="*/ 1727339 w 1741063"/>
                  <a:gd name="connsiteY3" fmla="*/ 1763970 h 2192681"/>
                  <a:gd name="connsiteX4" fmla="*/ 831911 w 1741063"/>
                  <a:gd name="connsiteY4" fmla="*/ 2186087 h 2192681"/>
                  <a:gd name="connsiteX5" fmla="*/ 24611 w 1741063"/>
                  <a:gd name="connsiteY5" fmla="*/ 1457254 h 2192681"/>
                  <a:gd name="connsiteX6" fmla="*/ 305977 w 1741063"/>
                  <a:gd name="connsiteY6" fmla="*/ 90459 h 2192681"/>
                  <a:gd name="connsiteX0" fmla="*/ 193443 w 1780632"/>
                  <a:gd name="connsiteY0" fmla="*/ 113292 h 2122552"/>
                  <a:gd name="connsiteX1" fmla="*/ 1325260 w 1780632"/>
                  <a:gd name="connsiteY1" fmla="*/ 141628 h 2122552"/>
                  <a:gd name="connsiteX2" fmla="*/ 1408303 w 1780632"/>
                  <a:gd name="connsiteY2" fmla="*/ 812971 h 2122552"/>
                  <a:gd name="connsiteX3" fmla="*/ 1766908 w 1780632"/>
                  <a:gd name="connsiteY3" fmla="*/ 1693841 h 2122552"/>
                  <a:gd name="connsiteX4" fmla="*/ 871480 w 1780632"/>
                  <a:gd name="connsiteY4" fmla="*/ 2115958 h 2122552"/>
                  <a:gd name="connsiteX5" fmla="*/ 64180 w 1780632"/>
                  <a:gd name="connsiteY5" fmla="*/ 1387125 h 2122552"/>
                  <a:gd name="connsiteX6" fmla="*/ 193443 w 1780632"/>
                  <a:gd name="connsiteY6" fmla="*/ 113292 h 2122552"/>
                  <a:gd name="connsiteX0" fmla="*/ 193443 w 1780632"/>
                  <a:gd name="connsiteY0" fmla="*/ 113292 h 2126761"/>
                  <a:gd name="connsiteX1" fmla="*/ 1325260 w 1780632"/>
                  <a:gd name="connsiteY1" fmla="*/ 141628 h 2126761"/>
                  <a:gd name="connsiteX2" fmla="*/ 1408303 w 1780632"/>
                  <a:gd name="connsiteY2" fmla="*/ 812971 h 2126761"/>
                  <a:gd name="connsiteX3" fmla="*/ 1766908 w 1780632"/>
                  <a:gd name="connsiteY3" fmla="*/ 1693841 h 2126761"/>
                  <a:gd name="connsiteX4" fmla="*/ 871480 w 1780632"/>
                  <a:gd name="connsiteY4" fmla="*/ 2115958 h 2126761"/>
                  <a:gd name="connsiteX5" fmla="*/ 64180 w 1780632"/>
                  <a:gd name="connsiteY5" fmla="*/ 1387125 h 2126761"/>
                  <a:gd name="connsiteX6" fmla="*/ 193443 w 1780632"/>
                  <a:gd name="connsiteY6" fmla="*/ 113292 h 21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0632" h="2126761">
                    <a:moveTo>
                      <a:pt x="193443" y="113292"/>
                    </a:moveTo>
                    <a:cubicBezTo>
                      <a:pt x="403623" y="-94291"/>
                      <a:pt x="1122783" y="25015"/>
                      <a:pt x="1325260" y="141628"/>
                    </a:cubicBezTo>
                    <a:cubicBezTo>
                      <a:pt x="1527737" y="258241"/>
                      <a:pt x="1334695" y="554269"/>
                      <a:pt x="1408303" y="812971"/>
                    </a:cubicBezTo>
                    <a:cubicBezTo>
                      <a:pt x="1481911" y="1071673"/>
                      <a:pt x="1856378" y="1476677"/>
                      <a:pt x="1766908" y="1693841"/>
                    </a:cubicBezTo>
                    <a:cubicBezTo>
                      <a:pt x="1677438" y="1911005"/>
                      <a:pt x="1218149" y="2184739"/>
                      <a:pt x="871480" y="2115958"/>
                    </a:cubicBezTo>
                    <a:cubicBezTo>
                      <a:pt x="524811" y="2047177"/>
                      <a:pt x="177186" y="1720903"/>
                      <a:pt x="64180" y="1387125"/>
                    </a:cubicBezTo>
                    <a:cubicBezTo>
                      <a:pt x="-48826" y="1053347"/>
                      <a:pt x="-16737" y="320875"/>
                      <a:pt x="193443" y="113292"/>
                    </a:cubicBezTo>
                    <a:close/>
                  </a:path>
                </a:pathLst>
              </a:cu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169C78D-F698-9341-FE89-77E9CE88F72E}"/>
                  </a:ext>
                </a:extLst>
              </p:cNvPr>
              <p:cNvSpPr/>
              <p:nvPr/>
            </p:nvSpPr>
            <p:spPr>
              <a:xfrm>
                <a:off x="10286879" y="3818850"/>
                <a:ext cx="1160665" cy="904703"/>
              </a:xfrm>
              <a:custGeom>
                <a:avLst/>
                <a:gdLst>
                  <a:gd name="connsiteX0" fmla="*/ 57178 w 1829995"/>
                  <a:gd name="connsiteY0" fmla="*/ 1404604 h 1404604"/>
                  <a:gd name="connsiteX1" fmla="*/ 85170 w 1829995"/>
                  <a:gd name="connsiteY1" fmla="*/ 882089 h 1404604"/>
                  <a:gd name="connsiteX2" fmla="*/ 868942 w 1829995"/>
                  <a:gd name="connsiteY2" fmla="*/ 79657 h 1404604"/>
                  <a:gd name="connsiteX3" fmla="*/ 1829995 w 1829995"/>
                  <a:gd name="connsiteY3" fmla="*/ 79657 h 1404604"/>
                  <a:gd name="connsiteX0" fmla="*/ 57178 w 1829995"/>
                  <a:gd name="connsiteY0" fmla="*/ 1435711 h 1435711"/>
                  <a:gd name="connsiteX1" fmla="*/ 85170 w 1829995"/>
                  <a:gd name="connsiteY1" fmla="*/ 913196 h 1435711"/>
                  <a:gd name="connsiteX2" fmla="*/ 868942 w 1829995"/>
                  <a:gd name="connsiteY2" fmla="*/ 110764 h 1435711"/>
                  <a:gd name="connsiteX3" fmla="*/ 1829995 w 1829995"/>
                  <a:gd name="connsiteY3" fmla="*/ 110764 h 1435711"/>
                  <a:gd name="connsiteX0" fmla="*/ 57178 w 1829995"/>
                  <a:gd name="connsiteY0" fmla="*/ 1416085 h 1416085"/>
                  <a:gd name="connsiteX1" fmla="*/ 85170 w 1829995"/>
                  <a:gd name="connsiteY1" fmla="*/ 893570 h 1416085"/>
                  <a:gd name="connsiteX2" fmla="*/ 868942 w 1829995"/>
                  <a:gd name="connsiteY2" fmla="*/ 91138 h 1416085"/>
                  <a:gd name="connsiteX3" fmla="*/ 1829995 w 1829995"/>
                  <a:gd name="connsiteY3" fmla="*/ 131778 h 1416085"/>
                  <a:gd name="connsiteX0" fmla="*/ 75158 w 1847975"/>
                  <a:gd name="connsiteY0" fmla="*/ 1416085 h 1416085"/>
                  <a:gd name="connsiteX1" fmla="*/ 103150 w 1847975"/>
                  <a:gd name="connsiteY1" fmla="*/ 893570 h 1416085"/>
                  <a:gd name="connsiteX2" fmla="*/ 886922 w 1847975"/>
                  <a:gd name="connsiteY2" fmla="*/ 91138 h 1416085"/>
                  <a:gd name="connsiteX3" fmla="*/ 1847975 w 1847975"/>
                  <a:gd name="connsiteY3" fmla="*/ 131778 h 1416085"/>
                  <a:gd name="connsiteX0" fmla="*/ 71180 w 1854157"/>
                  <a:gd name="connsiteY0" fmla="*/ 1411005 h 1411005"/>
                  <a:gd name="connsiteX1" fmla="*/ 109332 w 1854157"/>
                  <a:gd name="connsiteY1" fmla="*/ 893570 h 1411005"/>
                  <a:gd name="connsiteX2" fmla="*/ 893104 w 1854157"/>
                  <a:gd name="connsiteY2" fmla="*/ 91138 h 1411005"/>
                  <a:gd name="connsiteX3" fmla="*/ 1854157 w 1854157"/>
                  <a:gd name="connsiteY3" fmla="*/ 131778 h 1411005"/>
                  <a:gd name="connsiteX0" fmla="*/ 70463 w 1855345"/>
                  <a:gd name="connsiteY0" fmla="*/ 1405290 h 1405290"/>
                  <a:gd name="connsiteX1" fmla="*/ 110520 w 1855345"/>
                  <a:gd name="connsiteY1" fmla="*/ 893570 h 1405290"/>
                  <a:gd name="connsiteX2" fmla="*/ 894292 w 1855345"/>
                  <a:gd name="connsiteY2" fmla="*/ 91138 h 1405290"/>
                  <a:gd name="connsiteX3" fmla="*/ 1855345 w 1855345"/>
                  <a:gd name="connsiteY3" fmla="*/ 131778 h 1405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5345" h="1405290">
                    <a:moveTo>
                      <a:pt x="70463" y="1405290"/>
                    </a:moveTo>
                    <a:cubicBezTo>
                      <a:pt x="-31448" y="1254444"/>
                      <a:pt x="-26785" y="1112595"/>
                      <a:pt x="110520" y="893570"/>
                    </a:cubicBezTo>
                    <a:cubicBezTo>
                      <a:pt x="247825" y="674545"/>
                      <a:pt x="603488" y="224877"/>
                      <a:pt x="894292" y="91138"/>
                    </a:cubicBezTo>
                    <a:cubicBezTo>
                      <a:pt x="1185096" y="-42601"/>
                      <a:pt x="1796821" y="-29227"/>
                      <a:pt x="1855345" y="131778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5EB64FE-14C0-327C-B77D-5A96CE687094}"/>
                  </a:ext>
                </a:extLst>
              </p:cNvPr>
              <p:cNvSpPr/>
              <p:nvPr/>
            </p:nvSpPr>
            <p:spPr>
              <a:xfrm>
                <a:off x="10342204" y="3910829"/>
                <a:ext cx="1126233" cy="875590"/>
              </a:xfrm>
              <a:custGeom>
                <a:avLst/>
                <a:gdLst>
                  <a:gd name="connsiteX0" fmla="*/ 1782147 w 1782147"/>
                  <a:gd name="connsiteY0" fmla="*/ 0 h 1335438"/>
                  <a:gd name="connsiteX1" fmla="*/ 1642188 w 1782147"/>
                  <a:gd name="connsiteY1" fmla="*/ 587828 h 1335438"/>
                  <a:gd name="connsiteX2" fmla="*/ 1035698 w 1782147"/>
                  <a:gd name="connsiteY2" fmla="*/ 746449 h 1335438"/>
                  <a:gd name="connsiteX3" fmla="*/ 597159 w 1782147"/>
                  <a:gd name="connsiteY3" fmla="*/ 1231641 h 1335438"/>
                  <a:gd name="connsiteX4" fmla="*/ 0 w 1782147"/>
                  <a:gd name="connsiteY4" fmla="*/ 1278294 h 1335438"/>
                  <a:gd name="connsiteX0" fmla="*/ 1766907 w 1766907"/>
                  <a:gd name="connsiteY0" fmla="*/ 0 h 1342602"/>
                  <a:gd name="connsiteX1" fmla="*/ 1626948 w 1766907"/>
                  <a:gd name="connsiteY1" fmla="*/ 587828 h 1342602"/>
                  <a:gd name="connsiteX2" fmla="*/ 1020458 w 1766907"/>
                  <a:gd name="connsiteY2" fmla="*/ 746449 h 1342602"/>
                  <a:gd name="connsiteX3" fmla="*/ 581919 w 1766907"/>
                  <a:gd name="connsiteY3" fmla="*/ 1231641 h 1342602"/>
                  <a:gd name="connsiteX4" fmla="*/ 0 w 1766907"/>
                  <a:gd name="connsiteY4" fmla="*/ 1288454 h 1342602"/>
                  <a:gd name="connsiteX0" fmla="*/ 1766907 w 1766907"/>
                  <a:gd name="connsiteY0" fmla="*/ 0 h 1362894"/>
                  <a:gd name="connsiteX1" fmla="*/ 1626948 w 1766907"/>
                  <a:gd name="connsiteY1" fmla="*/ 587828 h 1362894"/>
                  <a:gd name="connsiteX2" fmla="*/ 1020458 w 1766907"/>
                  <a:gd name="connsiteY2" fmla="*/ 746449 h 1362894"/>
                  <a:gd name="connsiteX3" fmla="*/ 581919 w 1766907"/>
                  <a:gd name="connsiteY3" fmla="*/ 1231641 h 1362894"/>
                  <a:gd name="connsiteX4" fmla="*/ 0 w 1766907"/>
                  <a:gd name="connsiteY4" fmla="*/ 1288454 h 1362894"/>
                  <a:gd name="connsiteX0" fmla="*/ 1766907 w 1766907"/>
                  <a:gd name="connsiteY0" fmla="*/ 0 h 1365149"/>
                  <a:gd name="connsiteX1" fmla="*/ 1626948 w 1766907"/>
                  <a:gd name="connsiteY1" fmla="*/ 587828 h 1365149"/>
                  <a:gd name="connsiteX2" fmla="*/ 1020458 w 1766907"/>
                  <a:gd name="connsiteY2" fmla="*/ 746449 h 1365149"/>
                  <a:gd name="connsiteX3" fmla="*/ 581919 w 1766907"/>
                  <a:gd name="connsiteY3" fmla="*/ 1231641 h 1365149"/>
                  <a:gd name="connsiteX4" fmla="*/ 0 w 1766907"/>
                  <a:gd name="connsiteY4" fmla="*/ 1288454 h 1365149"/>
                  <a:gd name="connsiteX0" fmla="*/ 1766907 w 1766907"/>
                  <a:gd name="connsiteY0" fmla="*/ 0 h 1365149"/>
                  <a:gd name="connsiteX1" fmla="*/ 1626948 w 1766907"/>
                  <a:gd name="connsiteY1" fmla="*/ 587828 h 1365149"/>
                  <a:gd name="connsiteX2" fmla="*/ 1020458 w 1766907"/>
                  <a:gd name="connsiteY2" fmla="*/ 746449 h 1365149"/>
                  <a:gd name="connsiteX3" fmla="*/ 642879 w 1766907"/>
                  <a:gd name="connsiteY3" fmla="*/ 1231641 h 1365149"/>
                  <a:gd name="connsiteX4" fmla="*/ 0 w 1766907"/>
                  <a:gd name="connsiteY4" fmla="*/ 1288454 h 1365149"/>
                  <a:gd name="connsiteX0" fmla="*/ 1787227 w 1787227"/>
                  <a:gd name="connsiteY0" fmla="*/ 0 h 1362609"/>
                  <a:gd name="connsiteX1" fmla="*/ 1626948 w 1787227"/>
                  <a:gd name="connsiteY1" fmla="*/ 585288 h 1362609"/>
                  <a:gd name="connsiteX2" fmla="*/ 1020458 w 1787227"/>
                  <a:gd name="connsiteY2" fmla="*/ 743909 h 1362609"/>
                  <a:gd name="connsiteX3" fmla="*/ 642879 w 1787227"/>
                  <a:gd name="connsiteY3" fmla="*/ 1229101 h 1362609"/>
                  <a:gd name="connsiteX4" fmla="*/ 0 w 1787227"/>
                  <a:gd name="connsiteY4" fmla="*/ 1285914 h 1362609"/>
                  <a:gd name="connsiteX0" fmla="*/ 1787227 w 1809320"/>
                  <a:gd name="connsiteY0" fmla="*/ 0 h 1362609"/>
                  <a:gd name="connsiteX1" fmla="*/ 1626948 w 1809320"/>
                  <a:gd name="connsiteY1" fmla="*/ 585288 h 1362609"/>
                  <a:gd name="connsiteX2" fmla="*/ 1020458 w 1809320"/>
                  <a:gd name="connsiteY2" fmla="*/ 743909 h 1362609"/>
                  <a:gd name="connsiteX3" fmla="*/ 642879 w 1809320"/>
                  <a:gd name="connsiteY3" fmla="*/ 1229101 h 1362609"/>
                  <a:gd name="connsiteX4" fmla="*/ 0 w 1809320"/>
                  <a:gd name="connsiteY4" fmla="*/ 1285914 h 1362609"/>
                  <a:gd name="connsiteX0" fmla="*/ 1777067 w 1800305"/>
                  <a:gd name="connsiteY0" fmla="*/ 0 h 1360069"/>
                  <a:gd name="connsiteX1" fmla="*/ 1626948 w 1800305"/>
                  <a:gd name="connsiteY1" fmla="*/ 582748 h 1360069"/>
                  <a:gd name="connsiteX2" fmla="*/ 1020458 w 1800305"/>
                  <a:gd name="connsiteY2" fmla="*/ 741369 h 1360069"/>
                  <a:gd name="connsiteX3" fmla="*/ 642879 w 1800305"/>
                  <a:gd name="connsiteY3" fmla="*/ 1226561 h 1360069"/>
                  <a:gd name="connsiteX4" fmla="*/ 0 w 1800305"/>
                  <a:gd name="connsiteY4" fmla="*/ 1283374 h 136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305" h="1360069">
                    <a:moveTo>
                      <a:pt x="1777067" y="0"/>
                    </a:moveTo>
                    <a:cubicBezTo>
                      <a:pt x="1845491" y="236790"/>
                      <a:pt x="1753050" y="459186"/>
                      <a:pt x="1626948" y="582748"/>
                    </a:cubicBezTo>
                    <a:cubicBezTo>
                      <a:pt x="1500846" y="706310"/>
                      <a:pt x="1184470" y="634067"/>
                      <a:pt x="1020458" y="741369"/>
                    </a:cubicBezTo>
                    <a:cubicBezTo>
                      <a:pt x="856446" y="848671"/>
                      <a:pt x="815495" y="1137920"/>
                      <a:pt x="642879" y="1226561"/>
                    </a:cubicBezTo>
                    <a:cubicBezTo>
                      <a:pt x="470263" y="1315202"/>
                      <a:pt x="152918" y="1444586"/>
                      <a:pt x="0" y="128337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DCB1D70-262D-529F-762D-B814F1961098}"/>
                  </a:ext>
                </a:extLst>
              </p:cNvPr>
              <p:cNvSpPr txBox="1"/>
              <p:nvPr/>
            </p:nvSpPr>
            <p:spPr>
              <a:xfrm>
                <a:off x="658105" y="1171823"/>
                <a:ext cx="1600695" cy="57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DCB1D70-262D-529F-762D-B814F196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05" y="1171823"/>
                <a:ext cx="1600695" cy="578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4CC92D-2410-2AB2-3DAF-0C7A734675AF}"/>
                  </a:ext>
                </a:extLst>
              </p:cNvPr>
              <p:cNvSpPr txBox="1"/>
              <p:nvPr/>
            </p:nvSpPr>
            <p:spPr>
              <a:xfrm>
                <a:off x="3389121" y="1181977"/>
                <a:ext cx="2037609" cy="58201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4CC92D-2410-2AB2-3DAF-0C7A73467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21" y="1181977"/>
                <a:ext cx="2037609" cy="58201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5E8687B3-009D-B36E-A5F8-ED1A7B96452E}"/>
              </a:ext>
            </a:extLst>
          </p:cNvPr>
          <p:cNvSpPr txBox="1"/>
          <p:nvPr/>
        </p:nvSpPr>
        <p:spPr>
          <a:xfrm>
            <a:off x="400010" y="1737555"/>
            <a:ext cx="2811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state is “lost” or “created” as time evolves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2BE8D6-1184-1ECC-959C-B6C60F8DC5DC}"/>
              </a:ext>
            </a:extLst>
          </p:cNvPr>
          <p:cNvSpPr txBox="1"/>
          <p:nvPr/>
        </p:nvSpPr>
        <p:spPr>
          <a:xfrm>
            <a:off x="3269725" y="1774598"/>
            <a:ext cx="3126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(Minus sign to recover Ham eq)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9103C69-0175-AC6D-3FCB-5ED7085B7AF9}"/>
                  </a:ext>
                </a:extLst>
              </p:cNvPr>
              <p:cNvSpPr txBox="1"/>
              <p:nvPr/>
            </p:nvSpPr>
            <p:spPr>
              <a:xfrm>
                <a:off x="655695" y="5598703"/>
                <a:ext cx="79238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Variation of the action measures the flow of states (physical).  Variation = 0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flow of states tangent to the path.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9103C69-0175-AC6D-3FCB-5ED7085B7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95" y="5598703"/>
                <a:ext cx="7923890" cy="830997"/>
              </a:xfrm>
              <a:prstGeom prst="rect">
                <a:avLst/>
              </a:prstGeom>
              <a:blipFill>
                <a:blip r:embed="rId13"/>
                <a:stretch>
                  <a:fillRect t="-5839" r="-161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53F46-2123-1EB9-599C-3EE41770C73F}"/>
              </a:ext>
            </a:extLst>
          </p:cNvPr>
          <p:cNvCxnSpPr/>
          <p:nvPr/>
        </p:nvCxnSpPr>
        <p:spPr>
          <a:xfrm>
            <a:off x="941033" y="861134"/>
            <a:ext cx="159798" cy="32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4824AE-7318-20A3-81B5-1B182F67022A}"/>
              </a:ext>
            </a:extLst>
          </p:cNvPr>
          <p:cNvSpPr txBox="1"/>
          <p:nvPr/>
        </p:nvSpPr>
        <p:spPr>
          <a:xfrm>
            <a:off x="645786" y="56149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09A9D8-0457-B65C-1D1F-951CAF4130B4}"/>
              </a:ext>
            </a:extLst>
          </p:cNvPr>
          <p:cNvCxnSpPr>
            <a:cxnSpLocks/>
          </p:cNvCxnSpPr>
          <p:nvPr/>
        </p:nvCxnSpPr>
        <p:spPr>
          <a:xfrm flipH="1">
            <a:off x="9037468" y="1090853"/>
            <a:ext cx="271386" cy="208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11ECEE-0F64-E313-BE68-E8A47D1ED4CB}"/>
              </a:ext>
            </a:extLst>
          </p:cNvPr>
          <p:cNvSpPr txBox="1"/>
          <p:nvPr/>
        </p:nvSpPr>
        <p:spPr>
          <a:xfrm>
            <a:off x="9308854" y="75663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84CFF-C5D6-8115-EE07-128E78434608}"/>
              </a:ext>
            </a:extLst>
          </p:cNvPr>
          <p:cNvSpPr txBox="1"/>
          <p:nvPr/>
        </p:nvSpPr>
        <p:spPr>
          <a:xfrm>
            <a:off x="9369322" y="1853037"/>
            <a:ext cx="24857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i="1" dirty="0"/>
              <a:t>Sci Rep</a:t>
            </a:r>
            <a:r>
              <a:rPr lang="en-US" dirty="0"/>
              <a:t> </a:t>
            </a:r>
            <a:r>
              <a:rPr lang="en-US" b="1" dirty="0"/>
              <a:t>13</a:t>
            </a:r>
            <a:r>
              <a:rPr lang="en-US" dirty="0"/>
              <a:t>, 12138 (2023)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8FD656-7F20-C065-5636-B21CD0F63A65}"/>
                  </a:ext>
                </a:extLst>
              </p:cNvPr>
              <p:cNvSpPr txBox="1"/>
              <p:nvPr/>
            </p:nvSpPr>
            <p:spPr>
              <a:xfrm>
                <a:off x="5207473" y="843455"/>
                <a:ext cx="17217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,0,−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8FD656-7F20-C065-5636-B21CD0F63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473" y="843455"/>
                <a:ext cx="1721753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69E213-B74F-520A-9979-6C8EF39D44C9}"/>
              </a:ext>
            </a:extLst>
          </p:cNvPr>
          <p:cNvCxnSpPr>
            <a:cxnSpLocks/>
          </p:cNvCxnSpPr>
          <p:nvPr/>
        </p:nvCxnSpPr>
        <p:spPr>
          <a:xfrm flipH="1">
            <a:off x="5384132" y="1188811"/>
            <a:ext cx="284398" cy="200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73FD37-904E-4D5E-C16D-FE537032B55C}"/>
                  </a:ext>
                </a:extLst>
              </p:cNvPr>
              <p:cNvSpPr txBox="1"/>
              <p:nvPr/>
            </p:nvSpPr>
            <p:spPr>
              <a:xfrm>
                <a:off x="10232690" y="671667"/>
                <a:ext cx="1758045" cy="44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+0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𝑑𝑝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73FD37-904E-4D5E-C16D-FE537032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690" y="671667"/>
                <a:ext cx="1758045" cy="4469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7DA2A2-BA1B-0449-9462-02F89A7FF671}"/>
              </a:ext>
            </a:extLst>
          </p:cNvPr>
          <p:cNvCxnSpPr>
            <a:cxnSpLocks/>
          </p:cNvCxnSpPr>
          <p:nvPr/>
        </p:nvCxnSpPr>
        <p:spPr>
          <a:xfrm flipH="1">
            <a:off x="9997342" y="1116170"/>
            <a:ext cx="294814" cy="226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4B0533-ED32-3406-C981-6FA622581160}"/>
              </a:ext>
            </a:extLst>
          </p:cNvPr>
          <p:cNvSpPr txBox="1"/>
          <p:nvPr/>
        </p:nvSpPr>
        <p:spPr>
          <a:xfrm>
            <a:off x="6751435" y="2198783"/>
            <a:ext cx="117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unphysical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F76BE0E-6469-9D12-38FC-B11C475A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1276363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18D8C-A311-21FD-C397-E504CCE1A1CF}"/>
              </a:ext>
            </a:extLst>
          </p:cNvPr>
          <p:cNvSpPr txBox="1"/>
          <p:nvPr/>
        </p:nvSpPr>
        <p:spPr>
          <a:xfrm>
            <a:off x="1044586" y="1036431"/>
            <a:ext cx="101028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Is the uncertainty principle really</a:t>
            </a:r>
            <a:br>
              <a:rPr lang="en-US" sz="4800" dirty="0"/>
            </a:br>
            <a:r>
              <a:rPr lang="en-US" sz="4800" dirty="0"/>
              <a:t>a feature of quantum mechanics alone?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C0446-EDA9-AC3D-222F-98775506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90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1621-E7FA-C39F-C7E1-C7D7C20B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1B1F31-297F-1F7F-EB59-8F6BBF20A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2" y="951962"/>
            <a:ext cx="6096000" cy="21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AFBE2-7197-2B8D-F1E9-1623F2577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0" y="1155779"/>
            <a:ext cx="6096000" cy="21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D710CF-1FF0-88D8-7C59-76C1641D4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6" y="1576432"/>
            <a:ext cx="6096018" cy="173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5F6415-FB0E-E95D-8CF7-F11B0E813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34" y="1373071"/>
            <a:ext cx="6096016" cy="187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75EBAD-FBB2-8FA3-9879-DF2F5CC78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12898"/>
            <a:ext cx="6096000" cy="206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C9B22-9854-199E-2063-C2FA7BC79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152" y="3633037"/>
            <a:ext cx="6096000" cy="169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8B358D-2441-0405-0D8A-DDB6D4FF75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536" y="3826166"/>
            <a:ext cx="6096000" cy="20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C70302-2B72-639C-1CE6-EA32B8552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" y="2023592"/>
            <a:ext cx="6096000" cy="1761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DFB813-1429-E7A1-300E-DF0EF63CEE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" y="2216588"/>
            <a:ext cx="6096000" cy="1838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3FD831-70D6-1B7E-D796-63087B3D1B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03" y="2412288"/>
            <a:ext cx="6096000" cy="1909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7E91392-60E5-09E7-5B6C-C859F72A21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" y="2605207"/>
            <a:ext cx="6096000" cy="2067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0B9F50A-8B27-412D-3C5B-D221EAF9E2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44" y="938676"/>
            <a:ext cx="5382768" cy="10997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AC7611-8ED8-BC94-5D50-C5D3ECCDC4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5440" y="5100847"/>
            <a:ext cx="3172268" cy="5620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FF997D1-41F3-F4BE-223F-74372A6706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2488" y="4802210"/>
            <a:ext cx="2381582" cy="12098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2A8D59-4869-AEF2-A8B6-422966FA041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144" y="228449"/>
            <a:ext cx="5636790" cy="5614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A8ABE6-DA88-1B93-0235-4D93AEDFFF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3068" y="228449"/>
            <a:ext cx="5636790" cy="555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20708E9-49F1-B46C-9C1C-2B6A1F151548}"/>
                  </a:ext>
                </a:extLst>
              </p:cNvPr>
              <p:cNvSpPr txBox="1"/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4F7DF-2CB7-7583-2D41-475131E7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C56F9E-ABF9-DD7B-3507-979FE7D196B1}"/>
                  </a:ext>
                </a:extLst>
              </p:cNvPr>
              <p:cNvSpPr txBox="1"/>
              <p:nvPr/>
            </p:nvSpPr>
            <p:spPr>
              <a:xfrm rot="7029569">
                <a:off x="6529121" y="2877223"/>
                <a:ext cx="633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6210A6-1BE6-0B5F-E325-240DCE76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029569">
                <a:off x="6529121" y="2877223"/>
                <a:ext cx="633507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461752-B97E-2499-5E30-86246C2AA648}"/>
                  </a:ext>
                </a:extLst>
              </p:cNvPr>
              <p:cNvSpPr txBox="1"/>
              <p:nvPr/>
            </p:nvSpPr>
            <p:spPr>
              <a:xfrm rot="3547819">
                <a:off x="4488068" y="2853120"/>
                <a:ext cx="633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FF3605-DCFB-B1AF-2CBE-BC7DE9BC4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47819">
                <a:off x="4488068" y="2853120"/>
                <a:ext cx="633507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7E3D802-140A-D493-BFAE-8EC0144A3B72}"/>
              </a:ext>
            </a:extLst>
          </p:cNvPr>
          <p:cNvSpPr/>
          <p:nvPr/>
        </p:nvSpPr>
        <p:spPr>
          <a:xfrm>
            <a:off x="372979" y="2603247"/>
            <a:ext cx="5855074" cy="2243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71F84-1F3D-CE37-8524-86C19617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9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6762DC-9308-9079-EFDC-4E9442B7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D2BB4-2A8D-2D48-27FE-1DD576B0F4ED}"/>
              </a:ext>
            </a:extLst>
          </p:cNvPr>
          <p:cNvSpPr txBox="1"/>
          <p:nvPr/>
        </p:nvSpPr>
        <p:spPr>
          <a:xfrm>
            <a:off x="430876" y="176984"/>
            <a:ext cx="5951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Determinant of covariance matrix: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5DC5F7-8826-1C71-23F2-E68D0789DB34}"/>
                  </a:ext>
                </a:extLst>
              </p:cNvPr>
              <p:cNvSpPr txBox="1"/>
              <p:nvPr/>
            </p:nvSpPr>
            <p:spPr>
              <a:xfrm>
                <a:off x="46233" y="936545"/>
                <a:ext cx="10162013" cy="1243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𝑐𝑜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𝑐𝑜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𝑐𝑜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5DC5F7-8826-1C71-23F2-E68D0789D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3" y="936545"/>
                <a:ext cx="10162013" cy="1243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7F79C-FA13-E6A6-A8B1-AADAE9534C9D}"/>
                  </a:ext>
                </a:extLst>
              </p:cNvPr>
              <p:cNvSpPr txBox="1"/>
              <p:nvPr/>
            </p:nvSpPr>
            <p:spPr>
              <a:xfrm>
                <a:off x="643346" y="2142545"/>
                <a:ext cx="391068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Peaked distribution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flow is almost linear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covariance matrix transforms linearly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7F79C-FA13-E6A6-A8B1-AADAE9534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46" y="2142545"/>
                <a:ext cx="3910686" cy="923330"/>
              </a:xfrm>
              <a:prstGeom prst="rect">
                <a:avLst/>
              </a:prstGeom>
              <a:blipFill>
                <a:blip r:embed="rId4"/>
                <a:stretch>
                  <a:fillRect l="-1404" t="-3289" r="-780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20">
            <a:extLst>
              <a:ext uri="{FF2B5EF4-FFF2-40B4-BE49-F238E27FC236}">
                <a16:creationId xmlns:a16="http://schemas.microsoft.com/office/drawing/2014/main" id="{B7C30A59-DF56-C246-0FA6-DFCD3DE51467}"/>
              </a:ext>
            </a:extLst>
          </p:cNvPr>
          <p:cNvSpPr txBox="1"/>
          <p:nvPr/>
        </p:nvSpPr>
        <p:spPr>
          <a:xfrm>
            <a:off x="8697278" y="16277"/>
            <a:ext cx="3120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evolution of </a:t>
            </a:r>
            <a:r>
              <a:rPr lang="en-US" sz="1800" dirty="0"/>
              <a:t>covariance matrix</a:t>
            </a:r>
            <a:endParaRPr lang="en-US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6F8BA37-E6B9-B8AF-5162-33711320471D}"/>
              </a:ext>
            </a:extLst>
          </p:cNvPr>
          <p:cNvGrpSpPr/>
          <p:nvPr/>
        </p:nvGrpSpPr>
        <p:grpSpPr>
          <a:xfrm>
            <a:off x="10150503" y="1059636"/>
            <a:ext cx="411480" cy="731520"/>
            <a:chOff x="10173204" y="1059636"/>
            <a:chExt cx="365760" cy="914400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164AA74-7CB0-277F-F71B-803F62CB8608}"/>
                </a:ext>
              </a:extLst>
            </p:cNvPr>
            <p:cNvSpPr>
              <a:spLocks/>
            </p:cNvSpPr>
            <p:nvPr/>
          </p:nvSpPr>
          <p:spPr>
            <a:xfrm rot="5400000">
              <a:off x="9898884" y="1333956"/>
              <a:ext cx="914400" cy="365760"/>
            </a:xfrm>
            <a:prstGeom prst="ellipse">
              <a:avLst/>
            </a:prstGeom>
            <a:noFill/>
            <a:ln w="19050">
              <a:solidFill>
                <a:schemeClr val="accent4"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0FE3621-3D6F-D64A-6B26-C2F4080C81A0}"/>
                </a:ext>
              </a:extLst>
            </p:cNvPr>
            <p:cNvCxnSpPr>
              <a:stCxn id="128" idx="2"/>
              <a:endCxn id="128" idx="6"/>
            </p:cNvCxnSpPr>
            <p:nvPr/>
          </p:nvCxnSpPr>
          <p:spPr>
            <a:xfrm>
              <a:off x="10356084" y="1059636"/>
              <a:ext cx="0" cy="914400"/>
            </a:xfrm>
            <a:prstGeom prst="line">
              <a:avLst/>
            </a:prstGeom>
            <a:ln w="12700">
              <a:solidFill>
                <a:schemeClr val="accent4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0AE5E7A-DD2E-F908-1B29-B6CC08050F9C}"/>
                </a:ext>
              </a:extLst>
            </p:cNvPr>
            <p:cNvCxnSpPr>
              <a:stCxn id="128" idx="4"/>
              <a:endCxn id="128" idx="0"/>
            </p:cNvCxnSpPr>
            <p:nvPr/>
          </p:nvCxnSpPr>
          <p:spPr>
            <a:xfrm>
              <a:off x="10173204" y="1516836"/>
              <a:ext cx="365760" cy="0"/>
            </a:xfrm>
            <a:prstGeom prst="line">
              <a:avLst/>
            </a:prstGeom>
            <a:ln w="12700">
              <a:solidFill>
                <a:schemeClr val="accent4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CE787A1-DEB2-08C0-2B3A-CA434DEEC850}"/>
              </a:ext>
            </a:extLst>
          </p:cNvPr>
          <p:cNvGrpSpPr/>
          <p:nvPr/>
        </p:nvGrpSpPr>
        <p:grpSpPr>
          <a:xfrm rot="1800000">
            <a:off x="10607460" y="1053034"/>
            <a:ext cx="358872" cy="867191"/>
            <a:chOff x="10173204" y="1059636"/>
            <a:chExt cx="365760" cy="914400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99D6C57-2135-2F19-8B10-2DDCD498085F}"/>
                </a:ext>
              </a:extLst>
            </p:cNvPr>
            <p:cNvSpPr>
              <a:spLocks/>
            </p:cNvSpPr>
            <p:nvPr/>
          </p:nvSpPr>
          <p:spPr>
            <a:xfrm rot="5400000">
              <a:off x="9898884" y="1333956"/>
              <a:ext cx="914400" cy="365760"/>
            </a:xfrm>
            <a:prstGeom prst="ellipse">
              <a:avLst/>
            </a:prstGeom>
            <a:noFill/>
            <a:ln w="1905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D87B458-2E27-645A-8493-1F4118B6F3E2}"/>
                </a:ext>
              </a:extLst>
            </p:cNvPr>
            <p:cNvCxnSpPr>
              <a:stCxn id="139" idx="2"/>
              <a:endCxn id="139" idx="6"/>
            </p:cNvCxnSpPr>
            <p:nvPr/>
          </p:nvCxnSpPr>
          <p:spPr>
            <a:xfrm>
              <a:off x="10356084" y="1059636"/>
              <a:ext cx="0" cy="914400"/>
            </a:xfrm>
            <a:prstGeom prst="line">
              <a:avLst/>
            </a:prstGeom>
            <a:ln w="12700">
              <a:solidFill>
                <a:schemeClr val="accent4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BBE7AF3-2834-3B89-C854-5F9446BAE9FD}"/>
                </a:ext>
              </a:extLst>
            </p:cNvPr>
            <p:cNvCxnSpPr>
              <a:stCxn id="139" idx="4"/>
              <a:endCxn id="139" idx="0"/>
            </p:cNvCxnSpPr>
            <p:nvPr/>
          </p:nvCxnSpPr>
          <p:spPr>
            <a:xfrm>
              <a:off x="10173204" y="1516836"/>
              <a:ext cx="365760" cy="0"/>
            </a:xfrm>
            <a:prstGeom prst="line">
              <a:avLst/>
            </a:prstGeom>
            <a:ln w="12700">
              <a:solidFill>
                <a:schemeClr val="accent4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C6314-723A-245E-3F0D-0C106406FF46}"/>
              </a:ext>
            </a:extLst>
          </p:cNvPr>
          <p:cNvGrpSpPr/>
          <p:nvPr/>
        </p:nvGrpSpPr>
        <p:grpSpPr>
          <a:xfrm rot="3600000">
            <a:off x="11010510" y="1287162"/>
            <a:ext cx="315834" cy="986729"/>
            <a:chOff x="10173204" y="1059636"/>
            <a:chExt cx="365760" cy="914400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A49015B-32B9-62B0-20AB-C91E05F04C25}"/>
                </a:ext>
              </a:extLst>
            </p:cNvPr>
            <p:cNvSpPr>
              <a:spLocks/>
            </p:cNvSpPr>
            <p:nvPr/>
          </p:nvSpPr>
          <p:spPr>
            <a:xfrm rot="5400000">
              <a:off x="9898884" y="1333956"/>
              <a:ext cx="914400" cy="36576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480C1D5-4340-0567-A5C7-60CF4146FC9E}"/>
                </a:ext>
              </a:extLst>
            </p:cNvPr>
            <p:cNvCxnSpPr>
              <a:stCxn id="143" idx="2"/>
              <a:endCxn id="143" idx="6"/>
            </p:cNvCxnSpPr>
            <p:nvPr/>
          </p:nvCxnSpPr>
          <p:spPr>
            <a:xfrm>
              <a:off x="10356084" y="1059636"/>
              <a:ext cx="0" cy="9144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71C9A816-905E-B01B-4B4B-9E4B415CCE63}"/>
                </a:ext>
              </a:extLst>
            </p:cNvPr>
            <p:cNvCxnSpPr>
              <a:stCxn id="143" idx="4"/>
              <a:endCxn id="143" idx="0"/>
            </p:cNvCxnSpPr>
            <p:nvPr/>
          </p:nvCxnSpPr>
          <p:spPr>
            <a:xfrm>
              <a:off x="10173204" y="1516836"/>
              <a:ext cx="36576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846F3C0-5655-8430-5A50-189265B2F7F1}"/>
              </a:ext>
            </a:extLst>
          </p:cNvPr>
          <p:cNvGrpSpPr/>
          <p:nvPr/>
        </p:nvGrpSpPr>
        <p:grpSpPr>
          <a:xfrm rot="5400000">
            <a:off x="11190380" y="1684917"/>
            <a:ext cx="223516" cy="1031987"/>
            <a:chOff x="10173204" y="1059636"/>
            <a:chExt cx="365760" cy="9144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2CBC56-DDA5-1F3B-21FA-DCEFBBCFBEC1}"/>
                </a:ext>
              </a:extLst>
            </p:cNvPr>
            <p:cNvSpPr>
              <a:spLocks/>
            </p:cNvSpPr>
            <p:nvPr/>
          </p:nvSpPr>
          <p:spPr>
            <a:xfrm rot="5400000">
              <a:off x="9898884" y="1333956"/>
              <a:ext cx="914400" cy="365760"/>
            </a:xfrm>
            <a:prstGeom prst="ellipse">
              <a:avLst/>
            </a:prstGeom>
            <a:noFill/>
            <a:ln w="1905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F759D1E-F10C-1E84-5FC0-65BEDDD1F2AB}"/>
                </a:ext>
              </a:extLst>
            </p:cNvPr>
            <p:cNvCxnSpPr>
              <a:stCxn id="148" idx="2"/>
              <a:endCxn id="148" idx="6"/>
            </p:cNvCxnSpPr>
            <p:nvPr/>
          </p:nvCxnSpPr>
          <p:spPr>
            <a:xfrm>
              <a:off x="10356084" y="1059636"/>
              <a:ext cx="0" cy="914400"/>
            </a:xfrm>
            <a:prstGeom prst="line">
              <a:avLst/>
            </a:prstGeom>
            <a:ln w="12700">
              <a:solidFill>
                <a:schemeClr val="accent4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E91F9B8-6501-371E-31F1-30465E5D1436}"/>
                </a:ext>
              </a:extLst>
            </p:cNvPr>
            <p:cNvCxnSpPr>
              <a:stCxn id="148" idx="4"/>
              <a:endCxn id="148" idx="0"/>
            </p:cNvCxnSpPr>
            <p:nvPr/>
          </p:nvCxnSpPr>
          <p:spPr>
            <a:xfrm>
              <a:off x="10173204" y="1516836"/>
              <a:ext cx="365760" cy="0"/>
            </a:xfrm>
            <a:prstGeom prst="line">
              <a:avLst/>
            </a:prstGeom>
            <a:ln w="12700">
              <a:solidFill>
                <a:schemeClr val="accent4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4A85E79-E313-153C-A897-13E15AB989AC}"/>
              </a:ext>
            </a:extLst>
          </p:cNvPr>
          <p:cNvGrpSpPr/>
          <p:nvPr/>
        </p:nvGrpSpPr>
        <p:grpSpPr>
          <a:xfrm rot="7200000">
            <a:off x="11234132" y="2055301"/>
            <a:ext cx="213946" cy="1435199"/>
            <a:chOff x="10173204" y="1059636"/>
            <a:chExt cx="365760" cy="914400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D9B00DC-F180-7756-5067-7136A88346E4}"/>
                </a:ext>
              </a:extLst>
            </p:cNvPr>
            <p:cNvSpPr>
              <a:spLocks/>
            </p:cNvSpPr>
            <p:nvPr/>
          </p:nvSpPr>
          <p:spPr>
            <a:xfrm rot="5400000">
              <a:off x="9898884" y="1333956"/>
              <a:ext cx="914400" cy="365760"/>
            </a:xfrm>
            <a:prstGeom prst="ellipse">
              <a:avLst/>
            </a:prstGeom>
            <a:noFill/>
            <a:ln w="19050">
              <a:solidFill>
                <a:schemeClr val="accent4"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81426E5-94E6-4446-EA0F-CBEF9B18D9AA}"/>
                </a:ext>
              </a:extLst>
            </p:cNvPr>
            <p:cNvCxnSpPr>
              <a:stCxn id="152" idx="2"/>
              <a:endCxn id="152" idx="6"/>
            </p:cNvCxnSpPr>
            <p:nvPr/>
          </p:nvCxnSpPr>
          <p:spPr>
            <a:xfrm>
              <a:off x="10356084" y="1059636"/>
              <a:ext cx="0" cy="914400"/>
            </a:xfrm>
            <a:prstGeom prst="line">
              <a:avLst/>
            </a:prstGeom>
            <a:ln w="12700">
              <a:solidFill>
                <a:schemeClr val="accent4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45967CC-9897-63F0-EDF1-361FC9FBB82E}"/>
                </a:ext>
              </a:extLst>
            </p:cNvPr>
            <p:cNvCxnSpPr>
              <a:stCxn id="152" idx="4"/>
              <a:endCxn id="152" idx="0"/>
            </p:cNvCxnSpPr>
            <p:nvPr/>
          </p:nvCxnSpPr>
          <p:spPr>
            <a:xfrm>
              <a:off x="10173204" y="1516836"/>
              <a:ext cx="365760" cy="0"/>
            </a:xfrm>
            <a:prstGeom prst="line">
              <a:avLst/>
            </a:prstGeom>
            <a:ln w="12700">
              <a:solidFill>
                <a:schemeClr val="accent4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C077DDA-D1F0-769B-9F12-BED7B6D83843}"/>
              </a:ext>
            </a:extLst>
          </p:cNvPr>
          <p:cNvGrpSpPr/>
          <p:nvPr/>
        </p:nvGrpSpPr>
        <p:grpSpPr>
          <a:xfrm>
            <a:off x="8722760" y="220894"/>
            <a:ext cx="3333866" cy="3655255"/>
            <a:chOff x="8722760" y="220894"/>
            <a:chExt cx="3333866" cy="3655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AD8217B-C46A-6C99-0006-A291ED9E9642}"/>
                    </a:ext>
                  </a:extLst>
                </p:cNvPr>
                <p:cNvSpPr txBox="1"/>
                <p:nvPr/>
              </p:nvSpPr>
              <p:spPr>
                <a:xfrm>
                  <a:off x="10142058" y="220894"/>
                  <a:ext cx="18715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AD8217B-C46A-6C99-0006-A291ED9E9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2058" y="220894"/>
                  <a:ext cx="18715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56667" r="-5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A7EDD29-F2E8-3086-CECD-5BA551247D6E}"/>
                    </a:ext>
                  </a:extLst>
                </p:cNvPr>
                <p:cNvSpPr txBox="1"/>
                <p:nvPr/>
              </p:nvSpPr>
              <p:spPr>
                <a:xfrm>
                  <a:off x="11836925" y="2147421"/>
                  <a:ext cx="18715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A7EDD29-F2E8-3086-CECD-5BA551247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6925" y="2147421"/>
                  <a:ext cx="18715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6667" r="-5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CD3276E-D48C-B754-1CCA-6EE098015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760" y="2199004"/>
              <a:ext cx="3333866" cy="12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8843AF-379B-1D30-08BC-34DBE9806E1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696039" y="2202817"/>
              <a:ext cx="3333864" cy="12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061E74-AA70-8B38-9ECA-0488CC1F075C}"/>
                  </a:ext>
                </a:extLst>
              </p:cNvPr>
              <p:cNvSpPr txBox="1"/>
              <p:nvPr/>
            </p:nvSpPr>
            <p:spPr>
              <a:xfrm>
                <a:off x="2453036" y="3297847"/>
                <a:ext cx="4514569" cy="497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𝑐𝑜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061E74-AA70-8B38-9ECA-0488CC1F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036" y="3297847"/>
                <a:ext cx="4514569" cy="497637"/>
              </a:xfrm>
              <a:prstGeom prst="rect">
                <a:avLst/>
              </a:prstGeom>
              <a:blipFill>
                <a:blip r:embed="rId7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E6736E-AE92-CBD6-3603-22F4A3D47F6C}"/>
                  </a:ext>
                </a:extLst>
              </p:cNvPr>
              <p:cNvSpPr txBox="1"/>
              <p:nvPr/>
            </p:nvSpPr>
            <p:spPr>
              <a:xfrm>
                <a:off x="4381004" y="2414100"/>
                <a:ext cx="5852243" cy="552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E6736E-AE92-CBD6-3603-22F4A3D4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004" y="2414100"/>
                <a:ext cx="5852243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13A16-FBA2-FD31-851E-0E8B2466D7D4}"/>
                  </a:ext>
                </a:extLst>
              </p:cNvPr>
              <p:cNvSpPr txBox="1"/>
              <p:nvPr/>
            </p:nvSpPr>
            <p:spPr>
              <a:xfrm>
                <a:off x="2902358" y="4155140"/>
                <a:ext cx="3615926" cy="622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13A16-FBA2-FD31-851E-0E8B2466D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58" y="4155140"/>
                <a:ext cx="3615926" cy="6227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4804425-07E3-5750-D791-1E80C3F030F0}"/>
              </a:ext>
            </a:extLst>
          </p:cNvPr>
          <p:cNvSpPr txBox="1"/>
          <p:nvPr/>
        </p:nvSpPr>
        <p:spPr>
          <a:xfrm>
            <a:off x="1836788" y="4886915"/>
            <a:ext cx="6305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Uncertainty is bounded during classical evolution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D564BC-7D59-5735-C844-6925C9469874}"/>
              </a:ext>
            </a:extLst>
          </p:cNvPr>
          <p:cNvCxnSpPr/>
          <p:nvPr/>
        </p:nvCxnSpPr>
        <p:spPr>
          <a:xfrm flipH="1" flipV="1">
            <a:off x="7452704" y="2865543"/>
            <a:ext cx="859398" cy="68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25C832-80CE-8779-4B6A-76F60EE770BC}"/>
              </a:ext>
            </a:extLst>
          </p:cNvPr>
          <p:cNvCxnSpPr/>
          <p:nvPr/>
        </p:nvCxnSpPr>
        <p:spPr>
          <a:xfrm flipV="1">
            <a:off x="8490857" y="2865543"/>
            <a:ext cx="1086280" cy="68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2C62F8-E047-4284-9A34-2815A4A3F10B}"/>
              </a:ext>
            </a:extLst>
          </p:cNvPr>
          <p:cNvSpPr txBox="1"/>
          <p:nvPr/>
        </p:nvSpPr>
        <p:spPr>
          <a:xfrm>
            <a:off x="7578155" y="3568372"/>
            <a:ext cx="2046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under Hamiltonian flow</a:t>
            </a:r>
          </a:p>
        </p:txBody>
      </p:sp>
    </p:spTree>
    <p:extLst>
      <p:ext uri="{BB962C8B-B14F-4D97-AF65-F5344CB8AC3E}">
        <p14:creationId xmlns:p14="http://schemas.microsoft.com/office/powerpoint/2010/main" val="311756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474C-F2C2-F0F0-D7D7-B0D2C327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2CE8D-D5C9-F14C-7CE1-FFADFFCB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2" y="951962"/>
            <a:ext cx="6096000" cy="21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B60A7-2E51-DDC1-911D-C9DA37A7C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0" y="1155779"/>
            <a:ext cx="6096000" cy="21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825F7-6834-EA5B-D0A7-BDC232EFD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6" y="1576432"/>
            <a:ext cx="6096018" cy="173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D2F13C-4491-96C7-9F5A-1A0B169E5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34" y="1373071"/>
            <a:ext cx="6096016" cy="187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9F167C-70BF-90E9-014E-3C51A1093A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12898"/>
            <a:ext cx="6096000" cy="206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C672B4-D369-F22E-08CD-9252BE555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152" y="3633037"/>
            <a:ext cx="6096000" cy="169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94E840-E3FC-8A0A-6F68-4CCA719419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536" y="3826166"/>
            <a:ext cx="6096000" cy="20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283B04-251C-7C51-B502-65E3F42E44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" y="2023592"/>
            <a:ext cx="6096000" cy="1761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C54D4C-43FB-1348-2871-956600989E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" y="2216588"/>
            <a:ext cx="6096000" cy="1838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4C12A7E-6C0B-E0E6-ED63-2DDA421619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03" y="2412288"/>
            <a:ext cx="6096000" cy="1909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C75AE08-EFAB-5374-CCF7-D9A862C4CD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" y="2605207"/>
            <a:ext cx="6096000" cy="2067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D496C9-893E-09CA-F7FB-9F84FBBF64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44" y="938676"/>
            <a:ext cx="5382768" cy="10997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36C518-1B35-D6CB-5FAD-E23BA33F6E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5440" y="5100847"/>
            <a:ext cx="3172268" cy="5620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6D73CF-947F-969F-BFBE-8AD5055538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2488" y="4802210"/>
            <a:ext cx="2381582" cy="12098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A63334-3611-4BA8-6E4B-758E89CE41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144" y="228449"/>
            <a:ext cx="5636790" cy="5614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A7383A-735F-B489-0A11-00FAEFAFA3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3068" y="228449"/>
            <a:ext cx="5636790" cy="555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D539B7-71F0-113F-D417-155E97CFE48E}"/>
                  </a:ext>
                </a:extLst>
              </p:cNvPr>
              <p:cNvSpPr txBox="1"/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4F7DF-2CB7-7583-2D41-475131E7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15658" y="4248741"/>
                <a:ext cx="761747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4638A0-B90C-D3FD-52FC-AEFEE9699B4A}"/>
                  </a:ext>
                </a:extLst>
              </p:cNvPr>
              <p:cNvSpPr txBox="1"/>
              <p:nvPr/>
            </p:nvSpPr>
            <p:spPr>
              <a:xfrm rot="7029569">
                <a:off x="6529121" y="2877223"/>
                <a:ext cx="633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6210A6-1BE6-0B5F-E325-240DCE76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029569">
                <a:off x="6529121" y="2877223"/>
                <a:ext cx="633507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07C3F1-E4DD-2A01-6555-85A31A28E6E8}"/>
                  </a:ext>
                </a:extLst>
              </p:cNvPr>
              <p:cNvSpPr txBox="1"/>
              <p:nvPr/>
            </p:nvSpPr>
            <p:spPr>
              <a:xfrm rot="3547819">
                <a:off x="4488068" y="2853120"/>
                <a:ext cx="633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FF3605-DCFB-B1AF-2CBE-BC7DE9BC4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47819">
                <a:off x="4488068" y="2853120"/>
                <a:ext cx="633507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1BCC7F3-071D-AD28-347F-CBAC9F14A83C}"/>
              </a:ext>
            </a:extLst>
          </p:cNvPr>
          <p:cNvSpPr/>
          <p:nvPr/>
        </p:nvSpPr>
        <p:spPr>
          <a:xfrm>
            <a:off x="372979" y="2387347"/>
            <a:ext cx="5855074" cy="2243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5897C-4BF5-9AAB-C6A4-98E70F8E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3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2955B32-C81A-F59F-53D3-9DA31022F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682" y="1662913"/>
            <a:ext cx="4519308" cy="23358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3602A6-5C50-E627-02E2-505EAD1B0690}"/>
              </a:ext>
            </a:extLst>
          </p:cNvPr>
          <p:cNvSpPr txBox="1"/>
          <p:nvPr/>
        </p:nvSpPr>
        <p:spPr>
          <a:xfrm>
            <a:off x="307500" y="242134"/>
            <a:ext cx="5605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plot entropy against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D893D9-4BCD-111A-2F5E-C89A36AFEE28}"/>
                  </a:ext>
                </a:extLst>
              </p:cNvPr>
              <p:cNvSpPr txBox="1"/>
              <p:nvPr/>
            </p:nvSpPr>
            <p:spPr>
              <a:xfrm>
                <a:off x="6508800" y="375172"/>
                <a:ext cx="4617161" cy="603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=−∫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𝜌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𝑑𝑞𝑑𝑝</m:t>
                    </m: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D893D9-4BCD-111A-2F5E-C89A36AFE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800" y="375172"/>
                <a:ext cx="4617161" cy="603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387186-B54F-807B-CFA1-F53C60CE20C9}"/>
                  </a:ext>
                </a:extLst>
              </p:cNvPr>
              <p:cNvSpPr txBox="1"/>
              <p:nvPr/>
            </p:nvSpPr>
            <p:spPr>
              <a:xfrm>
                <a:off x="6875054" y="978585"/>
                <a:ext cx="51244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/>
                  <a:t>Fixes units</a:t>
                </a:r>
                <a:br>
                  <a:rPr lang="en-US" dirty="0"/>
                </a:br>
                <a:r>
                  <a:rPr lang="en-US" dirty="0"/>
                  <a:t>Uniform distribution over volume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has zero entropy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387186-B54F-807B-CFA1-F53C60CE2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054" y="978585"/>
                <a:ext cx="5124416" cy="646331"/>
              </a:xfrm>
              <a:prstGeom prst="rect">
                <a:avLst/>
              </a:prstGeom>
              <a:blipFill>
                <a:blip r:embed="rId4"/>
                <a:stretch>
                  <a:fillRect l="-357" t="-5660" r="-95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2EDBCA-867A-C847-A323-B05AFBCBFBFE}"/>
              </a:ext>
            </a:extLst>
          </p:cNvPr>
          <p:cNvCxnSpPr>
            <a:cxnSpLocks/>
          </p:cNvCxnSpPr>
          <p:nvPr/>
        </p:nvCxnSpPr>
        <p:spPr>
          <a:xfrm flipH="1" flipV="1">
            <a:off x="9688565" y="978585"/>
            <a:ext cx="309677" cy="344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0B18D7-A726-1302-C3A4-9A131AFE9C29}"/>
                  </a:ext>
                </a:extLst>
              </p:cNvPr>
              <p:cNvSpPr txBox="1"/>
              <p:nvPr/>
            </p:nvSpPr>
            <p:spPr>
              <a:xfrm>
                <a:off x="858013" y="931861"/>
                <a:ext cx="3812390" cy="944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0B18D7-A726-1302-C3A4-9A131AF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3" y="931861"/>
                <a:ext cx="3812390" cy="9449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06D4C-13D2-5F0F-A98C-764E59871065}"/>
                  </a:ext>
                </a:extLst>
              </p:cNvPr>
              <p:cNvSpPr txBox="1"/>
              <p:nvPr/>
            </p:nvSpPr>
            <p:spPr>
              <a:xfrm>
                <a:off x="951189" y="2674149"/>
                <a:ext cx="5079083" cy="1027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06D4C-13D2-5F0F-A98C-764E5987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9" y="2674149"/>
                <a:ext cx="5079083" cy="10273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FE3C0-D191-7B2D-FCE2-EBBC0320B022}"/>
                  </a:ext>
                </a:extLst>
              </p:cNvPr>
              <p:cNvSpPr txBox="1"/>
              <p:nvPr/>
            </p:nvSpPr>
            <p:spPr>
              <a:xfrm>
                <a:off x="11110433" y="3345413"/>
                <a:ext cx="592598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FE3C0-D191-7B2D-FCE2-EBBC0320B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433" y="3345413"/>
                <a:ext cx="592598" cy="324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AC7458-CA98-7794-3381-E44199D1A3E9}"/>
                  </a:ext>
                </a:extLst>
              </p:cNvPr>
              <p:cNvSpPr txBox="1"/>
              <p:nvPr/>
            </p:nvSpPr>
            <p:spPr>
              <a:xfrm>
                <a:off x="6773760" y="1526373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AC7458-CA98-7794-3381-E44199D1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760" y="1526373"/>
                <a:ext cx="3228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F125A8-28F1-EFD1-D2C2-5B53B8E57C04}"/>
              </a:ext>
            </a:extLst>
          </p:cNvPr>
          <p:cNvSpPr/>
          <p:nvPr/>
        </p:nvSpPr>
        <p:spPr>
          <a:xfrm>
            <a:off x="7108090" y="1735513"/>
            <a:ext cx="4379548" cy="2252623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86E4B-31E1-A766-7A0B-0738D0E4F962}"/>
              </a:ext>
            </a:extLst>
          </p:cNvPr>
          <p:cNvSpPr txBox="1"/>
          <p:nvPr/>
        </p:nvSpPr>
        <p:spPr>
          <a:xfrm rot="20747837">
            <a:off x="7007478" y="1964866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gaussian bound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A363AC-F72B-8298-C79C-C516C534818E}"/>
              </a:ext>
            </a:extLst>
          </p:cNvPr>
          <p:cNvSpPr txBox="1"/>
          <p:nvPr/>
        </p:nvSpPr>
        <p:spPr>
          <a:xfrm>
            <a:off x="1614614" y="1948622"/>
            <a:ext cx="500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Gaussian maximizes entropy for a given uncertainty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A72404-65CA-DCC8-2A37-66A00EF6BE73}"/>
              </a:ext>
            </a:extLst>
          </p:cNvPr>
          <p:cNvSpPr txBox="1"/>
          <p:nvPr/>
        </p:nvSpPr>
        <p:spPr>
          <a:xfrm>
            <a:off x="1730109" y="4389720"/>
            <a:ext cx="42328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Entropy puts a lower bound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on the uncertainty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C9680-0200-88DB-1876-955257E5BA8A}"/>
              </a:ext>
            </a:extLst>
          </p:cNvPr>
          <p:cNvSpPr txBox="1"/>
          <p:nvPr/>
        </p:nvSpPr>
        <p:spPr>
          <a:xfrm>
            <a:off x="7096604" y="4324701"/>
            <a:ext cx="2272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Hamiltonian evolution</a:t>
            </a:r>
            <a:br>
              <a:rPr lang="en-US" dirty="0"/>
            </a:br>
            <a:r>
              <a:rPr lang="en-US" dirty="0"/>
              <a:t>conserves entropy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4B18FE-5393-5405-2921-9594411A2467}"/>
              </a:ext>
            </a:extLst>
          </p:cNvPr>
          <p:cNvCxnSpPr>
            <a:cxnSpLocks/>
          </p:cNvCxnSpPr>
          <p:nvPr/>
        </p:nvCxnSpPr>
        <p:spPr>
          <a:xfrm flipH="1">
            <a:off x="5630779" y="4687024"/>
            <a:ext cx="1642310" cy="233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9313-5011-CE05-1182-2D445717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5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6" grpId="0"/>
      <p:bldP spid="18" grpId="0" animBg="1"/>
      <p:bldP spid="19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7B0407-FA1C-2FEB-BA30-88925ECA3BF6}"/>
              </a:ext>
            </a:extLst>
          </p:cNvPr>
          <p:cNvSpPr txBox="1"/>
          <p:nvPr/>
        </p:nvSpPr>
        <p:spPr>
          <a:xfrm>
            <a:off x="579746" y="625642"/>
            <a:ext cx="1103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Is there anything that puts a lower bound on the entropy?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1DB8F-D4AB-2607-3AB6-FBA1DC6D040E}"/>
              </a:ext>
            </a:extLst>
          </p:cNvPr>
          <p:cNvSpPr txBox="1"/>
          <p:nvPr/>
        </p:nvSpPr>
        <p:spPr>
          <a:xfrm>
            <a:off x="2613858" y="1720515"/>
            <a:ext cx="51645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substance has a finite positive entropy, but at the absolute zero of temperature the entropy may become zero, and does so become in the case of perfect crystalline substances.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F335E-9590-387F-5AA4-FA827423362E}"/>
              </a:ext>
            </a:extLst>
          </p:cNvPr>
          <p:cNvSpPr txBox="1"/>
          <p:nvPr/>
        </p:nvSpPr>
        <p:spPr>
          <a:xfrm>
            <a:off x="1511281" y="3814047"/>
            <a:ext cx="7257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The third law of thermodynamics!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DCA4D-EC27-7916-1F84-31170D55D0F3}"/>
              </a:ext>
            </a:extLst>
          </p:cNvPr>
          <p:cNvSpPr txBox="1"/>
          <p:nvPr/>
        </p:nvSpPr>
        <p:spPr>
          <a:xfrm>
            <a:off x="5196137" y="3104023"/>
            <a:ext cx="3796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G. N. Lewis and M. Randall, Thermodynamics and the</a:t>
            </a:r>
          </a:p>
          <a:p>
            <a:r>
              <a:rPr lang="en-US" sz="1200" dirty="0"/>
              <a:t>free energy of chemical substances (McGraw-Hill, 1923)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B22FE-283C-91F0-2407-49ACA60F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2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E856-BBB7-E5FB-01F2-57833EA2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B4771D1-FB9B-BF14-2DC6-50D45151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237" y="592100"/>
            <a:ext cx="4519308" cy="2335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6CBB1A-69D6-F253-63D7-8BA22E09D4F8}"/>
                  </a:ext>
                </a:extLst>
              </p:cNvPr>
              <p:cNvSpPr txBox="1"/>
              <p:nvPr/>
            </p:nvSpPr>
            <p:spPr>
              <a:xfrm>
                <a:off x="1882328" y="1603336"/>
                <a:ext cx="3156313" cy="1027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6CBB1A-69D6-F253-63D7-8BA22E09D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328" y="1603336"/>
                <a:ext cx="3156313" cy="10273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BE6BE9-1E57-6F5B-70FF-9858EA6BC683}"/>
                  </a:ext>
                </a:extLst>
              </p:cNvPr>
              <p:cNvSpPr txBox="1"/>
              <p:nvPr/>
            </p:nvSpPr>
            <p:spPr>
              <a:xfrm>
                <a:off x="11320988" y="2274600"/>
                <a:ext cx="592598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BE6BE9-1E57-6F5B-70FF-9858EA6BC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0988" y="2274600"/>
                <a:ext cx="592598" cy="324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8DFD01-BF0D-5608-240E-F9E0418A002E}"/>
                  </a:ext>
                </a:extLst>
              </p:cNvPr>
              <p:cNvSpPr txBox="1"/>
              <p:nvPr/>
            </p:nvSpPr>
            <p:spPr>
              <a:xfrm>
                <a:off x="6984315" y="455560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8DFD01-BF0D-5608-240E-F9E0418A0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15" y="455560"/>
                <a:ext cx="32284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B37CD5A-131A-D40E-EBC3-F2EA31F68E45}"/>
              </a:ext>
            </a:extLst>
          </p:cNvPr>
          <p:cNvSpPr/>
          <p:nvPr/>
        </p:nvSpPr>
        <p:spPr>
          <a:xfrm>
            <a:off x="7318645" y="664700"/>
            <a:ext cx="4379548" cy="2252623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9D8FC-6EBF-F75A-D4B4-6CC46445BF59}"/>
              </a:ext>
            </a:extLst>
          </p:cNvPr>
          <p:cNvSpPr txBox="1"/>
          <p:nvPr/>
        </p:nvSpPr>
        <p:spPr>
          <a:xfrm rot="20747837">
            <a:off x="7218033" y="894053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gaussian bound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374C8A-1EBD-B290-8D3D-94D21D2743E6}"/>
              </a:ext>
            </a:extLst>
          </p:cNvPr>
          <p:cNvSpPr txBox="1"/>
          <p:nvPr/>
        </p:nvSpPr>
        <p:spPr>
          <a:xfrm>
            <a:off x="293381" y="187646"/>
            <a:ext cx="66909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Third law puts a lower bound on the entropy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which puts a lower bound on the uncertainty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FADB9-C299-79F4-502D-E572CA86DBC0}"/>
              </a:ext>
            </a:extLst>
          </p:cNvPr>
          <p:cNvSpPr/>
          <p:nvPr/>
        </p:nvSpPr>
        <p:spPr>
          <a:xfrm>
            <a:off x="7039813" y="2308863"/>
            <a:ext cx="4873773" cy="6917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B4F85-5F1D-0A76-DCE5-43D305E80D68}"/>
              </a:ext>
            </a:extLst>
          </p:cNvPr>
          <p:cNvSpPr txBox="1"/>
          <p:nvPr/>
        </p:nvSpPr>
        <p:spPr>
          <a:xfrm>
            <a:off x="7703902" y="2542782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3</a:t>
            </a:r>
            <a:r>
              <a:rPr lang="en-US" baseline="30000" dirty="0"/>
              <a:t>rd</a:t>
            </a:r>
            <a:r>
              <a:rPr lang="en-US" dirty="0"/>
              <a:t> law of thermodynamics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EF81C-DF8F-D73C-43F6-084E7B6EC5B9}"/>
              </a:ext>
            </a:extLst>
          </p:cNvPr>
          <p:cNvSpPr txBox="1"/>
          <p:nvPr/>
        </p:nvSpPr>
        <p:spPr>
          <a:xfrm>
            <a:off x="920416" y="3000573"/>
            <a:ext cx="5257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Classical uncertainty principle!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BE0837-9373-A55D-99E9-677C2567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87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77F-395F-827F-D1FB-E0238DF1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2B1CF-5CDB-2C5A-A604-ED58C62A6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988" y="229025"/>
            <a:ext cx="5738251" cy="28189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67035CD-7231-AE6E-9976-EE32A54CE873}"/>
              </a:ext>
            </a:extLst>
          </p:cNvPr>
          <p:cNvSpPr txBox="1">
            <a:spLocks/>
          </p:cNvSpPr>
          <p:nvPr/>
        </p:nvSpPr>
        <p:spPr>
          <a:xfrm>
            <a:off x="365761" y="229025"/>
            <a:ext cx="3882794" cy="590931"/>
          </a:xfrm>
          <a:prstGeom prst="rect">
            <a:avLst/>
          </a:prstGeom>
        </p:spPr>
        <p:txBody>
          <a:bodyPr wrap="none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+mn-lt"/>
              </a:rPr>
              <a:t>Comparing theories</a:t>
            </a:r>
            <a:endParaRPr lang="en-US" sz="2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55EAD-601B-A508-72CB-67FC24741727}"/>
              </a:ext>
            </a:extLst>
          </p:cNvPr>
          <p:cNvSpPr txBox="1"/>
          <p:nvPr/>
        </p:nvSpPr>
        <p:spPr>
          <a:xfrm>
            <a:off x="176221" y="2746436"/>
            <a:ext cx="5424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Entropy of quantum states is already non-negative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A4DA09-36E3-5773-9746-AF41D29502DE}"/>
              </a:ext>
            </a:extLst>
          </p:cNvPr>
          <p:cNvSpPr/>
          <p:nvPr/>
        </p:nvSpPr>
        <p:spPr>
          <a:xfrm>
            <a:off x="6426200" y="346076"/>
            <a:ext cx="5299075" cy="2473325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99075" h="2473325">
                <a:moveTo>
                  <a:pt x="6350" y="15875"/>
                </a:moveTo>
                <a:cubicBezTo>
                  <a:pt x="4233" y="827617"/>
                  <a:pt x="2117" y="1661583"/>
                  <a:pt x="0" y="2473325"/>
                </a:cubicBezTo>
                <a:cubicBezTo>
                  <a:pt x="43921" y="2303992"/>
                  <a:pt x="69321" y="1862137"/>
                  <a:pt x="422275" y="1419225"/>
                </a:cubicBezTo>
                <a:cubicBezTo>
                  <a:pt x="775229" y="976313"/>
                  <a:pt x="1591204" y="661458"/>
                  <a:pt x="2212975" y="501650"/>
                </a:cubicBezTo>
                <a:cubicBezTo>
                  <a:pt x="2834746" y="341842"/>
                  <a:pt x="3524250" y="239183"/>
                  <a:pt x="4038600" y="155575"/>
                </a:cubicBezTo>
                <a:cubicBezTo>
                  <a:pt x="4552950" y="71967"/>
                  <a:pt x="4826529" y="32279"/>
                  <a:pt x="5299075" y="0"/>
                </a:cubicBezTo>
                <a:lnTo>
                  <a:pt x="6350" y="15875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85BF1-D188-FCFF-DCC5-8284D46C8C71}"/>
              </a:ext>
            </a:extLst>
          </p:cNvPr>
          <p:cNvSpPr/>
          <p:nvPr/>
        </p:nvSpPr>
        <p:spPr>
          <a:xfrm>
            <a:off x="6426200" y="2216150"/>
            <a:ext cx="5273675" cy="75565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488FF-FBCF-8DE1-8C23-2C47F427A7B8}"/>
              </a:ext>
            </a:extLst>
          </p:cNvPr>
          <p:cNvSpPr txBox="1"/>
          <p:nvPr/>
        </p:nvSpPr>
        <p:spPr>
          <a:xfrm>
            <a:off x="7090289" y="2450069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3</a:t>
            </a:r>
            <a:r>
              <a:rPr lang="en-US" baseline="30000" dirty="0"/>
              <a:t>rd</a:t>
            </a:r>
            <a:r>
              <a:rPr lang="en-US" dirty="0"/>
              <a:t> law of thermodynamics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F88A3-9181-7926-33F2-CC320ED98E08}"/>
              </a:ext>
            </a:extLst>
          </p:cNvPr>
          <p:cNvSpPr txBox="1"/>
          <p:nvPr/>
        </p:nvSpPr>
        <p:spPr>
          <a:xfrm>
            <a:off x="179563" y="3264875"/>
            <a:ext cx="5837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gaussian bound quickly becomes very similar across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87155-EEBB-2876-DA21-74FB1DFF6B3C}"/>
                  </a:ext>
                </a:extLst>
              </p:cNvPr>
              <p:cNvSpPr txBox="1"/>
              <p:nvPr/>
            </p:nvSpPr>
            <p:spPr>
              <a:xfrm>
                <a:off x="365761" y="1007986"/>
                <a:ext cx="2319033" cy="126105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87155-EEBB-2876-DA21-74FB1DFF6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1" y="1007986"/>
                <a:ext cx="2319033" cy="1261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ED6BEF0-9400-EE89-7CE9-4D7583DB5F31}"/>
              </a:ext>
            </a:extLst>
          </p:cNvPr>
          <p:cNvSpPr txBox="1"/>
          <p:nvPr/>
        </p:nvSpPr>
        <p:spPr>
          <a:xfrm>
            <a:off x="989363" y="4144527"/>
            <a:ext cx="7967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Quantum mechanics incorporates the third law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Classical mechanics does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549E35-6228-97F6-8536-C5BDB619F936}"/>
                  </a:ext>
                </a:extLst>
              </p:cNvPr>
              <p:cNvSpPr txBox="1"/>
              <p:nvPr/>
            </p:nvSpPr>
            <p:spPr>
              <a:xfrm>
                <a:off x="9128352" y="3057277"/>
                <a:ext cx="1253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549E35-6228-97F6-8536-C5BDB619F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352" y="3057277"/>
                <a:ext cx="12534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8F167-9080-2791-19F6-F9F4719F3E07}"/>
                  </a:ext>
                </a:extLst>
              </p:cNvPr>
              <p:cNvSpPr txBox="1"/>
              <p:nvPr/>
            </p:nvSpPr>
            <p:spPr>
              <a:xfrm>
                <a:off x="7307095" y="3462765"/>
                <a:ext cx="4714479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8F167-9080-2791-19F6-F9F4719F3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95" y="3462765"/>
                <a:ext cx="4714479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2286C0-AE97-B65C-58D7-B84932CCE2AB}"/>
                  </a:ext>
                </a:extLst>
              </p:cNvPr>
              <p:cNvSpPr txBox="1"/>
              <p:nvPr/>
            </p:nvSpPr>
            <p:spPr>
              <a:xfrm>
                <a:off x="11479458" y="1727524"/>
                <a:ext cx="592598" cy="4652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2286C0-AE97-B65C-58D7-B84932CCE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9458" y="1727524"/>
                <a:ext cx="592598" cy="465256"/>
              </a:xfrm>
              <a:prstGeom prst="rect">
                <a:avLst/>
              </a:prstGeom>
              <a:blipFill>
                <a:blip r:embed="rId6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57D8B56-489D-1C8A-4179-8E25E08CBE10}"/>
              </a:ext>
            </a:extLst>
          </p:cNvPr>
          <p:cNvSpPr txBox="1"/>
          <p:nvPr/>
        </p:nvSpPr>
        <p:spPr>
          <a:xfrm rot="20747837">
            <a:off x="6506019" y="639286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gaussian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45D4-0A1E-5CA9-4300-1638B188BBA9}"/>
                  </a:ext>
                </a:extLst>
              </p:cNvPr>
              <p:cNvSpPr txBox="1"/>
              <p:nvPr/>
            </p:nvSpPr>
            <p:spPr>
              <a:xfrm>
                <a:off x="3098311" y="1015927"/>
                <a:ext cx="2319032" cy="12570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45D4-0A1E-5CA9-4300-1638B188B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311" y="1015927"/>
                <a:ext cx="2319032" cy="1257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FEFED1-39E5-6FAF-A53E-2727195A7ADE}"/>
              </a:ext>
            </a:extLst>
          </p:cNvPr>
          <p:cNvSpPr txBox="1"/>
          <p:nvPr/>
        </p:nvSpPr>
        <p:spPr>
          <a:xfrm>
            <a:off x="2958775" y="2201337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2.71828…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BFF1A8-C892-C3F1-5C11-D4613706BD93}"/>
              </a:ext>
            </a:extLst>
          </p:cNvPr>
          <p:cNvCxnSpPr/>
          <p:nvPr/>
        </p:nvCxnSpPr>
        <p:spPr>
          <a:xfrm flipH="1" flipV="1">
            <a:off x="2550695" y="2158699"/>
            <a:ext cx="445168" cy="19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67266C-9575-E0D9-C868-8172140D2951}"/>
              </a:ext>
            </a:extLst>
          </p:cNvPr>
          <p:cNvSpPr txBox="1"/>
          <p:nvPr/>
        </p:nvSpPr>
        <p:spPr>
          <a:xfrm>
            <a:off x="771959" y="1039251"/>
            <a:ext cx="93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302A1-E0FC-0160-ABDD-C925AE0C3951}"/>
              </a:ext>
            </a:extLst>
          </p:cNvPr>
          <p:cNvSpPr txBox="1"/>
          <p:nvPr/>
        </p:nvSpPr>
        <p:spPr>
          <a:xfrm>
            <a:off x="3468841" y="1036686"/>
            <a:ext cx="10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CDCD66-7AF9-E8A2-0361-12010488D775}"/>
              </a:ext>
            </a:extLst>
          </p:cNvPr>
          <p:cNvSpPr txBox="1"/>
          <p:nvPr/>
        </p:nvSpPr>
        <p:spPr>
          <a:xfrm>
            <a:off x="2222346" y="5146077"/>
            <a:ext cx="4576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 this the only difference?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7CD33E-24D7-CD7C-50D4-943710059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29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0B9F6-E8D4-2137-852F-C565306FC324}"/>
              </a:ext>
            </a:extLst>
          </p:cNvPr>
          <p:cNvSpPr txBox="1"/>
          <p:nvPr/>
        </p:nvSpPr>
        <p:spPr>
          <a:xfrm>
            <a:off x="313451" y="432196"/>
            <a:ext cx="111465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Suppose the lower bound on the entropy is the only difference,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then in the limit of high entropy of quantum mechanics we should recover classical mechanics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DAE04-25FC-DE33-8DFB-E1DB8B697546}"/>
              </a:ext>
            </a:extLst>
          </p:cNvPr>
          <p:cNvSpPr txBox="1"/>
          <p:nvPr/>
        </p:nvSpPr>
        <p:spPr>
          <a:xfrm>
            <a:off x="6294009" y="2001856"/>
            <a:ext cx="2560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Can we?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1466AC-6C72-38B1-FD22-DADCEDEC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84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55956-4187-4D36-C12C-930DDDBA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68" y="502166"/>
            <a:ext cx="3721958" cy="268069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5B5664E-C8B9-7E4B-85EF-E4DCC46A0FD7}"/>
              </a:ext>
            </a:extLst>
          </p:cNvPr>
          <p:cNvGrpSpPr/>
          <p:nvPr/>
        </p:nvGrpSpPr>
        <p:grpSpPr>
          <a:xfrm>
            <a:off x="5390103" y="287251"/>
            <a:ext cx="5811253" cy="2936994"/>
            <a:chOff x="4902868" y="594274"/>
            <a:chExt cx="5811253" cy="29369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4F0959-466D-E260-1A33-473957097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8882" y="594274"/>
              <a:ext cx="5796407" cy="293699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0D3F9D-4CEA-BEF2-28D7-BC14437394EA}"/>
                </a:ext>
              </a:extLst>
            </p:cNvPr>
            <p:cNvSpPr/>
            <p:nvPr/>
          </p:nvSpPr>
          <p:spPr>
            <a:xfrm>
              <a:off x="4902868" y="2370220"/>
              <a:ext cx="5811253" cy="116104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E30018-A31B-2585-091A-BF1A891F8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83" y="3406163"/>
            <a:ext cx="7163017" cy="3105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32CCA9-DF27-8568-C799-C55F9B7BD3E2}"/>
              </a:ext>
            </a:extLst>
          </p:cNvPr>
          <p:cNvSpPr txBox="1"/>
          <p:nvPr/>
        </p:nvSpPr>
        <p:spPr>
          <a:xfrm>
            <a:off x="2561647" y="2905863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06/01/2024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592B7B-F719-0180-FDD3-B2B8C69B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9613D73-FF3F-9C8A-FE70-80D9287D2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32" y="1433977"/>
            <a:ext cx="7102777" cy="40060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46D4B4-7D84-0E3E-41C1-2D78F73DDEDA}"/>
              </a:ext>
            </a:extLst>
          </p:cNvPr>
          <p:cNvSpPr/>
          <p:nvPr/>
        </p:nvSpPr>
        <p:spPr>
          <a:xfrm>
            <a:off x="1117935" y="4403510"/>
            <a:ext cx="6818363" cy="104923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C4AF6-9F01-9E4D-3206-16E58AD0F75E}"/>
              </a:ext>
            </a:extLst>
          </p:cNvPr>
          <p:cNvSpPr txBox="1"/>
          <p:nvPr/>
        </p:nvSpPr>
        <p:spPr>
          <a:xfrm>
            <a:off x="2430707" y="4743460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3</a:t>
            </a:r>
            <a:r>
              <a:rPr lang="en-US" baseline="30000" dirty="0"/>
              <a:t>rd</a:t>
            </a:r>
            <a:r>
              <a:rPr lang="en-US" dirty="0"/>
              <a:t> law of thermodynamics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FC06A-0928-DEDE-FDD1-A65C57640215}"/>
              </a:ext>
            </a:extLst>
          </p:cNvPr>
          <p:cNvSpPr txBox="1"/>
          <p:nvPr/>
        </p:nvSpPr>
        <p:spPr>
          <a:xfrm rot="20747837">
            <a:off x="1436330" y="2060529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excluded by gaussian bound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31EF0-26DD-48A0-4D13-625C9D2E9572}"/>
              </a:ext>
            </a:extLst>
          </p:cNvPr>
          <p:cNvSpPr/>
          <p:nvPr/>
        </p:nvSpPr>
        <p:spPr>
          <a:xfrm>
            <a:off x="1117935" y="1614618"/>
            <a:ext cx="6925435" cy="3825882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A58D43-7E57-CF93-B12A-E0EDA135BD67}"/>
              </a:ext>
            </a:extLst>
          </p:cNvPr>
          <p:cNvCxnSpPr>
            <a:cxnSpLocks/>
          </p:cNvCxnSpPr>
          <p:nvPr/>
        </p:nvCxnSpPr>
        <p:spPr>
          <a:xfrm>
            <a:off x="948832" y="5799438"/>
            <a:ext cx="651016" cy="0"/>
          </a:xfrm>
          <a:prstGeom prst="line">
            <a:avLst/>
          </a:prstGeom>
          <a:ln w="28575">
            <a:solidFill>
              <a:srgbClr val="4F86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376E72-FE14-C715-09F2-EAAA63B61402}"/>
              </a:ext>
            </a:extLst>
          </p:cNvPr>
          <p:cNvCxnSpPr>
            <a:cxnSpLocks/>
          </p:cNvCxnSpPr>
          <p:nvPr/>
        </p:nvCxnSpPr>
        <p:spPr>
          <a:xfrm>
            <a:off x="948832" y="6042454"/>
            <a:ext cx="651016" cy="0"/>
          </a:xfrm>
          <a:prstGeom prst="line">
            <a:avLst/>
          </a:prstGeom>
          <a:ln w="28575">
            <a:solidFill>
              <a:srgbClr val="C642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A5E8B6-8600-02F8-342F-83ACE9A2BF68}"/>
              </a:ext>
            </a:extLst>
          </p:cNvPr>
          <p:cNvSpPr txBox="1"/>
          <p:nvPr/>
        </p:nvSpPr>
        <p:spPr>
          <a:xfrm>
            <a:off x="1599848" y="5594348"/>
            <a:ext cx="93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BD2D4-42AF-40E3-3215-E3ADF960B34E}"/>
              </a:ext>
            </a:extLst>
          </p:cNvPr>
          <p:cNvSpPr txBox="1"/>
          <p:nvPr/>
        </p:nvSpPr>
        <p:spPr>
          <a:xfrm>
            <a:off x="1599848" y="5834362"/>
            <a:ext cx="10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quantum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BBB6CC-2CC6-D0FC-7C67-39CC900D3282}"/>
              </a:ext>
            </a:extLst>
          </p:cNvPr>
          <p:cNvSpPr/>
          <p:nvPr/>
        </p:nvSpPr>
        <p:spPr>
          <a:xfrm>
            <a:off x="1426407" y="3032840"/>
            <a:ext cx="1143602" cy="1366372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6292"/>
              <a:gd name="connsiteX1" fmla="*/ 2556 w 4818519"/>
              <a:gd name="connsiteY1" fmla="*/ 2476292 h 2476292"/>
              <a:gd name="connsiteX2" fmla="*/ 199014 w 4818519"/>
              <a:gd name="connsiteY2" fmla="*/ 1704036 h 2476292"/>
              <a:gd name="connsiteX3" fmla="*/ 468324 w 4818519"/>
              <a:gd name="connsiteY3" fmla="*/ 1350951 h 2476292"/>
              <a:gd name="connsiteX4" fmla="*/ 2266884 w 4818519"/>
              <a:gd name="connsiteY4" fmla="*/ 438615 h 2476292"/>
              <a:gd name="connsiteX5" fmla="*/ 4082029 w 4818519"/>
              <a:gd name="connsiteY5" fmla="*/ 113499 h 2476292"/>
              <a:gd name="connsiteX6" fmla="*/ 4818519 w 4818519"/>
              <a:gd name="connsiteY6" fmla="*/ 12944 h 2476292"/>
              <a:gd name="connsiteX7" fmla="*/ 0 w 4818519"/>
              <a:gd name="connsiteY7" fmla="*/ 0 h 2476292"/>
              <a:gd name="connsiteX0" fmla="*/ 0 w 4818519"/>
              <a:gd name="connsiteY0" fmla="*/ 0 h 1705136"/>
              <a:gd name="connsiteX1" fmla="*/ 108592 w 4818519"/>
              <a:gd name="connsiteY1" fmla="*/ 1705004 h 1705136"/>
              <a:gd name="connsiteX2" fmla="*/ 199014 w 4818519"/>
              <a:gd name="connsiteY2" fmla="*/ 1704036 h 1705136"/>
              <a:gd name="connsiteX3" fmla="*/ 468324 w 4818519"/>
              <a:gd name="connsiteY3" fmla="*/ 1350951 h 1705136"/>
              <a:gd name="connsiteX4" fmla="*/ 2266884 w 4818519"/>
              <a:gd name="connsiteY4" fmla="*/ 438615 h 1705136"/>
              <a:gd name="connsiteX5" fmla="*/ 4082029 w 4818519"/>
              <a:gd name="connsiteY5" fmla="*/ 113499 h 1705136"/>
              <a:gd name="connsiteX6" fmla="*/ 4818519 w 4818519"/>
              <a:gd name="connsiteY6" fmla="*/ 12944 h 1705136"/>
              <a:gd name="connsiteX7" fmla="*/ 0 w 4818519"/>
              <a:gd name="connsiteY7" fmla="*/ 0 h 1705136"/>
              <a:gd name="connsiteX0" fmla="*/ 222769 w 4709927"/>
              <a:gd name="connsiteY0" fmla="*/ 1273564 h 1692192"/>
              <a:gd name="connsiteX1" fmla="*/ 0 w 4709927"/>
              <a:gd name="connsiteY1" fmla="*/ 1692060 h 1692192"/>
              <a:gd name="connsiteX2" fmla="*/ 90422 w 4709927"/>
              <a:gd name="connsiteY2" fmla="*/ 1691092 h 1692192"/>
              <a:gd name="connsiteX3" fmla="*/ 359732 w 4709927"/>
              <a:gd name="connsiteY3" fmla="*/ 1338007 h 1692192"/>
              <a:gd name="connsiteX4" fmla="*/ 2158292 w 4709927"/>
              <a:gd name="connsiteY4" fmla="*/ 425671 h 1692192"/>
              <a:gd name="connsiteX5" fmla="*/ 3973437 w 4709927"/>
              <a:gd name="connsiteY5" fmla="*/ 100555 h 1692192"/>
              <a:gd name="connsiteX6" fmla="*/ 4709927 w 4709927"/>
              <a:gd name="connsiteY6" fmla="*/ 0 h 1692192"/>
              <a:gd name="connsiteX7" fmla="*/ 222769 w 4709927"/>
              <a:gd name="connsiteY7" fmla="*/ 1273564 h 1692192"/>
              <a:gd name="connsiteX0" fmla="*/ 222769 w 3973437"/>
              <a:gd name="connsiteY0" fmla="*/ 1173009 h 1591637"/>
              <a:gd name="connsiteX1" fmla="*/ 0 w 3973437"/>
              <a:gd name="connsiteY1" fmla="*/ 1591505 h 1591637"/>
              <a:gd name="connsiteX2" fmla="*/ 90422 w 3973437"/>
              <a:gd name="connsiteY2" fmla="*/ 1590537 h 1591637"/>
              <a:gd name="connsiteX3" fmla="*/ 359732 w 3973437"/>
              <a:gd name="connsiteY3" fmla="*/ 1237452 h 1591637"/>
              <a:gd name="connsiteX4" fmla="*/ 2158292 w 3973437"/>
              <a:gd name="connsiteY4" fmla="*/ 325116 h 1591637"/>
              <a:gd name="connsiteX5" fmla="*/ 3973437 w 3973437"/>
              <a:gd name="connsiteY5" fmla="*/ 0 h 1591637"/>
              <a:gd name="connsiteX6" fmla="*/ 222769 w 3973437"/>
              <a:gd name="connsiteY6" fmla="*/ 1173009 h 1591637"/>
              <a:gd name="connsiteX0" fmla="*/ 222769 w 2160276"/>
              <a:gd name="connsiteY0" fmla="*/ 857759 h 1276387"/>
              <a:gd name="connsiteX1" fmla="*/ 0 w 2160276"/>
              <a:gd name="connsiteY1" fmla="*/ 1276255 h 1276387"/>
              <a:gd name="connsiteX2" fmla="*/ 90422 w 2160276"/>
              <a:gd name="connsiteY2" fmla="*/ 1275287 h 1276387"/>
              <a:gd name="connsiteX3" fmla="*/ 359732 w 2160276"/>
              <a:gd name="connsiteY3" fmla="*/ 922202 h 1276387"/>
              <a:gd name="connsiteX4" fmla="*/ 2158292 w 2160276"/>
              <a:gd name="connsiteY4" fmla="*/ 9866 h 1276387"/>
              <a:gd name="connsiteX5" fmla="*/ 795685 w 2160276"/>
              <a:gd name="connsiteY5" fmla="*/ 391250 h 1276387"/>
              <a:gd name="connsiteX6" fmla="*/ 222769 w 2160276"/>
              <a:gd name="connsiteY6" fmla="*/ 857759 h 1276387"/>
              <a:gd name="connsiteX0" fmla="*/ 222769 w 1677126"/>
              <a:gd name="connsiteY0" fmla="*/ 466509 h 885137"/>
              <a:gd name="connsiteX1" fmla="*/ 0 w 1677126"/>
              <a:gd name="connsiteY1" fmla="*/ 885005 h 885137"/>
              <a:gd name="connsiteX2" fmla="*/ 90422 w 1677126"/>
              <a:gd name="connsiteY2" fmla="*/ 884037 h 885137"/>
              <a:gd name="connsiteX3" fmla="*/ 359732 w 1677126"/>
              <a:gd name="connsiteY3" fmla="*/ 530952 h 885137"/>
              <a:gd name="connsiteX4" fmla="*/ 1674505 w 1677126"/>
              <a:gd name="connsiteY4" fmla="*/ 75218 h 885137"/>
              <a:gd name="connsiteX5" fmla="*/ 795685 w 1677126"/>
              <a:gd name="connsiteY5" fmla="*/ 0 h 885137"/>
              <a:gd name="connsiteX6" fmla="*/ 222769 w 1677126"/>
              <a:gd name="connsiteY6" fmla="*/ 466509 h 885137"/>
              <a:gd name="connsiteX0" fmla="*/ 222769 w 796777"/>
              <a:gd name="connsiteY0" fmla="*/ 466509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22769 w 796777"/>
              <a:gd name="connsiteY5" fmla="*/ 466509 h 885137"/>
              <a:gd name="connsiteX0" fmla="*/ 358814 w 932822"/>
              <a:gd name="connsiteY0" fmla="*/ 466509 h 885137"/>
              <a:gd name="connsiteX1" fmla="*/ 136045 w 932822"/>
              <a:gd name="connsiteY1" fmla="*/ 885005 h 885137"/>
              <a:gd name="connsiteX2" fmla="*/ 226467 w 932822"/>
              <a:gd name="connsiteY2" fmla="*/ 884037 h 885137"/>
              <a:gd name="connsiteX3" fmla="*/ 495777 w 932822"/>
              <a:gd name="connsiteY3" fmla="*/ 530952 h 885137"/>
              <a:gd name="connsiteX4" fmla="*/ 931730 w 932822"/>
              <a:gd name="connsiteY4" fmla="*/ 0 h 885137"/>
              <a:gd name="connsiteX5" fmla="*/ 358814 w 932822"/>
              <a:gd name="connsiteY5" fmla="*/ 466509 h 885137"/>
              <a:gd name="connsiteX0" fmla="*/ 371994 w 912866"/>
              <a:gd name="connsiteY0" fmla="*/ 432573 h 885137"/>
              <a:gd name="connsiteX1" fmla="*/ 116089 w 912866"/>
              <a:gd name="connsiteY1" fmla="*/ 885005 h 885137"/>
              <a:gd name="connsiteX2" fmla="*/ 206511 w 912866"/>
              <a:gd name="connsiteY2" fmla="*/ 884037 h 885137"/>
              <a:gd name="connsiteX3" fmla="*/ 475821 w 912866"/>
              <a:gd name="connsiteY3" fmla="*/ 530952 h 885137"/>
              <a:gd name="connsiteX4" fmla="*/ 911774 w 912866"/>
              <a:gd name="connsiteY4" fmla="*/ 0 h 885137"/>
              <a:gd name="connsiteX5" fmla="*/ 371994 w 912866"/>
              <a:gd name="connsiteY5" fmla="*/ 432573 h 885137"/>
              <a:gd name="connsiteX0" fmla="*/ 255905 w 796777"/>
              <a:gd name="connsiteY0" fmla="*/ 432573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55905 w 796777"/>
              <a:gd name="connsiteY5" fmla="*/ 432573 h 885137"/>
              <a:gd name="connsiteX0" fmla="*/ 255905 w 796777"/>
              <a:gd name="connsiteY0" fmla="*/ 432573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55905 w 796777"/>
              <a:gd name="connsiteY5" fmla="*/ 432573 h 885137"/>
              <a:gd name="connsiteX0" fmla="*/ 255905 w 796621"/>
              <a:gd name="connsiteY0" fmla="*/ 432573 h 885137"/>
              <a:gd name="connsiteX1" fmla="*/ 0 w 796621"/>
              <a:gd name="connsiteY1" fmla="*/ 885005 h 885137"/>
              <a:gd name="connsiteX2" fmla="*/ 90422 w 796621"/>
              <a:gd name="connsiteY2" fmla="*/ 884037 h 885137"/>
              <a:gd name="connsiteX3" fmla="*/ 300087 w 796621"/>
              <a:gd name="connsiteY3" fmla="*/ 416802 h 885137"/>
              <a:gd name="connsiteX4" fmla="*/ 795685 w 796621"/>
              <a:gd name="connsiteY4" fmla="*/ 0 h 885137"/>
              <a:gd name="connsiteX5" fmla="*/ 255905 w 796621"/>
              <a:gd name="connsiteY5" fmla="*/ 432573 h 885137"/>
              <a:gd name="connsiteX0" fmla="*/ 255905 w 795685"/>
              <a:gd name="connsiteY0" fmla="*/ 432573 h 885137"/>
              <a:gd name="connsiteX1" fmla="*/ 0 w 795685"/>
              <a:gd name="connsiteY1" fmla="*/ 885005 h 885137"/>
              <a:gd name="connsiteX2" fmla="*/ 90422 w 795685"/>
              <a:gd name="connsiteY2" fmla="*/ 884037 h 885137"/>
              <a:gd name="connsiteX3" fmla="*/ 300087 w 795685"/>
              <a:gd name="connsiteY3" fmla="*/ 416802 h 885137"/>
              <a:gd name="connsiteX4" fmla="*/ 795685 w 795685"/>
              <a:gd name="connsiteY4" fmla="*/ 0 h 885137"/>
              <a:gd name="connsiteX5" fmla="*/ 255905 w 795685"/>
              <a:gd name="connsiteY5" fmla="*/ 432573 h 88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685" h="885137">
                <a:moveTo>
                  <a:pt x="255905" y="432573"/>
                </a:moveTo>
                <a:cubicBezTo>
                  <a:pt x="166921" y="537396"/>
                  <a:pt x="22058" y="815417"/>
                  <a:pt x="0" y="885005"/>
                </a:cubicBezTo>
                <a:cubicBezTo>
                  <a:pt x="17991" y="885711"/>
                  <a:pt x="72431" y="883331"/>
                  <a:pt x="90422" y="884037"/>
                </a:cubicBezTo>
                <a:cubicBezTo>
                  <a:pt x="134343" y="714704"/>
                  <a:pt x="182543" y="564141"/>
                  <a:pt x="300087" y="416802"/>
                </a:cubicBezTo>
                <a:cubicBezTo>
                  <a:pt x="417631" y="269463"/>
                  <a:pt x="662773" y="97125"/>
                  <a:pt x="795685" y="0"/>
                </a:cubicBezTo>
                <a:cubicBezTo>
                  <a:pt x="486352" y="178338"/>
                  <a:pt x="344889" y="327750"/>
                  <a:pt x="255905" y="432573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907F10-CC95-D4B6-3385-8CEC75B03A89}"/>
              </a:ext>
            </a:extLst>
          </p:cNvPr>
          <p:cNvCxnSpPr>
            <a:cxnSpLocks/>
          </p:cNvCxnSpPr>
          <p:nvPr/>
        </p:nvCxnSpPr>
        <p:spPr>
          <a:xfrm flipV="1">
            <a:off x="1809750" y="3722833"/>
            <a:ext cx="6126548" cy="184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82A0CD-64FA-952E-F538-EF7F5183782B}"/>
              </a:ext>
            </a:extLst>
          </p:cNvPr>
          <p:cNvCxnSpPr>
            <a:cxnSpLocks/>
          </p:cNvCxnSpPr>
          <p:nvPr/>
        </p:nvCxnSpPr>
        <p:spPr>
          <a:xfrm>
            <a:off x="2491740" y="3100876"/>
            <a:ext cx="544455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674E43B-0279-584B-3DD7-5355D237131F}"/>
              </a:ext>
            </a:extLst>
          </p:cNvPr>
          <p:cNvSpPr/>
          <p:nvPr/>
        </p:nvSpPr>
        <p:spPr>
          <a:xfrm>
            <a:off x="4622720" y="3750036"/>
            <a:ext cx="470066" cy="208119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AAFEFF5-5222-720D-5752-F9889E0E81C9}"/>
              </a:ext>
            </a:extLst>
          </p:cNvPr>
          <p:cNvSpPr/>
          <p:nvPr/>
        </p:nvSpPr>
        <p:spPr>
          <a:xfrm>
            <a:off x="4896521" y="3122605"/>
            <a:ext cx="470066" cy="208119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491C5-9640-03E8-894D-973C7234C1C6}"/>
              </a:ext>
            </a:extLst>
          </p:cNvPr>
          <p:cNvSpPr txBox="1"/>
          <p:nvPr/>
        </p:nvSpPr>
        <p:spPr>
          <a:xfrm>
            <a:off x="4251777" y="3280051"/>
            <a:ext cx="1346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Unitary map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B4C3EF9-C2C3-7F31-1FB4-19BF8691F829}"/>
              </a:ext>
            </a:extLst>
          </p:cNvPr>
          <p:cNvSpPr/>
          <p:nvPr/>
        </p:nvSpPr>
        <p:spPr>
          <a:xfrm rot="5400000" flipV="1">
            <a:off x="7889956" y="3269555"/>
            <a:ext cx="603845" cy="297017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E3A6B8-D28E-D951-896C-3779C2C29092}"/>
                  </a:ext>
                </a:extLst>
              </p:cNvPr>
              <p:cNvSpPr txBox="1"/>
              <p:nvPr/>
            </p:nvSpPr>
            <p:spPr>
              <a:xfrm>
                <a:off x="8416240" y="3094897"/>
                <a:ext cx="16255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Entropy</a:t>
                </a:r>
                <a:br>
                  <a:rPr lang="en-US" dirty="0">
                    <a:solidFill>
                      <a:srgbClr val="7030A0"/>
                    </a:solidFill>
                  </a:rPr>
                </a:br>
                <a:r>
                  <a:rPr lang="en-US" dirty="0">
                    <a:solidFill>
                      <a:srgbClr val="7030A0"/>
                    </a:solidFill>
                  </a:rPr>
                  <a:t>increasing map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E3A6B8-D28E-D951-896C-3779C2C2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240" y="3094897"/>
                <a:ext cx="1625510" cy="646331"/>
              </a:xfrm>
              <a:prstGeom prst="rect">
                <a:avLst/>
              </a:prstGeom>
              <a:blipFill>
                <a:blip r:embed="rId3"/>
                <a:stretch>
                  <a:fillRect l="-3383" t="-5660" r="-112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8F347-255E-FCB7-58F3-996136CB9E7A}"/>
                  </a:ext>
                </a:extLst>
              </p:cNvPr>
              <p:cNvSpPr txBox="1"/>
              <p:nvPr/>
            </p:nvSpPr>
            <p:spPr>
              <a:xfrm>
                <a:off x="403860" y="114401"/>
                <a:ext cx="11536876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Looking for a map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that increases entropy of all mixed states,</a:t>
                </a:r>
                <a:br>
                  <a:rPr lang="en-US" sz="3200" dirty="0"/>
                </a:br>
                <a:r>
                  <a:rPr lang="en-US" sz="3200" dirty="0"/>
                  <a:t>such that every level set of entropy maps to another level set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8F347-255E-FCB7-58F3-996136CB9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" y="114401"/>
                <a:ext cx="11536876" cy="1077218"/>
              </a:xfrm>
              <a:prstGeom prst="rect">
                <a:avLst/>
              </a:prstGeom>
              <a:blipFill>
                <a:blip r:embed="rId4"/>
                <a:stretch>
                  <a:fillRect l="-1321" t="-681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37C191-17CF-6BAF-4BD5-13FFBB81486C}"/>
                  </a:ext>
                </a:extLst>
              </p:cNvPr>
              <p:cNvSpPr txBox="1"/>
              <p:nvPr/>
            </p:nvSpPr>
            <p:spPr>
              <a:xfrm>
                <a:off x="8608898" y="1435394"/>
                <a:ext cx="330327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Unitary trans. must be</a:t>
                </a:r>
                <a:b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mapped to unitary trans.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37C191-17CF-6BAF-4BD5-13FFBB81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898" y="1435394"/>
                <a:ext cx="3303277" cy="830997"/>
              </a:xfrm>
              <a:prstGeom prst="rect">
                <a:avLst/>
              </a:prstGeom>
              <a:blipFill>
                <a:blip r:embed="rId5"/>
                <a:stretch>
                  <a:fillRect l="-2768" t="-5839" r="-1845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9EF397-8DB3-956B-3379-710AFF71DC43}"/>
                  </a:ext>
                </a:extLst>
              </p:cNvPr>
              <p:cNvSpPr txBox="1"/>
              <p:nvPr/>
            </p:nvSpPr>
            <p:spPr>
              <a:xfrm>
                <a:off x="787410" y="1264043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9EF397-8DB3-956B-3379-710AFF71D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" y="1264043"/>
                <a:ext cx="32284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0BC4A3-9AD5-B32A-4040-5D12CB976421}"/>
                  </a:ext>
                </a:extLst>
              </p:cNvPr>
              <p:cNvSpPr txBox="1"/>
              <p:nvPr/>
            </p:nvSpPr>
            <p:spPr>
              <a:xfrm>
                <a:off x="7912468" y="4416184"/>
                <a:ext cx="590546" cy="465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0BC4A3-9AD5-B32A-4040-5D12CB976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468" y="4416184"/>
                <a:ext cx="590546" cy="465256"/>
              </a:xfrm>
              <a:prstGeom prst="rect">
                <a:avLst/>
              </a:prstGeom>
              <a:blipFill>
                <a:blip r:embed="rId7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6608F-72EE-570E-4ED6-3A6A749F00A4}"/>
                  </a:ext>
                </a:extLst>
              </p:cNvPr>
              <p:cNvSpPr txBox="1"/>
              <p:nvPr/>
            </p:nvSpPr>
            <p:spPr>
              <a:xfrm>
                <a:off x="3497756" y="5785474"/>
                <a:ext cx="23260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ℏ⇒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6608F-72EE-570E-4ED6-3A6A749F0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756" y="5785474"/>
                <a:ext cx="232608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EE0C75-7A03-35C4-3328-DD857B7B6582}"/>
                  </a:ext>
                </a:extLst>
              </p:cNvPr>
              <p:cNvSpPr txBox="1"/>
              <p:nvPr/>
            </p:nvSpPr>
            <p:spPr>
              <a:xfrm>
                <a:off x="5598556" y="5757854"/>
                <a:ext cx="35636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EE0C75-7A03-35C4-3328-DD857B7B6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556" y="5757854"/>
                <a:ext cx="356366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1C6F8D5-9472-E8D9-97F3-A6B7067CFF11}"/>
              </a:ext>
            </a:extLst>
          </p:cNvPr>
          <p:cNvSpPr txBox="1"/>
          <p:nvPr/>
        </p:nvSpPr>
        <p:spPr>
          <a:xfrm>
            <a:off x="469900" y="6235700"/>
            <a:ext cx="345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Physica Scripta </a:t>
            </a:r>
            <a:r>
              <a:rPr lang="en-US" dirty="0"/>
              <a:t>101</a:t>
            </a:r>
            <a:r>
              <a:rPr lang="en-US" b="1" dirty="0"/>
              <a:t>,</a:t>
            </a:r>
            <a:r>
              <a:rPr lang="en-US" dirty="0"/>
              <a:t> 065105 (2026)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AA616-DC51-67D4-0152-8EE1F733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70122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B37AA7-10AB-42FD-CC89-E36C59252C43}"/>
              </a:ext>
            </a:extLst>
          </p:cNvPr>
          <p:cNvSpPr txBox="1"/>
          <p:nvPr/>
        </p:nvSpPr>
        <p:spPr>
          <a:xfrm>
            <a:off x="327047" y="395270"/>
            <a:ext cx="11518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Another perspective: move the pure states to minus infinite entropy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1B0AE-75B0-1148-AE23-97628505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342" y="1096774"/>
            <a:ext cx="5079371" cy="2655584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74BDB52F-FC01-AE4F-9232-A25EA0479A29}"/>
              </a:ext>
            </a:extLst>
          </p:cNvPr>
          <p:cNvSpPr/>
          <p:nvPr/>
        </p:nvSpPr>
        <p:spPr>
          <a:xfrm>
            <a:off x="6483178" y="2010032"/>
            <a:ext cx="398493" cy="116153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58A58-C00E-F17B-6D98-1CC27672A6D5}"/>
              </a:ext>
            </a:extLst>
          </p:cNvPr>
          <p:cNvSpPr txBox="1"/>
          <p:nvPr/>
        </p:nvSpPr>
        <p:spPr>
          <a:xfrm>
            <a:off x="239102" y="2210062"/>
            <a:ext cx="328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Redefine original space such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2607D6-4C7C-95DD-DA4E-CFB40CF43918}"/>
                  </a:ext>
                </a:extLst>
              </p:cNvPr>
              <p:cNvSpPr txBox="1"/>
              <p:nvPr/>
            </p:nvSpPr>
            <p:spPr>
              <a:xfrm>
                <a:off x="237050" y="2579394"/>
                <a:ext cx="1919436" cy="910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2607D6-4C7C-95DD-DA4E-CFB40CF43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50" y="2579394"/>
                <a:ext cx="1919436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84C02E-FAD5-E33D-78F0-3D8AFD038B1C}"/>
                  </a:ext>
                </a:extLst>
              </p:cNvPr>
              <p:cNvSpPr txBox="1"/>
              <p:nvPr/>
            </p:nvSpPr>
            <p:spPr>
              <a:xfrm>
                <a:off x="2270045" y="2710487"/>
                <a:ext cx="3411383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84C02E-FAD5-E33D-78F0-3D8AFD03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045" y="2710487"/>
                <a:ext cx="3411383" cy="648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B2E387-B588-AF81-6B18-E9F46BB43A68}"/>
              </a:ext>
            </a:extLst>
          </p:cNvPr>
          <p:cNvSpPr txBox="1"/>
          <p:nvPr/>
        </p:nvSpPr>
        <p:spPr>
          <a:xfrm>
            <a:off x="239102" y="1094299"/>
            <a:ext cx="111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Instead 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BCBA59-413C-5D8A-8EA6-5FFDFF306601}"/>
                  </a:ext>
                </a:extLst>
              </p:cNvPr>
              <p:cNvSpPr txBox="1"/>
              <p:nvPr/>
            </p:nvSpPr>
            <p:spPr>
              <a:xfrm>
                <a:off x="239102" y="1525323"/>
                <a:ext cx="19153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BCBA59-413C-5D8A-8EA6-5FFDFF306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02" y="1525323"/>
                <a:ext cx="191533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87852B-EBBE-9868-91F3-93E066901258}"/>
                  </a:ext>
                </a:extLst>
              </p:cNvPr>
              <p:cNvSpPr txBox="1"/>
              <p:nvPr/>
            </p:nvSpPr>
            <p:spPr>
              <a:xfrm>
                <a:off x="2270045" y="1494545"/>
                <a:ext cx="35636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87852B-EBBE-9868-91F3-93E066901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045" y="1494545"/>
                <a:ext cx="356366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3C52F7-DB2B-ED71-E8E2-F5E36850F402}"/>
              </a:ext>
            </a:extLst>
          </p:cNvPr>
          <p:cNvCxnSpPr>
            <a:cxnSpLocks/>
          </p:cNvCxnSpPr>
          <p:nvPr/>
        </p:nvCxnSpPr>
        <p:spPr>
          <a:xfrm flipH="1" flipV="1">
            <a:off x="2075935" y="3358678"/>
            <a:ext cx="474257" cy="384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A592CE-21EC-CBFF-2620-2F32B5725CC4}"/>
                  </a:ext>
                </a:extLst>
              </p:cNvPr>
              <p:cNvSpPr txBox="1"/>
              <p:nvPr/>
            </p:nvSpPr>
            <p:spPr>
              <a:xfrm>
                <a:off x="1936360" y="3641351"/>
                <a:ext cx="1861856" cy="496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 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A592CE-21EC-CBFF-2620-2F32B5725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360" y="3641351"/>
                <a:ext cx="1861856" cy="496611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012D83-7F43-6496-604B-AD6DE07288B7}"/>
                  </a:ext>
                </a:extLst>
              </p:cNvPr>
              <p:cNvSpPr txBox="1"/>
              <p:nvPr/>
            </p:nvSpPr>
            <p:spPr>
              <a:xfrm>
                <a:off x="426743" y="4443766"/>
                <a:ext cx="891522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Mathematically equivalent to lowering the entropy of a pure state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ℏ→0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(group contraction)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012D83-7F43-6496-604B-AD6DE0728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43" y="4443766"/>
                <a:ext cx="8915226" cy="1077218"/>
              </a:xfrm>
              <a:prstGeom prst="rect">
                <a:avLst/>
              </a:prstGeom>
              <a:blipFill>
                <a:blip r:embed="rId8"/>
                <a:stretch>
                  <a:fillRect l="-1710" t="-7345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92C70-B180-5094-4CD3-0ACE0FED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09D1E-3F92-8815-F828-63EE81DC0B86}"/>
              </a:ext>
            </a:extLst>
          </p:cNvPr>
          <p:cNvSpPr txBox="1"/>
          <p:nvPr/>
        </p:nvSpPr>
        <p:spPr>
          <a:xfrm>
            <a:off x="469900" y="6235700"/>
            <a:ext cx="345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Physica Scripta </a:t>
            </a:r>
            <a:r>
              <a:rPr lang="en-US" dirty="0"/>
              <a:t>101</a:t>
            </a:r>
            <a:r>
              <a:rPr lang="en-US" b="1" dirty="0"/>
              <a:t>,</a:t>
            </a:r>
            <a:r>
              <a:rPr lang="en-US" dirty="0"/>
              <a:t> 065105 (2026)</a:t>
            </a:r>
          </a:p>
        </p:txBody>
      </p:sp>
    </p:spTree>
    <p:extLst>
      <p:ext uri="{BB962C8B-B14F-4D97-AF65-F5344CB8AC3E}">
        <p14:creationId xmlns:p14="http://schemas.microsoft.com/office/powerpoint/2010/main" val="60074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79F4-20D7-78CC-70C9-E497432A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9687F3-B712-EF84-E4BC-405B97708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28539"/>
              </p:ext>
            </p:extLst>
          </p:nvPr>
        </p:nvGraphicFramePr>
        <p:xfrm>
          <a:off x="1526967" y="925636"/>
          <a:ext cx="6644788" cy="3298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2394">
                  <a:extLst>
                    <a:ext uri="{9D8B030D-6E8A-4147-A177-3AD203B41FA5}">
                      <a16:colId xmlns:a16="http://schemas.microsoft.com/office/drawing/2014/main" val="318984211"/>
                    </a:ext>
                  </a:extLst>
                </a:gridCol>
                <a:gridCol w="3322394">
                  <a:extLst>
                    <a:ext uri="{9D8B030D-6E8A-4147-A177-3AD203B41FA5}">
                      <a16:colId xmlns:a16="http://schemas.microsoft.com/office/drawing/2014/main" val="4065757525"/>
                    </a:ext>
                  </a:extLst>
                </a:gridCol>
              </a:tblGrid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Classical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Relativistic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2816"/>
                  </a:ext>
                </a:extLst>
              </a:tr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Quantum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Quantum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Field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478271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132DCF-3983-A5CB-62F2-E824B2AC52F5}"/>
              </a:ext>
            </a:extLst>
          </p:cNvPr>
          <p:cNvCxnSpPr/>
          <p:nvPr/>
        </p:nvCxnSpPr>
        <p:spPr>
          <a:xfrm>
            <a:off x="1530674" y="626285"/>
            <a:ext cx="6621057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749DCD-D9A5-EA68-04ED-F7B900D96CB9}"/>
              </a:ext>
            </a:extLst>
          </p:cNvPr>
          <p:cNvSpPr txBox="1"/>
          <p:nvPr/>
        </p:nvSpPr>
        <p:spPr>
          <a:xfrm>
            <a:off x="4466884" y="22196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1FA267-63DA-4312-6AF5-216A42B626EC}"/>
              </a:ext>
            </a:extLst>
          </p:cNvPr>
          <p:cNvCxnSpPr>
            <a:cxnSpLocks/>
          </p:cNvCxnSpPr>
          <p:nvPr/>
        </p:nvCxnSpPr>
        <p:spPr>
          <a:xfrm flipV="1">
            <a:off x="1216976" y="918962"/>
            <a:ext cx="0" cy="3298182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55AA77-ADC7-CC51-72C4-A30641F7ED1A}"/>
              </a:ext>
            </a:extLst>
          </p:cNvPr>
          <p:cNvSpPr txBox="1"/>
          <p:nvPr/>
        </p:nvSpPr>
        <p:spPr>
          <a:xfrm rot="16200000">
            <a:off x="448656" y="2390060"/>
            <a:ext cx="91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B359C-8913-CDC5-18E9-DEDB670CDF6F}"/>
                  </a:ext>
                </a:extLst>
              </p:cNvPr>
              <p:cNvSpPr txBox="1"/>
              <p:nvPr/>
            </p:nvSpPr>
            <p:spPr>
              <a:xfrm>
                <a:off x="1526967" y="336584"/>
                <a:ext cx="7303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B359C-8913-CDC5-18E9-DEDB670CD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967" y="336584"/>
                <a:ext cx="730328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FBB8F-AFAC-7E40-22B3-F24298CB56DD}"/>
                  </a:ext>
                </a:extLst>
              </p:cNvPr>
              <p:cNvSpPr txBox="1"/>
              <p:nvPr/>
            </p:nvSpPr>
            <p:spPr>
              <a:xfrm rot="16200000">
                <a:off x="604052" y="1084680"/>
                <a:ext cx="6982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ℏ→0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FBB8F-AFAC-7E40-22B3-F24298CB5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04052" y="1084680"/>
                <a:ext cx="698204" cy="276999"/>
              </a:xfrm>
              <a:prstGeom prst="rect">
                <a:avLst/>
              </a:prstGeom>
              <a:blipFill>
                <a:blip r:embed="rId3"/>
                <a:stretch>
                  <a:fillRect l="-2222" r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ACC577C-D954-BFF2-7405-1BFAAC91134F}"/>
              </a:ext>
            </a:extLst>
          </p:cNvPr>
          <p:cNvSpPr txBox="1"/>
          <p:nvPr/>
        </p:nvSpPr>
        <p:spPr>
          <a:xfrm>
            <a:off x="1831767" y="4970070"/>
            <a:ext cx="612340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dirty="0">
                <a:solidFill>
                  <a:schemeClr val="accent6">
                    <a:lumMod val="75000"/>
                  </a:schemeClr>
                </a:solidFill>
              </a:rPr>
              <a:t>No-mechanism limit</a:t>
            </a:r>
            <a:br>
              <a:rPr lang="en-US" sz="3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800" dirty="0">
                <a:solidFill>
                  <a:schemeClr val="accent6">
                    <a:lumMod val="75000"/>
                  </a:schemeClr>
                </a:solidFill>
              </a:rPr>
              <a:t>(same as non-relativistic limit)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80330-404F-0E02-FCB7-F4412675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Christine Aidala - University of Michigan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3747D-C521-B576-6A45-FFE42839D0E9}"/>
              </a:ext>
            </a:extLst>
          </p:cNvPr>
          <p:cNvSpPr txBox="1"/>
          <p:nvPr/>
        </p:nvSpPr>
        <p:spPr>
          <a:xfrm>
            <a:off x="469900" y="6235700"/>
            <a:ext cx="345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Physica Scripta </a:t>
            </a:r>
            <a:r>
              <a:rPr lang="en-US" dirty="0"/>
              <a:t>101</a:t>
            </a:r>
            <a:r>
              <a:rPr lang="en-US" b="1" dirty="0"/>
              <a:t>,</a:t>
            </a:r>
            <a:r>
              <a:rPr lang="en-US" dirty="0"/>
              <a:t> 065105 (2026)</a:t>
            </a:r>
          </a:p>
        </p:txBody>
      </p:sp>
    </p:spTree>
    <p:extLst>
      <p:ext uri="{BB962C8B-B14F-4D97-AF65-F5344CB8AC3E}">
        <p14:creationId xmlns:p14="http://schemas.microsoft.com/office/powerpoint/2010/main" val="845389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C59CC-2D56-4592-CB42-3A62A4936EF5}"/>
              </a:ext>
            </a:extLst>
          </p:cNvPr>
          <p:cNvSpPr txBox="1"/>
          <p:nvPr/>
        </p:nvSpPr>
        <p:spPr>
          <a:xfrm>
            <a:off x="1090705" y="3785228"/>
            <a:ext cx="77592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Quantizing a classical theory means putting a lower bound on the entropy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087FE-FE9C-0ECA-404A-F7C9C3558A53}"/>
              </a:ext>
            </a:extLst>
          </p:cNvPr>
          <p:cNvSpPr txBox="1"/>
          <p:nvPr/>
        </p:nvSpPr>
        <p:spPr>
          <a:xfrm>
            <a:off x="4420974" y="361012"/>
            <a:ext cx="69731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Dirac’s correspondence principle: give me a theory with an entropic lower bound that recovers the classical one at high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42283-72CD-E517-4B16-4025C6BBFF0D}"/>
              </a:ext>
            </a:extLst>
          </p:cNvPr>
          <p:cNvSpPr txBox="1"/>
          <p:nvPr/>
        </p:nvSpPr>
        <p:spPr>
          <a:xfrm>
            <a:off x="3342041" y="1943941"/>
            <a:ext cx="5507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Only one way to do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72C512-A133-E66B-AFE3-5379AACC31B2}"/>
                  </a:ext>
                </a:extLst>
              </p:cNvPr>
              <p:cNvSpPr txBox="1"/>
              <p:nvPr/>
            </p:nvSpPr>
            <p:spPr>
              <a:xfrm>
                <a:off x="458574" y="452264"/>
                <a:ext cx="3337388" cy="1168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72C512-A133-E66B-AFE3-5379AACC3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74" y="452264"/>
                <a:ext cx="3337388" cy="1168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6D4C64C-F13C-9003-E996-F0C9FCF46043}"/>
              </a:ext>
            </a:extLst>
          </p:cNvPr>
          <p:cNvSpPr txBox="1"/>
          <p:nvPr/>
        </p:nvSpPr>
        <p:spPr>
          <a:xfrm>
            <a:off x="1677643" y="2835904"/>
            <a:ext cx="8836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Moyal bracket is the unique one-parameter Lie-algebraic deformation of the Poisson bracket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24D0D-8EAF-146E-88C5-1CDD8E33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0172A-91CB-BDA1-B11D-DDCD5587FFB3}"/>
              </a:ext>
            </a:extLst>
          </p:cNvPr>
          <p:cNvSpPr txBox="1"/>
          <p:nvPr/>
        </p:nvSpPr>
        <p:spPr>
          <a:xfrm>
            <a:off x="469900" y="6235700"/>
            <a:ext cx="345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Physica Scripta </a:t>
            </a:r>
            <a:r>
              <a:rPr lang="en-US" dirty="0"/>
              <a:t>101</a:t>
            </a:r>
            <a:r>
              <a:rPr lang="en-US" b="1" dirty="0"/>
              <a:t>,</a:t>
            </a:r>
            <a:r>
              <a:rPr lang="en-US" dirty="0"/>
              <a:t> 065105 (2026)</a:t>
            </a:r>
          </a:p>
        </p:txBody>
      </p:sp>
    </p:spTree>
    <p:extLst>
      <p:ext uri="{BB962C8B-B14F-4D97-AF65-F5344CB8AC3E}">
        <p14:creationId xmlns:p14="http://schemas.microsoft.com/office/powerpoint/2010/main" val="3453663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A89BACF-A7DF-6C3C-4038-D106BCD26AE4}"/>
              </a:ext>
            </a:extLst>
          </p:cNvPr>
          <p:cNvGrpSpPr/>
          <p:nvPr/>
        </p:nvGrpSpPr>
        <p:grpSpPr>
          <a:xfrm>
            <a:off x="388835" y="1454253"/>
            <a:ext cx="6320152" cy="1759053"/>
            <a:chOff x="329683" y="1172919"/>
            <a:chExt cx="6320152" cy="17590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D5BECC-483A-F696-4DF8-99C549998F13}"/>
                </a:ext>
              </a:extLst>
            </p:cNvPr>
            <p:cNvSpPr/>
            <p:nvPr/>
          </p:nvSpPr>
          <p:spPr>
            <a:xfrm>
              <a:off x="3208122" y="1232661"/>
              <a:ext cx="1816402" cy="4919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Standard probability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272639-0F20-91B8-8B5A-FA6235E7A889}"/>
                </a:ext>
              </a:extLst>
            </p:cNvPr>
            <p:cNvSpPr/>
            <p:nvPr/>
          </p:nvSpPr>
          <p:spPr>
            <a:xfrm>
              <a:off x="3208122" y="2440030"/>
              <a:ext cx="1816402" cy="4919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Information theory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4D651B-7AF1-A261-3EB0-3A789526E354}"/>
                </a:ext>
              </a:extLst>
            </p:cNvPr>
            <p:cNvSpPr/>
            <p:nvPr/>
          </p:nvSpPr>
          <p:spPr>
            <a:xfrm>
              <a:off x="329683" y="1791536"/>
              <a:ext cx="1883631" cy="4919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Symplectic</a:t>
              </a:r>
              <a:r>
                <a:rPr lang="en-US" sz="1600" dirty="0">
                  <a:solidFill>
                    <a:schemeClr val="tx1"/>
                  </a:solidFill>
                </a:rPr>
                <a:t> manifold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483119-87C6-E559-2C12-1A9D5008F747}"/>
                    </a:ext>
                  </a:extLst>
                </p:cNvPr>
                <p:cNvSpPr txBox="1"/>
                <p:nvPr/>
              </p:nvSpPr>
              <p:spPr>
                <a:xfrm>
                  <a:off x="626700" y="1339172"/>
                  <a:ext cx="1420389" cy="3781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483119-87C6-E559-2C12-1A9D5008F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00" y="1339172"/>
                  <a:ext cx="1420389" cy="378180"/>
                </a:xfrm>
                <a:prstGeom prst="rect">
                  <a:avLst/>
                </a:prstGeom>
                <a:blipFill>
                  <a:blip r:embed="rId2"/>
                  <a:stretch>
                    <a:fillRect t="-125806" r="-15451" b="-1822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010B80-DCF9-6E75-0364-616DB80C5E52}"/>
                    </a:ext>
                  </a:extLst>
                </p:cNvPr>
                <p:cNvSpPr txBox="1"/>
                <p:nvPr/>
              </p:nvSpPr>
              <p:spPr>
                <a:xfrm>
                  <a:off x="5049517" y="1172919"/>
                  <a:ext cx="1485963" cy="6551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010B80-DCF9-6E75-0364-616DB80C5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9517" y="1172919"/>
                  <a:ext cx="1485963" cy="65519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89734A-EAD1-64B0-F582-16CAC6011CE5}"/>
                    </a:ext>
                  </a:extLst>
                </p:cNvPr>
                <p:cNvSpPr txBox="1"/>
                <p:nvPr/>
              </p:nvSpPr>
              <p:spPr>
                <a:xfrm>
                  <a:off x="5016118" y="2563499"/>
                  <a:ext cx="16337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89734A-EAD1-64B0-F582-16CAC6011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118" y="2563499"/>
                  <a:ext cx="1633717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rrow: Left-Right 10">
              <a:extLst>
                <a:ext uri="{FF2B5EF4-FFF2-40B4-BE49-F238E27FC236}">
                  <a16:creationId xmlns:a16="http://schemas.microsoft.com/office/drawing/2014/main" id="{E79860D1-4404-ADD4-93CF-0710721199B3}"/>
                </a:ext>
              </a:extLst>
            </p:cNvPr>
            <p:cNvSpPr/>
            <p:nvPr/>
          </p:nvSpPr>
          <p:spPr>
            <a:xfrm rot="20292001">
              <a:off x="2387900" y="1610826"/>
              <a:ext cx="782062" cy="24596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801B8C52-4238-BD05-D5C2-32B45E11FE36}"/>
                </a:ext>
              </a:extLst>
            </p:cNvPr>
            <p:cNvSpPr/>
            <p:nvPr/>
          </p:nvSpPr>
          <p:spPr>
            <a:xfrm rot="1307999" flipH="1">
              <a:off x="2383246" y="2275654"/>
              <a:ext cx="782062" cy="24596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4884D414-2A35-83D0-0FAF-8566EB63FF97}"/>
                </a:ext>
              </a:extLst>
            </p:cNvPr>
            <p:cNvSpPr/>
            <p:nvPr/>
          </p:nvSpPr>
          <p:spPr>
            <a:xfrm rot="5400000">
              <a:off x="3884204" y="1924670"/>
              <a:ext cx="518807" cy="24596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B2C94F8-33CE-DC50-3C1D-56FEE7A6AEE3}"/>
                    </a:ext>
                  </a:extLst>
                </p:cNvPr>
                <p:cNvSpPr txBox="1"/>
                <p:nvPr/>
              </p:nvSpPr>
              <p:spPr>
                <a:xfrm>
                  <a:off x="434335" y="2503249"/>
                  <a:ext cx="1805120" cy="3760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a14:m>
                  <a:r>
                    <a:rPr lang="en-US" sz="1600" dirty="0"/>
                    <a:t> uniform over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B2C94F8-33CE-DC50-3C1D-56FEE7A6A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35" y="2503249"/>
                  <a:ext cx="1805120" cy="376052"/>
                </a:xfrm>
                <a:prstGeom prst="rect">
                  <a:avLst/>
                </a:prstGeom>
                <a:blipFill>
                  <a:blip r:embed="rId5"/>
                  <a:stretch>
                    <a:fillRect t="-4918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BCEE7F-3880-161A-3800-F65C654E477A}"/>
              </a:ext>
            </a:extLst>
          </p:cNvPr>
          <p:cNvGrpSpPr/>
          <p:nvPr/>
        </p:nvGrpSpPr>
        <p:grpSpPr>
          <a:xfrm>
            <a:off x="381886" y="3838049"/>
            <a:ext cx="7628885" cy="1716301"/>
            <a:chOff x="53340" y="3574508"/>
            <a:chExt cx="7628885" cy="171630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8EE642-2436-24BB-81AD-7FC2558F3EED}"/>
                </a:ext>
              </a:extLst>
            </p:cNvPr>
            <p:cNvSpPr/>
            <p:nvPr/>
          </p:nvSpPr>
          <p:spPr>
            <a:xfrm>
              <a:off x="3204418" y="4742624"/>
              <a:ext cx="1814751" cy="4914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Quantum information theory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F58B4EC-EDC5-EADD-FD3A-A58657E0BB03}"/>
                </a:ext>
              </a:extLst>
            </p:cNvPr>
            <p:cNvSpPr/>
            <p:nvPr/>
          </p:nvSpPr>
          <p:spPr>
            <a:xfrm>
              <a:off x="3203212" y="3605618"/>
              <a:ext cx="1814751" cy="4914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Quantum probability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1B417A-9E7E-7A87-44C6-1450BF3EB3E0}"/>
                </a:ext>
              </a:extLst>
            </p:cNvPr>
            <p:cNvSpPr/>
            <p:nvPr/>
          </p:nvSpPr>
          <p:spPr>
            <a:xfrm>
              <a:off x="53340" y="4090708"/>
              <a:ext cx="2158323" cy="4914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Projective Hilbert space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458D240-8F76-F41F-82B8-589E3659D082}"/>
                    </a:ext>
                  </a:extLst>
                </p:cNvPr>
                <p:cNvSpPr txBox="1"/>
                <p:nvPr/>
              </p:nvSpPr>
              <p:spPr>
                <a:xfrm>
                  <a:off x="916084" y="3574508"/>
                  <a:ext cx="496198" cy="2286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458D240-8F76-F41F-82B8-589E3659D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084" y="3574508"/>
                  <a:ext cx="496198" cy="228635"/>
                </a:xfrm>
                <a:prstGeom prst="rect">
                  <a:avLst/>
                </a:prstGeom>
                <a:blipFill>
                  <a:blip r:embed="rId6"/>
                  <a:stretch>
                    <a:fillRect r="-22222" b="-648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C62A96-BD75-E90E-06DA-FE0F717379DC}"/>
                    </a:ext>
                  </a:extLst>
                </p:cNvPr>
                <p:cNvSpPr txBox="1"/>
                <p:nvPr/>
              </p:nvSpPr>
              <p:spPr>
                <a:xfrm>
                  <a:off x="5396522" y="3647113"/>
                  <a:ext cx="1263122" cy="2286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C62A96-BD75-E90E-06DA-FE0F71737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6522" y="3647113"/>
                  <a:ext cx="1263122" cy="228635"/>
                </a:xfrm>
                <a:prstGeom prst="rect">
                  <a:avLst/>
                </a:prstGeom>
                <a:blipFill>
                  <a:blip r:embed="rId7"/>
                  <a:stretch>
                    <a:fillRect r="-39130" b="-648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096C43-B44B-C70A-C255-A09C8C46B44A}"/>
                    </a:ext>
                  </a:extLst>
                </p:cNvPr>
                <p:cNvSpPr txBox="1"/>
                <p:nvPr/>
              </p:nvSpPr>
              <p:spPr>
                <a:xfrm>
                  <a:off x="449293" y="4627024"/>
                  <a:ext cx="1101216" cy="373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096C43-B44B-C70A-C255-A09C8C46B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93" y="4627024"/>
                  <a:ext cx="1101216" cy="373697"/>
                </a:xfrm>
                <a:prstGeom prst="rect">
                  <a:avLst/>
                </a:prstGeom>
                <a:blipFill>
                  <a:blip r:embed="rId8"/>
                  <a:stretch>
                    <a:fillRect r="-32597" b="-360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30ED55-01D7-D25B-455A-9B01B0F89D04}"/>
                    </a:ext>
                  </a:extLst>
                </p:cNvPr>
                <p:cNvSpPr txBox="1"/>
                <p:nvPr/>
              </p:nvSpPr>
              <p:spPr>
                <a:xfrm>
                  <a:off x="5069267" y="4645248"/>
                  <a:ext cx="2612958" cy="645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30ED55-01D7-D25B-455A-9B01B0F89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9267" y="4645248"/>
                  <a:ext cx="2612958" cy="64556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row: Left-Right 23">
              <a:extLst>
                <a:ext uri="{FF2B5EF4-FFF2-40B4-BE49-F238E27FC236}">
                  <a16:creationId xmlns:a16="http://schemas.microsoft.com/office/drawing/2014/main" id="{39E07C9D-17B0-FC80-7244-719DEE92C6A9}"/>
                </a:ext>
              </a:extLst>
            </p:cNvPr>
            <p:cNvSpPr/>
            <p:nvPr/>
          </p:nvSpPr>
          <p:spPr>
            <a:xfrm rot="20292001">
              <a:off x="2371405" y="3983363"/>
              <a:ext cx="781351" cy="24574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" name="Arrow: Left-Right 24">
              <a:extLst>
                <a:ext uri="{FF2B5EF4-FFF2-40B4-BE49-F238E27FC236}">
                  <a16:creationId xmlns:a16="http://schemas.microsoft.com/office/drawing/2014/main" id="{0D35075C-1F83-12E7-BD2B-4E4C92B3427A}"/>
                </a:ext>
              </a:extLst>
            </p:cNvPr>
            <p:cNvSpPr/>
            <p:nvPr/>
          </p:nvSpPr>
          <p:spPr>
            <a:xfrm rot="1307999" flipH="1">
              <a:off x="2371406" y="4632840"/>
              <a:ext cx="781351" cy="24574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6" name="Arrow: Left-Right 25">
              <a:extLst>
                <a:ext uri="{FF2B5EF4-FFF2-40B4-BE49-F238E27FC236}">
                  <a16:creationId xmlns:a16="http://schemas.microsoft.com/office/drawing/2014/main" id="{CCC5EA0A-1EB1-4926-0843-B95DD2E002B5}"/>
                </a:ext>
              </a:extLst>
            </p:cNvPr>
            <p:cNvSpPr/>
            <p:nvPr/>
          </p:nvSpPr>
          <p:spPr>
            <a:xfrm rot="5400000">
              <a:off x="3878680" y="4279308"/>
              <a:ext cx="518336" cy="24574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79F16F0-78D7-ACB2-F960-1DD22F72E45A}"/>
              </a:ext>
            </a:extLst>
          </p:cNvPr>
          <p:cNvSpPr txBox="1"/>
          <p:nvPr/>
        </p:nvSpPr>
        <p:spPr>
          <a:xfrm>
            <a:off x="6945523" y="1440778"/>
            <a:ext cx="5043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Thermodynamics/Statistical mechanics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are not built on top of mechanics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62C4A5-B8C2-E977-B8C4-F634121AB508}"/>
              </a:ext>
            </a:extLst>
          </p:cNvPr>
          <p:cNvSpPr txBox="1"/>
          <p:nvPr/>
        </p:nvSpPr>
        <p:spPr>
          <a:xfrm>
            <a:off x="6945523" y="2339847"/>
            <a:ext cx="4965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Mechanics is the ideal case of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thermodynamics/statistical mechanics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A4C731-0BAD-05A7-A572-49A320868932}"/>
              </a:ext>
            </a:extLst>
          </p:cNvPr>
          <p:cNvSpPr txBox="1"/>
          <p:nvPr/>
        </p:nvSpPr>
        <p:spPr>
          <a:xfrm>
            <a:off x="7440670" y="215963"/>
            <a:ext cx="4208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geometric structures of both classical and quantum mechanics are equivalent to the entropic structure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338706-2560-7809-1A66-F1325E252525}"/>
              </a:ext>
            </a:extLst>
          </p:cNvPr>
          <p:cNvSpPr txBox="1"/>
          <p:nvPr/>
        </p:nvSpPr>
        <p:spPr>
          <a:xfrm>
            <a:off x="286718" y="240224"/>
            <a:ext cx="61938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Geometry is entropy!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7EE2EC-E0DA-34DA-600F-4F234AE7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91903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76FD77-4267-4B26-1F85-8E7BF84C79FF}"/>
              </a:ext>
            </a:extLst>
          </p:cNvPr>
          <p:cNvSpPr txBox="1"/>
          <p:nvPr/>
        </p:nvSpPr>
        <p:spPr>
          <a:xfrm>
            <a:off x="1239254" y="2001825"/>
            <a:ext cx="97134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Extracting principles/assumptions behind the laws gives us solid intuition that cuts across fields and leads to new insights/results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3E5D4-0A7C-41D9-B8ED-659C13713C97}"/>
              </a:ext>
            </a:extLst>
          </p:cNvPr>
          <p:cNvSpPr txBox="1"/>
          <p:nvPr/>
        </p:nvSpPr>
        <p:spPr>
          <a:xfrm>
            <a:off x="429699" y="3936819"/>
            <a:ext cx="8820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But: the only way to be sure we got all the concepts is to derive all the math from scratch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11B24-C0EE-17DE-A076-48E14FB07FC9}"/>
              </a:ext>
            </a:extLst>
          </p:cNvPr>
          <p:cNvSpPr txBox="1"/>
          <p:nvPr/>
        </p:nvSpPr>
        <p:spPr>
          <a:xfrm>
            <a:off x="341466" y="181046"/>
            <a:ext cx="115090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Reverse Physics tells us there are not many “independent concepts” in a physical theory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4847D-F588-25AF-9DCD-4A52B1FF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18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CDCF-7DCF-A403-9333-C023DDC9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DC91-8014-8D84-B6F2-686243AA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mathematics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C291F-4B80-A566-2023-0518D9F9D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A6060-56C3-F9E5-2FF9-24FEB2E6C261}"/>
              </a:ext>
            </a:extLst>
          </p:cNvPr>
          <p:cNvSpPr txBox="1"/>
          <p:nvPr/>
        </p:nvSpPr>
        <p:spPr>
          <a:xfrm>
            <a:off x="399262" y="5092266"/>
            <a:ext cx="2693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Assumptions of Physics</a:t>
            </a:r>
            <a:r>
              <a:rPr lang="en-US" sz="1600" i="1" dirty="0"/>
              <a:t>,</a:t>
            </a:r>
            <a:br>
              <a:rPr lang="en-US" sz="1600" i="1" dirty="0"/>
            </a:br>
            <a:r>
              <a:rPr lang="en-US" sz="1600" i="1" dirty="0"/>
              <a:t>Michigan Publishing </a:t>
            </a:r>
            <a:r>
              <a:rPr lang="en-US" sz="1600" dirty="0"/>
              <a:t>(v3 2025)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68229-D042-EE42-B534-DE102F78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114918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23DC-339D-64B6-219F-08A613F7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EDC7-3E0C-C6A1-6A05-5BB0D929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br>
              <a:rPr lang="en-US" dirty="0"/>
            </a:br>
            <a:r>
              <a:rPr lang="en-US" dirty="0"/>
              <a:t>unphysical mathematics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76F52-8177-DE5F-982C-A84C8D5C0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A522D-EE58-D2EF-9CB7-E10978BB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998346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552BF4-E5A7-8FD6-30B1-B3F36441BED5}"/>
              </a:ext>
            </a:extLst>
          </p:cNvPr>
          <p:cNvSpPr txBox="1"/>
          <p:nvPr/>
        </p:nvSpPr>
        <p:spPr>
          <a:xfrm>
            <a:off x="446886" y="391886"/>
            <a:ext cx="9463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 differential geometry, tangent vectors are derivations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D5863A-2765-4365-4F44-7680CC64489C}"/>
                  </a:ext>
                </a:extLst>
              </p:cNvPr>
              <p:cNvSpPr txBox="1"/>
              <p:nvPr/>
            </p:nvSpPr>
            <p:spPr>
              <a:xfrm>
                <a:off x="6397947" y="1367841"/>
                <a:ext cx="3346942" cy="889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D5863A-2765-4365-4F44-7680CC644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47" y="1367841"/>
                <a:ext cx="3346942" cy="889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0E3902-6CC7-9406-86C9-3E376A6AC89B}"/>
                  </a:ext>
                </a:extLst>
              </p:cNvPr>
              <p:cNvSpPr txBox="1"/>
              <p:nvPr/>
            </p:nvSpPr>
            <p:spPr>
              <a:xfrm>
                <a:off x="1454595" y="1383871"/>
                <a:ext cx="27475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0E3902-6CC7-9406-86C9-3E376A6AC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595" y="1383871"/>
                <a:ext cx="274754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031E483-3323-0064-30E2-290AE521D2BD}"/>
              </a:ext>
            </a:extLst>
          </p:cNvPr>
          <p:cNvCxnSpPr/>
          <p:nvPr/>
        </p:nvCxnSpPr>
        <p:spPr>
          <a:xfrm flipV="1">
            <a:off x="7605433" y="1960413"/>
            <a:ext cx="275007" cy="48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5AB57-829A-2AE0-9637-F22F40F8B389}"/>
              </a:ext>
            </a:extLst>
          </p:cNvPr>
          <p:cNvCxnSpPr/>
          <p:nvPr/>
        </p:nvCxnSpPr>
        <p:spPr>
          <a:xfrm flipH="1" flipV="1">
            <a:off x="8626888" y="2035056"/>
            <a:ext cx="488139" cy="52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15527B-F998-E630-8E53-8DE5A2751A48}"/>
              </a:ext>
            </a:extLst>
          </p:cNvPr>
          <p:cNvSpPr txBox="1"/>
          <p:nvPr/>
        </p:nvSpPr>
        <p:spPr>
          <a:xfrm>
            <a:off x="8870957" y="247773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06DEE-7E7F-F1D9-38F3-401E26AE7115}"/>
              </a:ext>
            </a:extLst>
          </p:cNvPr>
          <p:cNvSpPr txBox="1"/>
          <p:nvPr/>
        </p:nvSpPr>
        <p:spPr>
          <a:xfrm>
            <a:off x="6973304" y="2434801"/>
            <a:ext cx="126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C72460-63D6-8741-0918-177B5D159109}"/>
              </a:ext>
            </a:extLst>
          </p:cNvPr>
          <p:cNvSpPr txBox="1"/>
          <p:nvPr/>
        </p:nvSpPr>
        <p:spPr>
          <a:xfrm>
            <a:off x="1588518" y="2766871"/>
            <a:ext cx="2058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polar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E122D-23EB-9187-8DBF-B778333BE938}"/>
                  </a:ext>
                </a:extLst>
              </p:cNvPr>
              <p:cNvSpPr txBox="1"/>
              <p:nvPr/>
            </p:nvSpPr>
            <p:spPr>
              <a:xfrm>
                <a:off x="1243103" y="3125810"/>
                <a:ext cx="274934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???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E122D-23EB-9187-8DBF-B778333B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103" y="3125810"/>
                <a:ext cx="274934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DF55814-5564-17F7-BDE8-AEFB2CB7B59B}"/>
              </a:ext>
            </a:extLst>
          </p:cNvPr>
          <p:cNvSpPr txBox="1"/>
          <p:nvPr/>
        </p:nvSpPr>
        <p:spPr>
          <a:xfrm>
            <a:off x="1835348" y="4181468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phase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0CA9D2-6EAB-BBED-09C4-DD328AE94B60}"/>
                  </a:ext>
                </a:extLst>
              </p:cNvPr>
              <p:cNvSpPr txBox="1"/>
              <p:nvPr/>
            </p:nvSpPr>
            <p:spPr>
              <a:xfrm>
                <a:off x="1240282" y="4550800"/>
                <a:ext cx="2754985" cy="622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???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0CA9D2-6EAB-BBED-09C4-DD328AE94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282" y="4550800"/>
                <a:ext cx="2754985" cy="622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98DE057-03AF-F9D8-C342-7B9B7B93092F}"/>
              </a:ext>
            </a:extLst>
          </p:cNvPr>
          <p:cNvSpPr txBox="1"/>
          <p:nvPr/>
        </p:nvSpPr>
        <p:spPr>
          <a:xfrm>
            <a:off x="4635471" y="3756131"/>
            <a:ext cx="415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Doesn’t work with units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E413E5-89EA-51F1-BB8D-7EC818DDC6B4}"/>
              </a:ext>
            </a:extLst>
          </p:cNvPr>
          <p:cNvCxnSpPr/>
          <p:nvPr/>
        </p:nvCxnSpPr>
        <p:spPr>
          <a:xfrm flipH="1" flipV="1">
            <a:off x="3884481" y="3478845"/>
            <a:ext cx="605017" cy="501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D26819-29B2-C0BC-56C1-FFDDF2D53C5E}"/>
              </a:ext>
            </a:extLst>
          </p:cNvPr>
          <p:cNvCxnSpPr/>
          <p:nvPr/>
        </p:nvCxnSpPr>
        <p:spPr>
          <a:xfrm flipH="1">
            <a:off x="3925732" y="4181468"/>
            <a:ext cx="663058" cy="56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4690E7-9047-F244-0051-4DEE3E76E9F0}"/>
                  </a:ext>
                </a:extLst>
              </p:cNvPr>
              <p:cNvSpPr txBox="1"/>
              <p:nvPr/>
            </p:nvSpPr>
            <p:spPr>
              <a:xfrm>
                <a:off x="4653033" y="4462674"/>
                <a:ext cx="4298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Mathematically precise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⇏</m:t>
                    </m:r>
                  </m:oMath>
                </a14:m>
                <a:r>
                  <a:rPr lang="en-US" dirty="0"/>
                  <a:t> physically precise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4690E7-9047-F244-0051-4DEE3E76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033" y="4462674"/>
                <a:ext cx="4298293" cy="369332"/>
              </a:xfrm>
              <a:prstGeom prst="rect">
                <a:avLst/>
              </a:prstGeom>
              <a:blipFill>
                <a:blip r:embed="rId6"/>
                <a:stretch>
                  <a:fillRect l="-1135" t="-8197" r="-7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93CB10-472F-95E8-7B70-DCDBAA6B63D4}"/>
                  </a:ext>
                </a:extLst>
              </p:cNvPr>
              <p:cNvSpPr txBox="1"/>
              <p:nvPr/>
            </p:nvSpPr>
            <p:spPr>
              <a:xfrm>
                <a:off x="1463885" y="3702044"/>
                <a:ext cx="597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93CB10-472F-95E8-7B70-DCDBAA6B6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85" y="3702044"/>
                <a:ext cx="59708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E612D5-6A98-BB4D-C960-01C4964A9DE7}"/>
                  </a:ext>
                </a:extLst>
              </p:cNvPr>
              <p:cNvSpPr txBox="1"/>
              <p:nvPr/>
            </p:nvSpPr>
            <p:spPr>
              <a:xfrm>
                <a:off x="2229398" y="3702044"/>
                <a:ext cx="735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rad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E612D5-6A98-BB4D-C960-01C4964A9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398" y="3702044"/>
                <a:ext cx="73577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C02A1F-519F-CD68-665C-6DA08B6ED1EE}"/>
                  </a:ext>
                </a:extLst>
              </p:cNvPr>
              <p:cNvSpPr txBox="1"/>
              <p:nvPr/>
            </p:nvSpPr>
            <p:spPr>
              <a:xfrm>
                <a:off x="1580435" y="5173535"/>
                <a:ext cx="597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C02A1F-519F-CD68-665C-6DA08B6ED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435" y="5173535"/>
                <a:ext cx="59708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A01C84-8773-92B7-B0A7-8C4CF87322D4}"/>
                  </a:ext>
                </a:extLst>
              </p:cNvPr>
              <p:cNvSpPr txBox="1"/>
              <p:nvPr/>
            </p:nvSpPr>
            <p:spPr>
              <a:xfrm>
                <a:off x="2212914" y="5173535"/>
                <a:ext cx="1301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A01C84-8773-92B7-B0A7-8C4CF873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914" y="5173535"/>
                <a:ext cx="1301318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C417-9F66-00F5-5F7C-7D73FA21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73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21" grpId="0"/>
      <p:bldP spid="22" grpId="0"/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A55D80-4922-093D-0208-D8D894B3A59B}"/>
                  </a:ext>
                </a:extLst>
              </p:cNvPr>
              <p:cNvSpPr txBox="1"/>
              <p:nvPr/>
            </p:nvSpPr>
            <p:spPr>
              <a:xfrm>
                <a:off x="276161" y="307155"/>
                <a:ext cx="116294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Quantum states represented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A55D80-4922-093D-0208-D8D894B3A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1" y="307155"/>
                <a:ext cx="11629450" cy="646331"/>
              </a:xfrm>
              <a:prstGeom prst="rect">
                <a:avLst/>
              </a:prstGeom>
              <a:blipFill>
                <a:blip r:embed="rId2"/>
                <a:stretch>
                  <a:fillRect l="-1572" t="-13208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65DC6E-A175-0164-8030-C330DADB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377" y="1257734"/>
            <a:ext cx="3373018" cy="1600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9C690A-C693-99DF-4494-6065036FFB91}"/>
                  </a:ext>
                </a:extLst>
              </p:cNvPr>
              <p:cNvSpPr txBox="1"/>
              <p:nvPr/>
            </p:nvSpPr>
            <p:spPr>
              <a:xfrm>
                <a:off x="286389" y="1084113"/>
                <a:ext cx="1656223" cy="910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9C690A-C693-99DF-4494-6065036F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9" y="1084113"/>
                <a:ext cx="1656223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F4435B-D11B-0E4F-A1B8-F6AF7D008BC0}"/>
                  </a:ext>
                </a:extLst>
              </p:cNvPr>
              <p:cNvSpPr txBox="1"/>
              <p:nvPr/>
            </p:nvSpPr>
            <p:spPr>
              <a:xfrm>
                <a:off x="323514" y="2119465"/>
                <a:ext cx="158197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F4435B-D11B-0E4F-A1B8-F6AF7D008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14" y="2119465"/>
                <a:ext cx="1581972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A33EC2-C5F9-F348-2CB4-398F114E137E}"/>
                  </a:ext>
                </a:extLst>
              </p:cNvPr>
              <p:cNvSpPr txBox="1"/>
              <p:nvPr/>
            </p:nvSpPr>
            <p:spPr>
              <a:xfrm>
                <a:off x="2453682" y="1349538"/>
                <a:ext cx="153074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A33EC2-C5F9-F348-2CB4-398F114E1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682" y="1349538"/>
                <a:ext cx="1530740" cy="379848"/>
              </a:xfrm>
              <a:prstGeom prst="rect">
                <a:avLst/>
              </a:prstGeom>
              <a:blipFill>
                <a:blip r:embed="rId6"/>
                <a:stretch>
                  <a:fillRect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FDC59A-540A-B60A-8A8D-9E3AA61F6353}"/>
                  </a:ext>
                </a:extLst>
              </p:cNvPr>
              <p:cNvSpPr txBox="1"/>
              <p:nvPr/>
            </p:nvSpPr>
            <p:spPr>
              <a:xfrm>
                <a:off x="2532133" y="2128249"/>
                <a:ext cx="124559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FDC59A-540A-B60A-8A8D-9E3AA61F6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133" y="2128249"/>
                <a:ext cx="1245597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031C006-0B2C-F435-D65D-B984DB3899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4377" y="3401082"/>
            <a:ext cx="3373018" cy="13201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2C3448-A2EB-262C-169A-5F766DAEEC39}"/>
                  </a:ext>
                </a:extLst>
              </p:cNvPr>
              <p:cNvSpPr txBox="1"/>
              <p:nvPr/>
            </p:nvSpPr>
            <p:spPr>
              <a:xfrm>
                <a:off x="276161" y="3104277"/>
                <a:ext cx="2188100" cy="910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2C3448-A2EB-262C-169A-5F766DAEE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1" y="3104277"/>
                <a:ext cx="2188100" cy="910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68A95C-37EB-AE71-2B79-291BDFB3D235}"/>
                  </a:ext>
                </a:extLst>
              </p:cNvPr>
              <p:cNvSpPr txBox="1"/>
              <p:nvPr/>
            </p:nvSpPr>
            <p:spPr>
              <a:xfrm>
                <a:off x="315178" y="4152276"/>
                <a:ext cx="2113463" cy="660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68A95C-37EB-AE71-2B79-291BDFB3D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78" y="4152276"/>
                <a:ext cx="2113463" cy="6600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1125E0-FC0E-8F3A-0D08-DFE7154F3E26}"/>
                  </a:ext>
                </a:extLst>
              </p:cNvPr>
              <p:cNvSpPr txBox="1"/>
              <p:nvPr/>
            </p:nvSpPr>
            <p:spPr>
              <a:xfrm>
                <a:off x="2658129" y="3479278"/>
                <a:ext cx="1527469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1125E0-FC0E-8F3A-0D08-DFE7154F3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129" y="3479278"/>
                <a:ext cx="1527469" cy="379848"/>
              </a:xfrm>
              <a:prstGeom prst="rect">
                <a:avLst/>
              </a:prstGeom>
              <a:blipFill>
                <a:blip r:embed="rId11"/>
                <a:stretch>
                  <a:fillRect l="-398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BB1099-3720-2A1F-A31A-641D61F3754F}"/>
                  </a:ext>
                </a:extLst>
              </p:cNvPr>
              <p:cNvSpPr txBox="1"/>
              <p:nvPr/>
            </p:nvSpPr>
            <p:spPr>
              <a:xfrm>
                <a:off x="2609677" y="4321592"/>
                <a:ext cx="1319079" cy="399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BB1099-3720-2A1F-A31A-641D61F37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677" y="4321592"/>
                <a:ext cx="1319079" cy="399597"/>
              </a:xfrm>
              <a:prstGeom prst="rect">
                <a:avLst/>
              </a:prstGeom>
              <a:blipFill>
                <a:blip r:embed="rId12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932008-A7A3-D710-9F74-1846C5846B16}"/>
                  </a:ext>
                </a:extLst>
              </p:cNvPr>
              <p:cNvSpPr txBox="1"/>
              <p:nvPr/>
            </p:nvSpPr>
            <p:spPr>
              <a:xfrm>
                <a:off x="9094970" y="1084454"/>
                <a:ext cx="2038956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erf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932008-A7A3-D710-9F74-1846C5846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970" y="1084454"/>
                <a:ext cx="2038956" cy="5821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F3C640-8007-1F95-C9B8-4098ECEE83E9}"/>
                  </a:ext>
                </a:extLst>
              </p:cNvPr>
              <p:cNvSpPr txBox="1"/>
              <p:nvPr/>
            </p:nvSpPr>
            <p:spPr>
              <a:xfrm>
                <a:off x="9159892" y="1706060"/>
                <a:ext cx="1909112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F3C640-8007-1F95-C9B8-4098ECEE8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892" y="1706060"/>
                <a:ext cx="1909112" cy="6560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D07470A-1CC1-526E-2634-1B9DD2559229}"/>
              </a:ext>
            </a:extLst>
          </p:cNvPr>
          <p:cNvSpPr txBox="1"/>
          <p:nvPr/>
        </p:nvSpPr>
        <p:spPr>
          <a:xfrm>
            <a:off x="8824832" y="407296"/>
            <a:ext cx="2579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Different observers see</a:t>
            </a:r>
            <a:br>
              <a:rPr lang="en-US" dirty="0"/>
            </a:br>
            <a:r>
              <a:rPr lang="en-US" dirty="0"/>
              <a:t>finite/infinite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762F00-1B13-D7ED-5656-1EB2E2ED7EFF}"/>
                  </a:ext>
                </a:extLst>
              </p:cNvPr>
              <p:cNvSpPr txBox="1"/>
              <p:nvPr/>
            </p:nvSpPr>
            <p:spPr>
              <a:xfrm>
                <a:off x="8313058" y="3606920"/>
                <a:ext cx="3602781" cy="414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erf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762F00-1B13-D7ED-5656-1EB2E2ED7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058" y="3606920"/>
                <a:ext cx="3602781" cy="4147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98CC722-E6B7-5C34-49EC-FE5BD80B67A1}"/>
              </a:ext>
            </a:extLst>
          </p:cNvPr>
          <p:cNvSpPr txBox="1"/>
          <p:nvPr/>
        </p:nvSpPr>
        <p:spPr>
          <a:xfrm>
            <a:off x="8856155" y="2877071"/>
            <a:ext cx="2516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Expectation can have</a:t>
            </a:r>
            <a:br>
              <a:rPr lang="en-US" dirty="0"/>
            </a:br>
            <a:r>
              <a:rPr lang="en-US" dirty="0"/>
              <a:t>finite/infinite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FA2FD6-CB39-9E59-2AA3-1F56F3895C46}"/>
                  </a:ext>
                </a:extLst>
              </p:cNvPr>
              <p:cNvSpPr txBox="1"/>
              <p:nvPr/>
            </p:nvSpPr>
            <p:spPr>
              <a:xfrm>
                <a:off x="207409" y="5226324"/>
                <a:ext cx="91222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Every continuous linear operator defined on the whole Hilbert space is bounded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position/momentum/energy/number of particles are not defined on the whole Hilbert space!!!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FA2FD6-CB39-9E59-2AA3-1F56F3895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09" y="5226324"/>
                <a:ext cx="9122221" cy="1200329"/>
              </a:xfrm>
              <a:prstGeom prst="rect">
                <a:avLst/>
              </a:prstGeom>
              <a:blipFill>
                <a:blip r:embed="rId16"/>
                <a:stretch>
                  <a:fillRect l="-1003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9CC1DC8-1F41-7497-3026-78C9255728FE}"/>
              </a:ext>
            </a:extLst>
          </p:cNvPr>
          <p:cNvSpPr txBox="1"/>
          <p:nvPr/>
        </p:nvSpPr>
        <p:spPr>
          <a:xfrm>
            <a:off x="6868312" y="295167"/>
            <a:ext cx="829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Hilbert</a:t>
            </a:r>
            <a:br>
              <a:rPr lang="en-US" dirty="0"/>
            </a:br>
            <a:r>
              <a:rPr lang="en-US" dirty="0"/>
              <a:t>space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9E8312-D2D1-1ADC-8397-AD6725087C6C}"/>
              </a:ext>
            </a:extLst>
          </p:cNvPr>
          <p:cNvSpPr txBox="1"/>
          <p:nvPr/>
        </p:nvSpPr>
        <p:spPr>
          <a:xfrm>
            <a:off x="276161" y="6426653"/>
            <a:ext cx="4454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Quantum Stud.: Math. Found.</a:t>
            </a:r>
            <a:r>
              <a:rPr lang="en-US" dirty="0"/>
              <a:t> </a:t>
            </a:r>
            <a:r>
              <a:rPr lang="en-US" b="1" dirty="0"/>
              <a:t>12</a:t>
            </a:r>
            <a:r>
              <a:rPr lang="en-US" dirty="0"/>
              <a:t>, 13 (2025)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38E5631-36B2-39CD-C902-B0A89F34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05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2318ED-670A-B803-2911-FEF71BC033D3}"/>
              </a:ext>
            </a:extLst>
          </p:cNvPr>
          <p:cNvSpPr txBox="1"/>
          <p:nvPr/>
        </p:nvSpPr>
        <p:spPr>
          <a:xfrm>
            <a:off x="1815927" y="226388"/>
            <a:ext cx="25561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Physical world</a:t>
            </a:r>
            <a:br>
              <a:rPr lang="en-US" sz="3200" dirty="0"/>
            </a:br>
            <a:r>
              <a:rPr lang="en-US" sz="2000" dirty="0"/>
              <a:t>(informal system)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3DE40-CD9E-4C97-F26C-5E30A268D0C1}"/>
              </a:ext>
            </a:extLst>
          </p:cNvPr>
          <p:cNvSpPr txBox="1"/>
          <p:nvPr/>
        </p:nvSpPr>
        <p:spPr>
          <a:xfrm>
            <a:off x="5342839" y="225082"/>
            <a:ext cx="50619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Mathematical representation</a:t>
            </a:r>
          </a:p>
          <a:p>
            <a:pPr algn="ctr"/>
            <a:r>
              <a:rPr lang="en-US" sz="2000" dirty="0"/>
              <a:t>(formal system)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75DE9B-E948-5899-4BE4-F73FA617D2FB}"/>
              </a:ext>
            </a:extLst>
          </p:cNvPr>
          <p:cNvSpPr txBox="1"/>
          <p:nvPr/>
        </p:nvSpPr>
        <p:spPr>
          <a:xfrm>
            <a:off x="7438371" y="1432588"/>
            <a:ext cx="1473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well-defined</a:t>
            </a:r>
            <a:br>
              <a:rPr lang="en-US" dirty="0"/>
            </a:br>
            <a:r>
              <a:rPr lang="en-US" dirty="0"/>
              <a:t>mathematical</a:t>
            </a:r>
            <a:br>
              <a:rPr lang="en-US" dirty="0"/>
            </a:br>
            <a:r>
              <a:rPr lang="en-US" dirty="0"/>
              <a:t>objects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50B3FB-D33D-44AE-41AE-207D1BAEA103}"/>
              </a:ext>
            </a:extLst>
          </p:cNvPr>
          <p:cNvCxnSpPr>
            <a:cxnSpLocks/>
          </p:cNvCxnSpPr>
          <p:nvPr/>
        </p:nvCxnSpPr>
        <p:spPr>
          <a:xfrm>
            <a:off x="5272046" y="124857"/>
            <a:ext cx="0" cy="476377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527028-DD96-3967-4A27-15C934136C17}"/>
              </a:ext>
            </a:extLst>
          </p:cNvPr>
          <p:cNvSpPr/>
          <p:nvPr/>
        </p:nvSpPr>
        <p:spPr>
          <a:xfrm>
            <a:off x="2423505" y="2504280"/>
            <a:ext cx="201243" cy="214605"/>
          </a:xfrm>
          <a:custGeom>
            <a:avLst/>
            <a:gdLst>
              <a:gd name="connsiteX0" fmla="*/ 84063 w 200795"/>
              <a:gd name="connsiteY0" fmla="*/ 9846 h 214127"/>
              <a:gd name="connsiteX1" fmla="*/ 84063 w 200795"/>
              <a:gd name="connsiteY1" fmla="*/ 9846 h 214127"/>
              <a:gd name="connsiteX2" fmla="*/ 6242 w 200795"/>
              <a:gd name="connsiteY2" fmla="*/ 48757 h 214127"/>
              <a:gd name="connsiteX3" fmla="*/ 35425 w 200795"/>
              <a:gd name="connsiteY3" fmla="*/ 184944 h 214127"/>
              <a:gd name="connsiteX4" fmla="*/ 93791 w 200795"/>
              <a:gd name="connsiteY4" fmla="*/ 214127 h 214127"/>
              <a:gd name="connsiteX5" fmla="*/ 181340 w 200795"/>
              <a:gd name="connsiteY5" fmla="*/ 184944 h 214127"/>
              <a:gd name="connsiteX6" fmla="*/ 200795 w 200795"/>
              <a:gd name="connsiteY6" fmla="*/ 155761 h 214127"/>
              <a:gd name="connsiteX7" fmla="*/ 181340 w 200795"/>
              <a:gd name="connsiteY7" fmla="*/ 48757 h 214127"/>
              <a:gd name="connsiteX8" fmla="*/ 161884 w 200795"/>
              <a:gd name="connsiteY8" fmla="*/ 29301 h 214127"/>
              <a:gd name="connsiteX9" fmla="*/ 103518 w 200795"/>
              <a:gd name="connsiteY9" fmla="*/ 118 h 214127"/>
              <a:gd name="connsiteX10" fmla="*/ 84063 w 200795"/>
              <a:gd name="connsiteY10" fmla="*/ 9846 h 21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95" h="214127">
                <a:moveTo>
                  <a:pt x="84063" y="9846"/>
                </a:moveTo>
                <a:lnTo>
                  <a:pt x="84063" y="9846"/>
                </a:lnTo>
                <a:cubicBezTo>
                  <a:pt x="58123" y="22816"/>
                  <a:pt x="18507" y="22476"/>
                  <a:pt x="6242" y="48757"/>
                </a:cubicBezTo>
                <a:cubicBezTo>
                  <a:pt x="-8915" y="81235"/>
                  <a:pt x="4570" y="154090"/>
                  <a:pt x="35425" y="184944"/>
                </a:cubicBezTo>
                <a:cubicBezTo>
                  <a:pt x="54282" y="203801"/>
                  <a:pt x="70056" y="206215"/>
                  <a:pt x="93791" y="214127"/>
                </a:cubicBezTo>
                <a:cubicBezTo>
                  <a:pt x="132920" y="207605"/>
                  <a:pt x="153984" y="212300"/>
                  <a:pt x="181340" y="184944"/>
                </a:cubicBezTo>
                <a:cubicBezTo>
                  <a:pt x="189607" y="176677"/>
                  <a:pt x="194310" y="165489"/>
                  <a:pt x="200795" y="155761"/>
                </a:cubicBezTo>
                <a:cubicBezTo>
                  <a:pt x="199455" y="145039"/>
                  <a:pt x="195545" y="72432"/>
                  <a:pt x="181340" y="48757"/>
                </a:cubicBezTo>
                <a:cubicBezTo>
                  <a:pt x="176621" y="40892"/>
                  <a:pt x="169046" y="35030"/>
                  <a:pt x="161884" y="29301"/>
                </a:cubicBezTo>
                <a:cubicBezTo>
                  <a:pt x="142756" y="13998"/>
                  <a:pt x="127491" y="4913"/>
                  <a:pt x="103518" y="118"/>
                </a:cubicBezTo>
                <a:cubicBezTo>
                  <a:pt x="97159" y="-1154"/>
                  <a:pt x="87306" y="8225"/>
                  <a:pt x="84063" y="9846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C95584-865C-1A97-87D7-DB91E98AF3F0}"/>
              </a:ext>
            </a:extLst>
          </p:cNvPr>
          <p:cNvSpPr/>
          <p:nvPr/>
        </p:nvSpPr>
        <p:spPr>
          <a:xfrm>
            <a:off x="3407537" y="1719365"/>
            <a:ext cx="178657" cy="194988"/>
          </a:xfrm>
          <a:custGeom>
            <a:avLst/>
            <a:gdLst>
              <a:gd name="connsiteX0" fmla="*/ 0 w 178259"/>
              <a:gd name="connsiteY0" fmla="*/ 29183 h 194554"/>
              <a:gd name="connsiteX1" fmla="*/ 0 w 178259"/>
              <a:gd name="connsiteY1" fmla="*/ 29183 h 194554"/>
              <a:gd name="connsiteX2" fmla="*/ 87549 w 178259"/>
              <a:gd name="connsiteY2" fmla="*/ 9728 h 194554"/>
              <a:gd name="connsiteX3" fmla="*/ 116732 w 178259"/>
              <a:gd name="connsiteY3" fmla="*/ 0 h 194554"/>
              <a:gd name="connsiteX4" fmla="*/ 145915 w 178259"/>
              <a:gd name="connsiteY4" fmla="*/ 9728 h 194554"/>
              <a:gd name="connsiteX5" fmla="*/ 155643 w 178259"/>
              <a:gd name="connsiteY5" fmla="*/ 184826 h 194554"/>
              <a:gd name="connsiteX6" fmla="*/ 126460 w 178259"/>
              <a:gd name="connsiteY6" fmla="*/ 194554 h 194554"/>
              <a:gd name="connsiteX7" fmla="*/ 29183 w 178259"/>
              <a:gd name="connsiteY7" fmla="*/ 184826 h 194554"/>
              <a:gd name="connsiteX8" fmla="*/ 19455 w 178259"/>
              <a:gd name="connsiteY8" fmla="*/ 155643 h 194554"/>
              <a:gd name="connsiteX9" fmla="*/ 29183 w 178259"/>
              <a:gd name="connsiteY9" fmla="*/ 48639 h 194554"/>
              <a:gd name="connsiteX10" fmla="*/ 0 w 178259"/>
              <a:gd name="connsiteY10" fmla="*/ 29183 h 19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259" h="194554">
                <a:moveTo>
                  <a:pt x="0" y="29183"/>
                </a:moveTo>
                <a:lnTo>
                  <a:pt x="0" y="29183"/>
                </a:lnTo>
                <a:cubicBezTo>
                  <a:pt x="29183" y="22698"/>
                  <a:pt x="58547" y="16979"/>
                  <a:pt x="87549" y="9728"/>
                </a:cubicBezTo>
                <a:cubicBezTo>
                  <a:pt x="97497" y="7241"/>
                  <a:pt x="106478" y="0"/>
                  <a:pt x="116732" y="0"/>
                </a:cubicBezTo>
                <a:cubicBezTo>
                  <a:pt x="126986" y="0"/>
                  <a:pt x="136187" y="6485"/>
                  <a:pt x="145915" y="9728"/>
                </a:cubicBezTo>
                <a:cubicBezTo>
                  <a:pt x="187370" y="71912"/>
                  <a:pt x="187158" y="58762"/>
                  <a:pt x="155643" y="184826"/>
                </a:cubicBezTo>
                <a:cubicBezTo>
                  <a:pt x="153156" y="194774"/>
                  <a:pt x="136188" y="191311"/>
                  <a:pt x="126460" y="194554"/>
                </a:cubicBezTo>
                <a:cubicBezTo>
                  <a:pt x="94034" y="191311"/>
                  <a:pt x="59808" y="195963"/>
                  <a:pt x="29183" y="184826"/>
                </a:cubicBezTo>
                <a:cubicBezTo>
                  <a:pt x="19546" y="181322"/>
                  <a:pt x="19455" y="165897"/>
                  <a:pt x="19455" y="155643"/>
                </a:cubicBezTo>
                <a:cubicBezTo>
                  <a:pt x="19455" y="119828"/>
                  <a:pt x="26436" y="84349"/>
                  <a:pt x="29183" y="48639"/>
                </a:cubicBezTo>
                <a:cubicBezTo>
                  <a:pt x="29680" y="42173"/>
                  <a:pt x="4864" y="32426"/>
                  <a:pt x="0" y="29183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F774405-9283-D1ED-EAD5-2031E567BF3A}"/>
              </a:ext>
            </a:extLst>
          </p:cNvPr>
          <p:cNvSpPr/>
          <p:nvPr/>
        </p:nvSpPr>
        <p:spPr>
          <a:xfrm>
            <a:off x="2996508" y="2116527"/>
            <a:ext cx="194988" cy="204737"/>
          </a:xfrm>
          <a:custGeom>
            <a:avLst/>
            <a:gdLst>
              <a:gd name="connsiteX0" fmla="*/ 87549 w 194553"/>
              <a:gd name="connsiteY0" fmla="*/ 0 h 204281"/>
              <a:gd name="connsiteX1" fmla="*/ 87549 w 194553"/>
              <a:gd name="connsiteY1" fmla="*/ 0 h 204281"/>
              <a:gd name="connsiteX2" fmla="*/ 0 w 194553"/>
              <a:gd name="connsiteY2" fmla="*/ 107004 h 204281"/>
              <a:gd name="connsiteX3" fmla="*/ 9727 w 194553"/>
              <a:gd name="connsiteY3" fmla="*/ 204281 h 204281"/>
              <a:gd name="connsiteX4" fmla="*/ 145914 w 194553"/>
              <a:gd name="connsiteY4" fmla="*/ 184825 h 204281"/>
              <a:gd name="connsiteX5" fmla="*/ 194553 w 194553"/>
              <a:gd name="connsiteY5" fmla="*/ 155642 h 204281"/>
              <a:gd name="connsiteX6" fmla="*/ 175097 w 194553"/>
              <a:gd name="connsiteY6" fmla="*/ 68093 h 204281"/>
              <a:gd name="connsiteX7" fmla="*/ 116731 w 194553"/>
              <a:gd name="connsiteY7" fmla="*/ 38910 h 204281"/>
              <a:gd name="connsiteX8" fmla="*/ 87549 w 194553"/>
              <a:gd name="connsiteY8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553" h="204281">
                <a:moveTo>
                  <a:pt x="87549" y="0"/>
                </a:moveTo>
                <a:lnTo>
                  <a:pt x="87549" y="0"/>
                </a:lnTo>
                <a:cubicBezTo>
                  <a:pt x="78780" y="8769"/>
                  <a:pt x="0" y="64345"/>
                  <a:pt x="0" y="107004"/>
                </a:cubicBezTo>
                <a:cubicBezTo>
                  <a:pt x="0" y="139591"/>
                  <a:pt x="6485" y="171855"/>
                  <a:pt x="9727" y="204281"/>
                </a:cubicBezTo>
                <a:cubicBezTo>
                  <a:pt x="55123" y="197796"/>
                  <a:pt x="113488" y="217250"/>
                  <a:pt x="145914" y="184825"/>
                </a:cubicBezTo>
                <a:cubicBezTo>
                  <a:pt x="172621" y="158120"/>
                  <a:pt x="156669" y="168270"/>
                  <a:pt x="194553" y="155642"/>
                </a:cubicBezTo>
                <a:cubicBezTo>
                  <a:pt x="194453" y="155044"/>
                  <a:pt x="185180" y="80697"/>
                  <a:pt x="175097" y="68093"/>
                </a:cubicBezTo>
                <a:cubicBezTo>
                  <a:pt x="164755" y="55166"/>
                  <a:pt x="132997" y="41621"/>
                  <a:pt x="116731" y="38910"/>
                </a:cubicBezTo>
                <a:cubicBezTo>
                  <a:pt x="107136" y="37311"/>
                  <a:pt x="92413" y="6485"/>
                  <a:pt x="8754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38A68E0-980E-D3B4-05A0-95A91AB84F64}"/>
              </a:ext>
            </a:extLst>
          </p:cNvPr>
          <p:cNvSpPr/>
          <p:nvPr/>
        </p:nvSpPr>
        <p:spPr>
          <a:xfrm>
            <a:off x="3032504" y="2682491"/>
            <a:ext cx="214486" cy="263234"/>
          </a:xfrm>
          <a:custGeom>
            <a:avLst/>
            <a:gdLst>
              <a:gd name="connsiteX0" fmla="*/ 0 w 214008"/>
              <a:gd name="connsiteY0" fmla="*/ 136188 h 262647"/>
              <a:gd name="connsiteX1" fmla="*/ 0 w 214008"/>
              <a:gd name="connsiteY1" fmla="*/ 136188 h 262647"/>
              <a:gd name="connsiteX2" fmla="*/ 9728 w 214008"/>
              <a:gd name="connsiteY2" fmla="*/ 48639 h 262647"/>
              <a:gd name="connsiteX3" fmla="*/ 38911 w 214008"/>
              <a:gd name="connsiteY3" fmla="*/ 38911 h 262647"/>
              <a:gd name="connsiteX4" fmla="*/ 77821 w 214008"/>
              <a:gd name="connsiteY4" fmla="*/ 19456 h 262647"/>
              <a:gd name="connsiteX5" fmla="*/ 116732 w 214008"/>
              <a:gd name="connsiteY5" fmla="*/ 9728 h 262647"/>
              <a:gd name="connsiteX6" fmla="*/ 145915 w 214008"/>
              <a:gd name="connsiteY6" fmla="*/ 0 h 262647"/>
              <a:gd name="connsiteX7" fmla="*/ 175098 w 214008"/>
              <a:gd name="connsiteY7" fmla="*/ 9728 h 262647"/>
              <a:gd name="connsiteX8" fmla="*/ 214008 w 214008"/>
              <a:gd name="connsiteY8" fmla="*/ 68094 h 262647"/>
              <a:gd name="connsiteX9" fmla="*/ 204281 w 214008"/>
              <a:gd name="connsiteY9" fmla="*/ 223737 h 262647"/>
              <a:gd name="connsiteX10" fmla="*/ 184825 w 214008"/>
              <a:gd name="connsiteY10" fmla="*/ 243192 h 262647"/>
              <a:gd name="connsiteX11" fmla="*/ 126459 w 214008"/>
              <a:gd name="connsiteY11" fmla="*/ 262647 h 262647"/>
              <a:gd name="connsiteX12" fmla="*/ 87549 w 214008"/>
              <a:gd name="connsiteY12" fmla="*/ 252920 h 262647"/>
              <a:gd name="connsiteX13" fmla="*/ 68093 w 214008"/>
              <a:gd name="connsiteY13" fmla="*/ 233464 h 262647"/>
              <a:gd name="connsiteX14" fmla="*/ 19455 w 214008"/>
              <a:gd name="connsiteY14" fmla="*/ 145915 h 262647"/>
              <a:gd name="connsiteX15" fmla="*/ 0 w 214008"/>
              <a:gd name="connsiteY15" fmla="*/ 136188 h 26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008" h="262647">
                <a:moveTo>
                  <a:pt x="0" y="136188"/>
                </a:moveTo>
                <a:lnTo>
                  <a:pt x="0" y="136188"/>
                </a:lnTo>
                <a:cubicBezTo>
                  <a:pt x="3243" y="107005"/>
                  <a:pt x="-1177" y="75901"/>
                  <a:pt x="9728" y="48639"/>
                </a:cubicBezTo>
                <a:cubicBezTo>
                  <a:pt x="13536" y="39119"/>
                  <a:pt x="29486" y="42950"/>
                  <a:pt x="38911" y="38911"/>
                </a:cubicBezTo>
                <a:cubicBezTo>
                  <a:pt x="52239" y="33199"/>
                  <a:pt x="64243" y="24548"/>
                  <a:pt x="77821" y="19456"/>
                </a:cubicBezTo>
                <a:cubicBezTo>
                  <a:pt x="90339" y="14762"/>
                  <a:pt x="103877" y="13401"/>
                  <a:pt x="116732" y="9728"/>
                </a:cubicBezTo>
                <a:cubicBezTo>
                  <a:pt x="126591" y="6911"/>
                  <a:pt x="136187" y="3243"/>
                  <a:pt x="145915" y="0"/>
                </a:cubicBezTo>
                <a:cubicBezTo>
                  <a:pt x="155643" y="3243"/>
                  <a:pt x="167847" y="2477"/>
                  <a:pt x="175098" y="9728"/>
                </a:cubicBezTo>
                <a:cubicBezTo>
                  <a:pt x="191632" y="26262"/>
                  <a:pt x="214008" y="68094"/>
                  <a:pt x="214008" y="68094"/>
                </a:cubicBezTo>
                <a:cubicBezTo>
                  <a:pt x="210766" y="119975"/>
                  <a:pt x="212827" y="172462"/>
                  <a:pt x="204281" y="223737"/>
                </a:cubicBezTo>
                <a:cubicBezTo>
                  <a:pt x="202773" y="232784"/>
                  <a:pt x="193028" y="239091"/>
                  <a:pt x="184825" y="243192"/>
                </a:cubicBezTo>
                <a:cubicBezTo>
                  <a:pt x="166482" y="252363"/>
                  <a:pt x="126459" y="262647"/>
                  <a:pt x="126459" y="262647"/>
                </a:cubicBezTo>
                <a:cubicBezTo>
                  <a:pt x="113489" y="259405"/>
                  <a:pt x="99507" y="258899"/>
                  <a:pt x="87549" y="252920"/>
                </a:cubicBezTo>
                <a:cubicBezTo>
                  <a:pt x="79346" y="248818"/>
                  <a:pt x="73596" y="240801"/>
                  <a:pt x="68093" y="233464"/>
                </a:cubicBezTo>
                <a:cubicBezTo>
                  <a:pt x="40924" y="197239"/>
                  <a:pt x="28934" y="183829"/>
                  <a:pt x="19455" y="145915"/>
                </a:cubicBezTo>
                <a:cubicBezTo>
                  <a:pt x="18669" y="142769"/>
                  <a:pt x="3242" y="137809"/>
                  <a:pt x="0" y="136188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2D4502-E6C2-B7E3-8DE4-338E53001E40}"/>
              </a:ext>
            </a:extLst>
          </p:cNvPr>
          <p:cNvSpPr/>
          <p:nvPr/>
        </p:nvSpPr>
        <p:spPr>
          <a:xfrm>
            <a:off x="7069236" y="246326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D1490D-F923-2567-931A-6B4B324EB46F}"/>
              </a:ext>
            </a:extLst>
          </p:cNvPr>
          <p:cNvSpPr/>
          <p:nvPr/>
        </p:nvSpPr>
        <p:spPr>
          <a:xfrm>
            <a:off x="6457665" y="1803155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15A0E41-4C5D-59AB-5EDC-32553CE8A28A}"/>
              </a:ext>
            </a:extLst>
          </p:cNvPr>
          <p:cNvSpPr/>
          <p:nvPr/>
        </p:nvSpPr>
        <p:spPr>
          <a:xfrm>
            <a:off x="6469613" y="2948005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ACDEDC-8746-51B6-8540-B47977F2BF9E}"/>
              </a:ext>
            </a:extLst>
          </p:cNvPr>
          <p:cNvCxnSpPr>
            <a:cxnSpLocks/>
          </p:cNvCxnSpPr>
          <p:nvPr/>
        </p:nvCxnSpPr>
        <p:spPr>
          <a:xfrm>
            <a:off x="6697100" y="1981113"/>
            <a:ext cx="339312" cy="46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EC12B3-7FF0-2864-CB18-CDC56ABDE4E4}"/>
              </a:ext>
            </a:extLst>
          </p:cNvPr>
          <p:cNvCxnSpPr>
            <a:cxnSpLocks/>
          </p:cNvCxnSpPr>
          <p:nvPr/>
        </p:nvCxnSpPr>
        <p:spPr>
          <a:xfrm flipV="1">
            <a:off x="4231964" y="1969023"/>
            <a:ext cx="2091721" cy="1475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1C7B44-A45D-7EC3-8884-6A6173F2E9C9}"/>
              </a:ext>
            </a:extLst>
          </p:cNvPr>
          <p:cNvCxnSpPr>
            <a:cxnSpLocks/>
          </p:cNvCxnSpPr>
          <p:nvPr/>
        </p:nvCxnSpPr>
        <p:spPr>
          <a:xfrm>
            <a:off x="3685663" y="1800251"/>
            <a:ext cx="2638022" cy="8534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EF9473-5CB6-7330-7AB6-AFF9C3671FEF}"/>
              </a:ext>
            </a:extLst>
          </p:cNvPr>
          <p:cNvCxnSpPr>
            <a:cxnSpLocks/>
          </p:cNvCxnSpPr>
          <p:nvPr/>
        </p:nvCxnSpPr>
        <p:spPr>
          <a:xfrm flipH="1">
            <a:off x="4054486" y="2611583"/>
            <a:ext cx="2882689" cy="33414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6B98E10-B3B0-763B-2EF7-9778E59508FC}"/>
              </a:ext>
            </a:extLst>
          </p:cNvPr>
          <p:cNvSpPr/>
          <p:nvPr/>
        </p:nvSpPr>
        <p:spPr>
          <a:xfrm>
            <a:off x="2662082" y="3159153"/>
            <a:ext cx="170388" cy="212184"/>
          </a:xfrm>
          <a:custGeom>
            <a:avLst/>
            <a:gdLst>
              <a:gd name="connsiteX0" fmla="*/ 85725 w 114300"/>
              <a:gd name="connsiteY0" fmla="*/ 3084 h 142338"/>
              <a:gd name="connsiteX1" fmla="*/ 61912 w 114300"/>
              <a:gd name="connsiteY1" fmla="*/ 12609 h 142338"/>
              <a:gd name="connsiteX2" fmla="*/ 9525 w 114300"/>
              <a:gd name="connsiteY2" fmla="*/ 50709 h 142338"/>
              <a:gd name="connsiteX3" fmla="*/ 0 w 114300"/>
              <a:gd name="connsiteY3" fmla="*/ 69759 h 142338"/>
              <a:gd name="connsiteX4" fmla="*/ 9525 w 114300"/>
              <a:gd name="connsiteY4" fmla="*/ 131671 h 142338"/>
              <a:gd name="connsiteX5" fmla="*/ 100012 w 114300"/>
              <a:gd name="connsiteY5" fmla="*/ 117384 h 142338"/>
              <a:gd name="connsiteX6" fmla="*/ 114300 w 114300"/>
              <a:gd name="connsiteY6" fmla="*/ 69759 h 142338"/>
              <a:gd name="connsiteX7" fmla="*/ 85725 w 114300"/>
              <a:gd name="connsiteY7" fmla="*/ 3084 h 14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" h="142338">
                <a:moveTo>
                  <a:pt x="85725" y="3084"/>
                </a:moveTo>
                <a:cubicBezTo>
                  <a:pt x="76994" y="-6441"/>
                  <a:pt x="69559" y="8786"/>
                  <a:pt x="61912" y="12609"/>
                </a:cubicBezTo>
                <a:cubicBezTo>
                  <a:pt x="40323" y="23403"/>
                  <a:pt x="23911" y="31528"/>
                  <a:pt x="9525" y="50709"/>
                </a:cubicBezTo>
                <a:cubicBezTo>
                  <a:pt x="5265" y="56389"/>
                  <a:pt x="3175" y="63409"/>
                  <a:pt x="0" y="69759"/>
                </a:cubicBezTo>
                <a:cubicBezTo>
                  <a:pt x="3175" y="90396"/>
                  <a:pt x="-4683" y="116370"/>
                  <a:pt x="9525" y="131671"/>
                </a:cubicBezTo>
                <a:cubicBezTo>
                  <a:pt x="34455" y="158519"/>
                  <a:pt x="79914" y="127433"/>
                  <a:pt x="100012" y="117384"/>
                </a:cubicBezTo>
                <a:cubicBezTo>
                  <a:pt x="100565" y="115725"/>
                  <a:pt x="114300" y="76954"/>
                  <a:pt x="114300" y="69759"/>
                </a:cubicBezTo>
                <a:cubicBezTo>
                  <a:pt x="114300" y="-1041"/>
                  <a:pt x="94456" y="12609"/>
                  <a:pt x="85725" y="3084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02C771F-9A06-0DE9-C600-BFFAF56AAA12}"/>
              </a:ext>
            </a:extLst>
          </p:cNvPr>
          <p:cNvSpPr/>
          <p:nvPr/>
        </p:nvSpPr>
        <p:spPr>
          <a:xfrm>
            <a:off x="3642606" y="2473285"/>
            <a:ext cx="86112" cy="86434"/>
          </a:xfrm>
          <a:custGeom>
            <a:avLst/>
            <a:gdLst>
              <a:gd name="connsiteX0" fmla="*/ 39719 w 57766"/>
              <a:gd name="connsiteY0" fmla="*/ 0 h 57982"/>
              <a:gd name="connsiteX1" fmla="*/ 1619 w 57766"/>
              <a:gd name="connsiteY1" fmla="*/ 52387 h 57982"/>
              <a:gd name="connsiteX2" fmla="*/ 34956 w 57766"/>
              <a:gd name="connsiteY2" fmla="*/ 57150 h 57982"/>
              <a:gd name="connsiteX3" fmla="*/ 54006 w 57766"/>
              <a:gd name="connsiteY3" fmla="*/ 52387 h 57982"/>
              <a:gd name="connsiteX4" fmla="*/ 39719 w 57766"/>
              <a:gd name="connsiteY4" fmla="*/ 0 h 5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6" h="57982">
                <a:moveTo>
                  <a:pt x="39719" y="0"/>
                </a:moveTo>
                <a:cubicBezTo>
                  <a:pt x="30988" y="0"/>
                  <a:pt x="-8398" y="32353"/>
                  <a:pt x="1619" y="52387"/>
                </a:cubicBezTo>
                <a:cubicBezTo>
                  <a:pt x="6639" y="62427"/>
                  <a:pt x="23844" y="55562"/>
                  <a:pt x="34956" y="57150"/>
                </a:cubicBezTo>
                <a:cubicBezTo>
                  <a:pt x="41306" y="55562"/>
                  <a:pt x="50079" y="57623"/>
                  <a:pt x="54006" y="52387"/>
                </a:cubicBezTo>
                <a:cubicBezTo>
                  <a:pt x="65276" y="37361"/>
                  <a:pt x="48450" y="0"/>
                  <a:pt x="3971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3B72243-18FE-882D-26ED-E30DEAA090E4}"/>
              </a:ext>
            </a:extLst>
          </p:cNvPr>
          <p:cNvSpPr/>
          <p:nvPr/>
        </p:nvSpPr>
        <p:spPr>
          <a:xfrm>
            <a:off x="3818922" y="2894846"/>
            <a:ext cx="132199" cy="249764"/>
          </a:xfrm>
          <a:custGeom>
            <a:avLst/>
            <a:gdLst>
              <a:gd name="connsiteX0" fmla="*/ 45820 w 88682"/>
              <a:gd name="connsiteY0" fmla="*/ 230 h 167547"/>
              <a:gd name="connsiteX1" fmla="*/ 17245 w 88682"/>
              <a:gd name="connsiteY1" fmla="*/ 24043 h 167547"/>
              <a:gd name="connsiteX2" fmla="*/ 7720 w 88682"/>
              <a:gd name="connsiteY2" fmla="*/ 105005 h 167547"/>
              <a:gd name="connsiteX3" fmla="*/ 50582 w 88682"/>
              <a:gd name="connsiteY3" fmla="*/ 133580 h 167547"/>
              <a:gd name="connsiteX4" fmla="*/ 79157 w 88682"/>
              <a:gd name="connsiteY4" fmla="*/ 166918 h 167547"/>
              <a:gd name="connsiteX5" fmla="*/ 88682 w 88682"/>
              <a:gd name="connsiteY5" fmla="*/ 105005 h 167547"/>
              <a:gd name="connsiteX6" fmla="*/ 79157 w 88682"/>
              <a:gd name="connsiteY6" fmla="*/ 57380 h 167547"/>
              <a:gd name="connsiteX7" fmla="*/ 69632 w 88682"/>
              <a:gd name="connsiteY7" fmla="*/ 38330 h 167547"/>
              <a:gd name="connsiteX8" fmla="*/ 45820 w 88682"/>
              <a:gd name="connsiteY8" fmla="*/ 230 h 16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682" h="167547">
                <a:moveTo>
                  <a:pt x="45820" y="230"/>
                </a:moveTo>
                <a:cubicBezTo>
                  <a:pt x="37089" y="-2151"/>
                  <a:pt x="25096" y="14447"/>
                  <a:pt x="17245" y="24043"/>
                </a:cubicBezTo>
                <a:cubicBezTo>
                  <a:pt x="294" y="44761"/>
                  <a:pt x="-6535" y="80772"/>
                  <a:pt x="7720" y="105005"/>
                </a:cubicBezTo>
                <a:cubicBezTo>
                  <a:pt x="16426" y="119806"/>
                  <a:pt x="50582" y="133580"/>
                  <a:pt x="50582" y="133580"/>
                </a:cubicBezTo>
                <a:cubicBezTo>
                  <a:pt x="52820" y="136937"/>
                  <a:pt x="75307" y="172693"/>
                  <a:pt x="79157" y="166918"/>
                </a:cubicBezTo>
                <a:cubicBezTo>
                  <a:pt x="90739" y="149544"/>
                  <a:pt x="85507" y="125643"/>
                  <a:pt x="88682" y="105005"/>
                </a:cubicBezTo>
                <a:cubicBezTo>
                  <a:pt x="85507" y="89130"/>
                  <a:pt x="83605" y="72946"/>
                  <a:pt x="79157" y="57380"/>
                </a:cubicBezTo>
                <a:cubicBezTo>
                  <a:pt x="77207" y="50554"/>
                  <a:pt x="71877" y="45065"/>
                  <a:pt x="69632" y="38330"/>
                </a:cubicBezTo>
                <a:cubicBezTo>
                  <a:pt x="57466" y="1830"/>
                  <a:pt x="54551" y="2611"/>
                  <a:pt x="45820" y="23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0E7D65F-7E92-4BB1-ADD6-3ABC939756F4}"/>
              </a:ext>
            </a:extLst>
          </p:cNvPr>
          <p:cNvSpPr/>
          <p:nvPr/>
        </p:nvSpPr>
        <p:spPr>
          <a:xfrm>
            <a:off x="4053826" y="1981113"/>
            <a:ext cx="178138" cy="241383"/>
          </a:xfrm>
          <a:custGeom>
            <a:avLst/>
            <a:gdLst>
              <a:gd name="connsiteX0" fmla="*/ 0 w 119499"/>
              <a:gd name="connsiteY0" fmla="*/ 152400 h 161925"/>
              <a:gd name="connsiteX1" fmla="*/ 38100 w 119499"/>
              <a:gd name="connsiteY1" fmla="*/ 19050 h 161925"/>
              <a:gd name="connsiteX2" fmla="*/ 42863 w 119499"/>
              <a:gd name="connsiteY2" fmla="*/ 4762 h 161925"/>
              <a:gd name="connsiteX3" fmla="*/ 80963 w 119499"/>
              <a:gd name="connsiteY3" fmla="*/ 0 h 161925"/>
              <a:gd name="connsiteX4" fmla="*/ 109538 w 119499"/>
              <a:gd name="connsiteY4" fmla="*/ 4762 h 161925"/>
              <a:gd name="connsiteX5" fmla="*/ 100013 w 119499"/>
              <a:gd name="connsiteY5" fmla="*/ 90487 h 161925"/>
              <a:gd name="connsiteX6" fmla="*/ 61913 w 119499"/>
              <a:gd name="connsiteY6" fmla="*/ 138112 h 161925"/>
              <a:gd name="connsiteX7" fmla="*/ 47625 w 119499"/>
              <a:gd name="connsiteY7" fmla="*/ 147637 h 161925"/>
              <a:gd name="connsiteX8" fmla="*/ 33338 w 119499"/>
              <a:gd name="connsiteY8" fmla="*/ 161925 h 161925"/>
              <a:gd name="connsiteX9" fmla="*/ 0 w 119499"/>
              <a:gd name="connsiteY9" fmla="*/ 15240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499" h="161925">
                <a:moveTo>
                  <a:pt x="0" y="152400"/>
                </a:moveTo>
                <a:cubicBezTo>
                  <a:pt x="12700" y="107950"/>
                  <a:pt x="23480" y="62906"/>
                  <a:pt x="38100" y="19050"/>
                </a:cubicBezTo>
                <a:cubicBezTo>
                  <a:pt x="39688" y="14287"/>
                  <a:pt x="38275" y="6801"/>
                  <a:pt x="42863" y="4762"/>
                </a:cubicBezTo>
                <a:cubicBezTo>
                  <a:pt x="54559" y="-436"/>
                  <a:pt x="68263" y="1587"/>
                  <a:pt x="80963" y="0"/>
                </a:cubicBezTo>
                <a:cubicBezTo>
                  <a:pt x="90488" y="1587"/>
                  <a:pt x="102710" y="-2066"/>
                  <a:pt x="109538" y="4762"/>
                </a:cubicBezTo>
                <a:cubicBezTo>
                  <a:pt x="133010" y="28234"/>
                  <a:pt x="108796" y="71824"/>
                  <a:pt x="100013" y="90487"/>
                </a:cubicBezTo>
                <a:cubicBezTo>
                  <a:pt x="91727" y="108094"/>
                  <a:pt x="76706" y="125433"/>
                  <a:pt x="61913" y="138112"/>
                </a:cubicBezTo>
                <a:cubicBezTo>
                  <a:pt x="57567" y="141837"/>
                  <a:pt x="52022" y="143973"/>
                  <a:pt x="47625" y="147637"/>
                </a:cubicBezTo>
                <a:cubicBezTo>
                  <a:pt x="42451" y="151949"/>
                  <a:pt x="38100" y="157162"/>
                  <a:pt x="33338" y="161925"/>
                </a:cubicBezTo>
                <a:lnTo>
                  <a:pt x="0" y="152400"/>
                </a:ln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BEC1135-5AA8-4C92-483F-556C8CDE76C2}"/>
              </a:ext>
            </a:extLst>
          </p:cNvPr>
          <p:cNvSpPr/>
          <p:nvPr/>
        </p:nvSpPr>
        <p:spPr>
          <a:xfrm>
            <a:off x="2445399" y="1802161"/>
            <a:ext cx="238224" cy="166862"/>
          </a:xfrm>
          <a:custGeom>
            <a:avLst/>
            <a:gdLst>
              <a:gd name="connsiteX0" fmla="*/ 112181 w 159806"/>
              <a:gd name="connsiteY0" fmla="*/ 2397 h 111935"/>
              <a:gd name="connsiteX1" fmla="*/ 88368 w 159806"/>
              <a:gd name="connsiteY1" fmla="*/ 7160 h 111935"/>
              <a:gd name="connsiteX2" fmla="*/ 26456 w 159806"/>
              <a:gd name="connsiteY2" fmla="*/ 11922 h 111935"/>
              <a:gd name="connsiteX3" fmla="*/ 12168 w 159806"/>
              <a:gd name="connsiteY3" fmla="*/ 21447 h 111935"/>
              <a:gd name="connsiteX4" fmla="*/ 7406 w 159806"/>
              <a:gd name="connsiteY4" fmla="*/ 54785 h 111935"/>
              <a:gd name="connsiteX5" fmla="*/ 2643 w 159806"/>
              <a:gd name="connsiteY5" fmla="*/ 83360 h 111935"/>
              <a:gd name="connsiteX6" fmla="*/ 78843 w 159806"/>
              <a:gd name="connsiteY6" fmla="*/ 111935 h 111935"/>
              <a:gd name="connsiteX7" fmla="*/ 135993 w 159806"/>
              <a:gd name="connsiteY7" fmla="*/ 102410 h 111935"/>
              <a:gd name="connsiteX8" fmla="*/ 159806 w 159806"/>
              <a:gd name="connsiteY8" fmla="*/ 50022 h 111935"/>
              <a:gd name="connsiteX9" fmla="*/ 112181 w 159806"/>
              <a:gd name="connsiteY9" fmla="*/ 2397 h 11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06" h="111935">
                <a:moveTo>
                  <a:pt x="112181" y="2397"/>
                </a:moveTo>
                <a:cubicBezTo>
                  <a:pt x="100275" y="-4747"/>
                  <a:pt x="96413" y="6266"/>
                  <a:pt x="88368" y="7160"/>
                </a:cubicBezTo>
                <a:cubicBezTo>
                  <a:pt x="67796" y="9446"/>
                  <a:pt x="46800" y="8108"/>
                  <a:pt x="26456" y="11922"/>
                </a:cubicBezTo>
                <a:cubicBezTo>
                  <a:pt x="20830" y="12977"/>
                  <a:pt x="16931" y="18272"/>
                  <a:pt x="12168" y="21447"/>
                </a:cubicBezTo>
                <a:cubicBezTo>
                  <a:pt x="10581" y="32560"/>
                  <a:pt x="9113" y="43690"/>
                  <a:pt x="7406" y="54785"/>
                </a:cubicBezTo>
                <a:cubicBezTo>
                  <a:pt x="5938" y="64329"/>
                  <a:pt x="-4897" y="77328"/>
                  <a:pt x="2643" y="83360"/>
                </a:cubicBezTo>
                <a:cubicBezTo>
                  <a:pt x="23826" y="100306"/>
                  <a:pt x="78843" y="111935"/>
                  <a:pt x="78843" y="111935"/>
                </a:cubicBezTo>
                <a:cubicBezTo>
                  <a:pt x="97893" y="108760"/>
                  <a:pt x="118062" y="109583"/>
                  <a:pt x="135993" y="102410"/>
                </a:cubicBezTo>
                <a:cubicBezTo>
                  <a:pt x="150826" y="96477"/>
                  <a:pt x="157403" y="58432"/>
                  <a:pt x="159806" y="50022"/>
                </a:cubicBezTo>
                <a:cubicBezTo>
                  <a:pt x="154149" y="-885"/>
                  <a:pt x="124087" y="9541"/>
                  <a:pt x="112181" y="2397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FC279F8-B1C0-06DD-8DDE-4686FC6D16E3}"/>
              </a:ext>
            </a:extLst>
          </p:cNvPr>
          <p:cNvSpPr/>
          <p:nvPr/>
        </p:nvSpPr>
        <p:spPr>
          <a:xfrm>
            <a:off x="7176162" y="159582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27BEFD6-C633-248C-E241-C13B67765F63}"/>
              </a:ext>
            </a:extLst>
          </p:cNvPr>
          <p:cNvSpPr/>
          <p:nvPr/>
        </p:nvSpPr>
        <p:spPr>
          <a:xfrm>
            <a:off x="7036615" y="319798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69E0D7-4A12-BDD5-F6EF-6F6AEF0ED2B2}"/>
              </a:ext>
            </a:extLst>
          </p:cNvPr>
          <p:cNvCxnSpPr>
            <a:cxnSpLocks/>
          </p:cNvCxnSpPr>
          <p:nvPr/>
        </p:nvCxnSpPr>
        <p:spPr>
          <a:xfrm flipH="1">
            <a:off x="3818922" y="2523972"/>
            <a:ext cx="3047834" cy="303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CE415E1-7C73-5609-0FDF-9EA2AEDA8CD9}"/>
              </a:ext>
            </a:extLst>
          </p:cNvPr>
          <p:cNvCxnSpPr>
            <a:cxnSpLocks/>
          </p:cNvCxnSpPr>
          <p:nvPr/>
        </p:nvCxnSpPr>
        <p:spPr>
          <a:xfrm flipH="1">
            <a:off x="3931199" y="2279717"/>
            <a:ext cx="142601" cy="5343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1E81764-5D97-F802-89A6-93367E5CF27F}"/>
              </a:ext>
            </a:extLst>
          </p:cNvPr>
          <p:cNvCxnSpPr>
            <a:cxnSpLocks/>
          </p:cNvCxnSpPr>
          <p:nvPr/>
        </p:nvCxnSpPr>
        <p:spPr>
          <a:xfrm>
            <a:off x="3517794" y="1981113"/>
            <a:ext cx="137045" cy="4473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2963E8A-A863-C1BD-6FBF-3D6C0887456E}"/>
              </a:ext>
            </a:extLst>
          </p:cNvPr>
          <p:cNvCxnSpPr>
            <a:cxnSpLocks/>
          </p:cNvCxnSpPr>
          <p:nvPr/>
        </p:nvCxnSpPr>
        <p:spPr>
          <a:xfrm>
            <a:off x="2887841" y="3314677"/>
            <a:ext cx="2812408" cy="51512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28AC527-F052-8475-7AAA-B4EF474E6BB4}"/>
              </a:ext>
            </a:extLst>
          </p:cNvPr>
          <p:cNvSpPr txBox="1"/>
          <p:nvPr/>
        </p:nvSpPr>
        <p:spPr>
          <a:xfrm>
            <a:off x="5669858" y="362758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B67C960-BF2B-527E-71E4-3E5C71AF1355}"/>
              </a:ext>
            </a:extLst>
          </p:cNvPr>
          <p:cNvCxnSpPr>
            <a:cxnSpLocks/>
          </p:cNvCxnSpPr>
          <p:nvPr/>
        </p:nvCxnSpPr>
        <p:spPr>
          <a:xfrm flipH="1">
            <a:off x="4030717" y="3320034"/>
            <a:ext cx="2906458" cy="661669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5683C5C-4A57-0234-0B49-A7634C9F5B71}"/>
              </a:ext>
            </a:extLst>
          </p:cNvPr>
          <p:cNvSpPr txBox="1"/>
          <p:nvPr/>
        </p:nvSpPr>
        <p:spPr>
          <a:xfrm>
            <a:off x="3748970" y="3762284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9BBBDF9-C0A4-561C-7BE2-D1E2A086583B}"/>
              </a:ext>
            </a:extLst>
          </p:cNvPr>
          <p:cNvCxnSpPr>
            <a:cxnSpLocks/>
          </p:cNvCxnSpPr>
          <p:nvPr/>
        </p:nvCxnSpPr>
        <p:spPr>
          <a:xfrm>
            <a:off x="6608473" y="2063452"/>
            <a:ext cx="451990" cy="10484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23DBEFC-D9EA-1B33-CDCC-74138C3FEB90}"/>
              </a:ext>
            </a:extLst>
          </p:cNvPr>
          <p:cNvCxnSpPr>
            <a:cxnSpLocks/>
          </p:cNvCxnSpPr>
          <p:nvPr/>
        </p:nvCxnSpPr>
        <p:spPr>
          <a:xfrm flipH="1">
            <a:off x="5818049" y="2063452"/>
            <a:ext cx="627513" cy="10081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B8AC2C8-F1E1-8992-075A-04EC354DA0DE}"/>
              </a:ext>
            </a:extLst>
          </p:cNvPr>
          <p:cNvSpPr txBox="1"/>
          <p:nvPr/>
        </p:nvSpPr>
        <p:spPr>
          <a:xfrm>
            <a:off x="3240484" y="4147850"/>
            <a:ext cx="113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ill-defined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AB259FB-37C2-E12C-C428-A2E5E3C69B3D}"/>
              </a:ext>
            </a:extLst>
          </p:cNvPr>
          <p:cNvSpPr txBox="1"/>
          <p:nvPr/>
        </p:nvSpPr>
        <p:spPr>
          <a:xfrm>
            <a:off x="5606221" y="3986680"/>
            <a:ext cx="113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ill-defined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6917CD-5B05-7F02-44CE-40F4F2A6281D}"/>
              </a:ext>
            </a:extLst>
          </p:cNvPr>
          <p:cNvSpPr txBox="1"/>
          <p:nvPr/>
        </p:nvSpPr>
        <p:spPr>
          <a:xfrm>
            <a:off x="5580417" y="299268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107B5-4968-D5DE-28E0-8F88B3DD4A5B}"/>
              </a:ext>
            </a:extLst>
          </p:cNvPr>
          <p:cNvSpPr txBox="1"/>
          <p:nvPr/>
        </p:nvSpPr>
        <p:spPr>
          <a:xfrm>
            <a:off x="715701" y="1209222"/>
            <a:ext cx="1357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well-defined</a:t>
            </a:r>
            <a:br>
              <a:rPr lang="en-US" dirty="0"/>
            </a:br>
            <a:r>
              <a:rPr lang="en-US" dirty="0"/>
              <a:t>physical</a:t>
            </a:r>
          </a:p>
          <a:p>
            <a:r>
              <a:rPr lang="en-US" dirty="0"/>
              <a:t>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1AFC1-F1BD-8A58-1323-4FB35B445F49}"/>
              </a:ext>
            </a:extLst>
          </p:cNvPr>
          <p:cNvSpPr txBox="1"/>
          <p:nvPr/>
        </p:nvSpPr>
        <p:spPr>
          <a:xfrm>
            <a:off x="900650" y="5297266"/>
            <a:ext cx="7614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Current state of the art in theoretical physics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EB7CAD-F622-446B-4526-8331F221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0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0AF8-031B-97CD-EA11-D9D337EA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B993F41-A7B9-B28F-A46B-FCC3DB779C79}"/>
              </a:ext>
            </a:extLst>
          </p:cNvPr>
          <p:cNvSpPr/>
          <p:nvPr/>
        </p:nvSpPr>
        <p:spPr>
          <a:xfrm>
            <a:off x="6083039" y="1342905"/>
            <a:ext cx="1735774" cy="224071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4D9C56-9DCA-33BA-D3D9-ECDBA1015E07}"/>
              </a:ext>
            </a:extLst>
          </p:cNvPr>
          <p:cNvSpPr txBox="1"/>
          <p:nvPr/>
        </p:nvSpPr>
        <p:spPr>
          <a:xfrm>
            <a:off x="2067758" y="4064745"/>
            <a:ext cx="224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Physical specifications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C95A5-25F4-CC72-A678-085F851752BF}"/>
              </a:ext>
            </a:extLst>
          </p:cNvPr>
          <p:cNvCxnSpPr>
            <a:cxnSpLocks/>
          </p:cNvCxnSpPr>
          <p:nvPr/>
        </p:nvCxnSpPr>
        <p:spPr>
          <a:xfrm>
            <a:off x="5272046" y="124857"/>
            <a:ext cx="0" cy="476377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F3930D4-DA7E-90A4-9100-6D24D33ADD72}"/>
              </a:ext>
            </a:extLst>
          </p:cNvPr>
          <p:cNvSpPr/>
          <p:nvPr/>
        </p:nvSpPr>
        <p:spPr>
          <a:xfrm>
            <a:off x="2423505" y="2504280"/>
            <a:ext cx="201243" cy="214605"/>
          </a:xfrm>
          <a:custGeom>
            <a:avLst/>
            <a:gdLst>
              <a:gd name="connsiteX0" fmla="*/ 84063 w 200795"/>
              <a:gd name="connsiteY0" fmla="*/ 9846 h 214127"/>
              <a:gd name="connsiteX1" fmla="*/ 84063 w 200795"/>
              <a:gd name="connsiteY1" fmla="*/ 9846 h 214127"/>
              <a:gd name="connsiteX2" fmla="*/ 6242 w 200795"/>
              <a:gd name="connsiteY2" fmla="*/ 48757 h 214127"/>
              <a:gd name="connsiteX3" fmla="*/ 35425 w 200795"/>
              <a:gd name="connsiteY3" fmla="*/ 184944 h 214127"/>
              <a:gd name="connsiteX4" fmla="*/ 93791 w 200795"/>
              <a:gd name="connsiteY4" fmla="*/ 214127 h 214127"/>
              <a:gd name="connsiteX5" fmla="*/ 181340 w 200795"/>
              <a:gd name="connsiteY5" fmla="*/ 184944 h 214127"/>
              <a:gd name="connsiteX6" fmla="*/ 200795 w 200795"/>
              <a:gd name="connsiteY6" fmla="*/ 155761 h 214127"/>
              <a:gd name="connsiteX7" fmla="*/ 181340 w 200795"/>
              <a:gd name="connsiteY7" fmla="*/ 48757 h 214127"/>
              <a:gd name="connsiteX8" fmla="*/ 161884 w 200795"/>
              <a:gd name="connsiteY8" fmla="*/ 29301 h 214127"/>
              <a:gd name="connsiteX9" fmla="*/ 103518 w 200795"/>
              <a:gd name="connsiteY9" fmla="*/ 118 h 214127"/>
              <a:gd name="connsiteX10" fmla="*/ 84063 w 200795"/>
              <a:gd name="connsiteY10" fmla="*/ 9846 h 21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95" h="214127">
                <a:moveTo>
                  <a:pt x="84063" y="9846"/>
                </a:moveTo>
                <a:lnTo>
                  <a:pt x="84063" y="9846"/>
                </a:lnTo>
                <a:cubicBezTo>
                  <a:pt x="58123" y="22816"/>
                  <a:pt x="18507" y="22476"/>
                  <a:pt x="6242" y="48757"/>
                </a:cubicBezTo>
                <a:cubicBezTo>
                  <a:pt x="-8915" y="81235"/>
                  <a:pt x="4570" y="154090"/>
                  <a:pt x="35425" y="184944"/>
                </a:cubicBezTo>
                <a:cubicBezTo>
                  <a:pt x="54282" y="203801"/>
                  <a:pt x="70056" y="206215"/>
                  <a:pt x="93791" y="214127"/>
                </a:cubicBezTo>
                <a:cubicBezTo>
                  <a:pt x="132920" y="207605"/>
                  <a:pt x="153984" y="212300"/>
                  <a:pt x="181340" y="184944"/>
                </a:cubicBezTo>
                <a:cubicBezTo>
                  <a:pt x="189607" y="176677"/>
                  <a:pt x="194310" y="165489"/>
                  <a:pt x="200795" y="155761"/>
                </a:cubicBezTo>
                <a:cubicBezTo>
                  <a:pt x="199455" y="145039"/>
                  <a:pt x="195545" y="72432"/>
                  <a:pt x="181340" y="48757"/>
                </a:cubicBezTo>
                <a:cubicBezTo>
                  <a:pt x="176621" y="40892"/>
                  <a:pt x="169046" y="35030"/>
                  <a:pt x="161884" y="29301"/>
                </a:cubicBezTo>
                <a:cubicBezTo>
                  <a:pt x="142756" y="13998"/>
                  <a:pt x="127491" y="4913"/>
                  <a:pt x="103518" y="118"/>
                </a:cubicBezTo>
                <a:cubicBezTo>
                  <a:pt x="97159" y="-1154"/>
                  <a:pt x="87306" y="8225"/>
                  <a:pt x="84063" y="9846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A068F5-60A1-569A-18C9-6E3AFFE88DAC}"/>
              </a:ext>
            </a:extLst>
          </p:cNvPr>
          <p:cNvSpPr/>
          <p:nvPr/>
        </p:nvSpPr>
        <p:spPr>
          <a:xfrm>
            <a:off x="3407537" y="1719365"/>
            <a:ext cx="178657" cy="194988"/>
          </a:xfrm>
          <a:custGeom>
            <a:avLst/>
            <a:gdLst>
              <a:gd name="connsiteX0" fmla="*/ 0 w 178259"/>
              <a:gd name="connsiteY0" fmla="*/ 29183 h 194554"/>
              <a:gd name="connsiteX1" fmla="*/ 0 w 178259"/>
              <a:gd name="connsiteY1" fmla="*/ 29183 h 194554"/>
              <a:gd name="connsiteX2" fmla="*/ 87549 w 178259"/>
              <a:gd name="connsiteY2" fmla="*/ 9728 h 194554"/>
              <a:gd name="connsiteX3" fmla="*/ 116732 w 178259"/>
              <a:gd name="connsiteY3" fmla="*/ 0 h 194554"/>
              <a:gd name="connsiteX4" fmla="*/ 145915 w 178259"/>
              <a:gd name="connsiteY4" fmla="*/ 9728 h 194554"/>
              <a:gd name="connsiteX5" fmla="*/ 155643 w 178259"/>
              <a:gd name="connsiteY5" fmla="*/ 184826 h 194554"/>
              <a:gd name="connsiteX6" fmla="*/ 126460 w 178259"/>
              <a:gd name="connsiteY6" fmla="*/ 194554 h 194554"/>
              <a:gd name="connsiteX7" fmla="*/ 29183 w 178259"/>
              <a:gd name="connsiteY7" fmla="*/ 184826 h 194554"/>
              <a:gd name="connsiteX8" fmla="*/ 19455 w 178259"/>
              <a:gd name="connsiteY8" fmla="*/ 155643 h 194554"/>
              <a:gd name="connsiteX9" fmla="*/ 29183 w 178259"/>
              <a:gd name="connsiteY9" fmla="*/ 48639 h 194554"/>
              <a:gd name="connsiteX10" fmla="*/ 0 w 178259"/>
              <a:gd name="connsiteY10" fmla="*/ 29183 h 19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259" h="194554">
                <a:moveTo>
                  <a:pt x="0" y="29183"/>
                </a:moveTo>
                <a:lnTo>
                  <a:pt x="0" y="29183"/>
                </a:lnTo>
                <a:cubicBezTo>
                  <a:pt x="29183" y="22698"/>
                  <a:pt x="58547" y="16979"/>
                  <a:pt x="87549" y="9728"/>
                </a:cubicBezTo>
                <a:cubicBezTo>
                  <a:pt x="97497" y="7241"/>
                  <a:pt x="106478" y="0"/>
                  <a:pt x="116732" y="0"/>
                </a:cubicBezTo>
                <a:cubicBezTo>
                  <a:pt x="126986" y="0"/>
                  <a:pt x="136187" y="6485"/>
                  <a:pt x="145915" y="9728"/>
                </a:cubicBezTo>
                <a:cubicBezTo>
                  <a:pt x="187370" y="71912"/>
                  <a:pt x="187158" y="58762"/>
                  <a:pt x="155643" y="184826"/>
                </a:cubicBezTo>
                <a:cubicBezTo>
                  <a:pt x="153156" y="194774"/>
                  <a:pt x="136188" y="191311"/>
                  <a:pt x="126460" y="194554"/>
                </a:cubicBezTo>
                <a:cubicBezTo>
                  <a:pt x="94034" y="191311"/>
                  <a:pt x="59808" y="195963"/>
                  <a:pt x="29183" y="184826"/>
                </a:cubicBezTo>
                <a:cubicBezTo>
                  <a:pt x="19546" y="181322"/>
                  <a:pt x="19455" y="165897"/>
                  <a:pt x="19455" y="155643"/>
                </a:cubicBezTo>
                <a:cubicBezTo>
                  <a:pt x="19455" y="119828"/>
                  <a:pt x="26436" y="84349"/>
                  <a:pt x="29183" y="48639"/>
                </a:cubicBezTo>
                <a:cubicBezTo>
                  <a:pt x="29680" y="42173"/>
                  <a:pt x="4864" y="32426"/>
                  <a:pt x="0" y="29183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791975-DE87-A182-48A1-4DAF11FD3F66}"/>
              </a:ext>
            </a:extLst>
          </p:cNvPr>
          <p:cNvSpPr/>
          <p:nvPr/>
        </p:nvSpPr>
        <p:spPr>
          <a:xfrm>
            <a:off x="2996508" y="2116527"/>
            <a:ext cx="194988" cy="204737"/>
          </a:xfrm>
          <a:custGeom>
            <a:avLst/>
            <a:gdLst>
              <a:gd name="connsiteX0" fmla="*/ 87549 w 194553"/>
              <a:gd name="connsiteY0" fmla="*/ 0 h 204281"/>
              <a:gd name="connsiteX1" fmla="*/ 87549 w 194553"/>
              <a:gd name="connsiteY1" fmla="*/ 0 h 204281"/>
              <a:gd name="connsiteX2" fmla="*/ 0 w 194553"/>
              <a:gd name="connsiteY2" fmla="*/ 107004 h 204281"/>
              <a:gd name="connsiteX3" fmla="*/ 9727 w 194553"/>
              <a:gd name="connsiteY3" fmla="*/ 204281 h 204281"/>
              <a:gd name="connsiteX4" fmla="*/ 145914 w 194553"/>
              <a:gd name="connsiteY4" fmla="*/ 184825 h 204281"/>
              <a:gd name="connsiteX5" fmla="*/ 194553 w 194553"/>
              <a:gd name="connsiteY5" fmla="*/ 155642 h 204281"/>
              <a:gd name="connsiteX6" fmla="*/ 175097 w 194553"/>
              <a:gd name="connsiteY6" fmla="*/ 68093 h 204281"/>
              <a:gd name="connsiteX7" fmla="*/ 116731 w 194553"/>
              <a:gd name="connsiteY7" fmla="*/ 38910 h 204281"/>
              <a:gd name="connsiteX8" fmla="*/ 87549 w 194553"/>
              <a:gd name="connsiteY8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553" h="204281">
                <a:moveTo>
                  <a:pt x="87549" y="0"/>
                </a:moveTo>
                <a:lnTo>
                  <a:pt x="87549" y="0"/>
                </a:lnTo>
                <a:cubicBezTo>
                  <a:pt x="78780" y="8769"/>
                  <a:pt x="0" y="64345"/>
                  <a:pt x="0" y="107004"/>
                </a:cubicBezTo>
                <a:cubicBezTo>
                  <a:pt x="0" y="139591"/>
                  <a:pt x="6485" y="171855"/>
                  <a:pt x="9727" y="204281"/>
                </a:cubicBezTo>
                <a:cubicBezTo>
                  <a:pt x="55123" y="197796"/>
                  <a:pt x="113488" y="217250"/>
                  <a:pt x="145914" y="184825"/>
                </a:cubicBezTo>
                <a:cubicBezTo>
                  <a:pt x="172621" y="158120"/>
                  <a:pt x="156669" y="168270"/>
                  <a:pt x="194553" y="155642"/>
                </a:cubicBezTo>
                <a:cubicBezTo>
                  <a:pt x="194453" y="155044"/>
                  <a:pt x="185180" y="80697"/>
                  <a:pt x="175097" y="68093"/>
                </a:cubicBezTo>
                <a:cubicBezTo>
                  <a:pt x="164755" y="55166"/>
                  <a:pt x="132997" y="41621"/>
                  <a:pt x="116731" y="38910"/>
                </a:cubicBezTo>
                <a:cubicBezTo>
                  <a:pt x="107136" y="37311"/>
                  <a:pt x="92413" y="6485"/>
                  <a:pt x="8754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DE3728-D5F0-147A-3F83-9535D980C432}"/>
              </a:ext>
            </a:extLst>
          </p:cNvPr>
          <p:cNvSpPr/>
          <p:nvPr/>
        </p:nvSpPr>
        <p:spPr>
          <a:xfrm>
            <a:off x="3032504" y="2682491"/>
            <a:ext cx="214486" cy="263234"/>
          </a:xfrm>
          <a:custGeom>
            <a:avLst/>
            <a:gdLst>
              <a:gd name="connsiteX0" fmla="*/ 0 w 214008"/>
              <a:gd name="connsiteY0" fmla="*/ 136188 h 262647"/>
              <a:gd name="connsiteX1" fmla="*/ 0 w 214008"/>
              <a:gd name="connsiteY1" fmla="*/ 136188 h 262647"/>
              <a:gd name="connsiteX2" fmla="*/ 9728 w 214008"/>
              <a:gd name="connsiteY2" fmla="*/ 48639 h 262647"/>
              <a:gd name="connsiteX3" fmla="*/ 38911 w 214008"/>
              <a:gd name="connsiteY3" fmla="*/ 38911 h 262647"/>
              <a:gd name="connsiteX4" fmla="*/ 77821 w 214008"/>
              <a:gd name="connsiteY4" fmla="*/ 19456 h 262647"/>
              <a:gd name="connsiteX5" fmla="*/ 116732 w 214008"/>
              <a:gd name="connsiteY5" fmla="*/ 9728 h 262647"/>
              <a:gd name="connsiteX6" fmla="*/ 145915 w 214008"/>
              <a:gd name="connsiteY6" fmla="*/ 0 h 262647"/>
              <a:gd name="connsiteX7" fmla="*/ 175098 w 214008"/>
              <a:gd name="connsiteY7" fmla="*/ 9728 h 262647"/>
              <a:gd name="connsiteX8" fmla="*/ 214008 w 214008"/>
              <a:gd name="connsiteY8" fmla="*/ 68094 h 262647"/>
              <a:gd name="connsiteX9" fmla="*/ 204281 w 214008"/>
              <a:gd name="connsiteY9" fmla="*/ 223737 h 262647"/>
              <a:gd name="connsiteX10" fmla="*/ 184825 w 214008"/>
              <a:gd name="connsiteY10" fmla="*/ 243192 h 262647"/>
              <a:gd name="connsiteX11" fmla="*/ 126459 w 214008"/>
              <a:gd name="connsiteY11" fmla="*/ 262647 h 262647"/>
              <a:gd name="connsiteX12" fmla="*/ 87549 w 214008"/>
              <a:gd name="connsiteY12" fmla="*/ 252920 h 262647"/>
              <a:gd name="connsiteX13" fmla="*/ 68093 w 214008"/>
              <a:gd name="connsiteY13" fmla="*/ 233464 h 262647"/>
              <a:gd name="connsiteX14" fmla="*/ 19455 w 214008"/>
              <a:gd name="connsiteY14" fmla="*/ 145915 h 262647"/>
              <a:gd name="connsiteX15" fmla="*/ 0 w 214008"/>
              <a:gd name="connsiteY15" fmla="*/ 136188 h 26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008" h="262647">
                <a:moveTo>
                  <a:pt x="0" y="136188"/>
                </a:moveTo>
                <a:lnTo>
                  <a:pt x="0" y="136188"/>
                </a:lnTo>
                <a:cubicBezTo>
                  <a:pt x="3243" y="107005"/>
                  <a:pt x="-1177" y="75901"/>
                  <a:pt x="9728" y="48639"/>
                </a:cubicBezTo>
                <a:cubicBezTo>
                  <a:pt x="13536" y="39119"/>
                  <a:pt x="29486" y="42950"/>
                  <a:pt x="38911" y="38911"/>
                </a:cubicBezTo>
                <a:cubicBezTo>
                  <a:pt x="52239" y="33199"/>
                  <a:pt x="64243" y="24548"/>
                  <a:pt x="77821" y="19456"/>
                </a:cubicBezTo>
                <a:cubicBezTo>
                  <a:pt x="90339" y="14762"/>
                  <a:pt x="103877" y="13401"/>
                  <a:pt x="116732" y="9728"/>
                </a:cubicBezTo>
                <a:cubicBezTo>
                  <a:pt x="126591" y="6911"/>
                  <a:pt x="136187" y="3243"/>
                  <a:pt x="145915" y="0"/>
                </a:cubicBezTo>
                <a:cubicBezTo>
                  <a:pt x="155643" y="3243"/>
                  <a:pt x="167847" y="2477"/>
                  <a:pt x="175098" y="9728"/>
                </a:cubicBezTo>
                <a:cubicBezTo>
                  <a:pt x="191632" y="26262"/>
                  <a:pt x="214008" y="68094"/>
                  <a:pt x="214008" y="68094"/>
                </a:cubicBezTo>
                <a:cubicBezTo>
                  <a:pt x="210766" y="119975"/>
                  <a:pt x="212827" y="172462"/>
                  <a:pt x="204281" y="223737"/>
                </a:cubicBezTo>
                <a:cubicBezTo>
                  <a:pt x="202773" y="232784"/>
                  <a:pt x="193028" y="239091"/>
                  <a:pt x="184825" y="243192"/>
                </a:cubicBezTo>
                <a:cubicBezTo>
                  <a:pt x="166482" y="252363"/>
                  <a:pt x="126459" y="262647"/>
                  <a:pt x="126459" y="262647"/>
                </a:cubicBezTo>
                <a:cubicBezTo>
                  <a:pt x="113489" y="259405"/>
                  <a:pt x="99507" y="258899"/>
                  <a:pt x="87549" y="252920"/>
                </a:cubicBezTo>
                <a:cubicBezTo>
                  <a:pt x="79346" y="248818"/>
                  <a:pt x="73596" y="240801"/>
                  <a:pt x="68093" y="233464"/>
                </a:cubicBezTo>
                <a:cubicBezTo>
                  <a:pt x="40924" y="197239"/>
                  <a:pt x="28934" y="183829"/>
                  <a:pt x="19455" y="145915"/>
                </a:cubicBezTo>
                <a:cubicBezTo>
                  <a:pt x="18669" y="142769"/>
                  <a:pt x="3242" y="137809"/>
                  <a:pt x="0" y="136188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7579D41-296A-9187-7C3E-510AAF9DAC5F}"/>
              </a:ext>
            </a:extLst>
          </p:cNvPr>
          <p:cNvSpPr/>
          <p:nvPr/>
        </p:nvSpPr>
        <p:spPr>
          <a:xfrm>
            <a:off x="7069236" y="246326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80C409-5016-2E6B-44FF-75089455EFEC}"/>
              </a:ext>
            </a:extLst>
          </p:cNvPr>
          <p:cNvSpPr/>
          <p:nvPr/>
        </p:nvSpPr>
        <p:spPr>
          <a:xfrm>
            <a:off x="6457665" y="1803155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8E0991-B464-A21A-FCA7-60400622DF6D}"/>
              </a:ext>
            </a:extLst>
          </p:cNvPr>
          <p:cNvSpPr/>
          <p:nvPr/>
        </p:nvSpPr>
        <p:spPr>
          <a:xfrm>
            <a:off x="6469613" y="2948005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424AB7-EAF1-C272-B899-3EDA006FC8F2}"/>
              </a:ext>
            </a:extLst>
          </p:cNvPr>
          <p:cNvCxnSpPr>
            <a:cxnSpLocks/>
          </p:cNvCxnSpPr>
          <p:nvPr/>
        </p:nvCxnSpPr>
        <p:spPr>
          <a:xfrm>
            <a:off x="6697100" y="1981113"/>
            <a:ext cx="339312" cy="46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BED2C8-CA5C-3138-7734-558B7FE70F36}"/>
              </a:ext>
            </a:extLst>
          </p:cNvPr>
          <p:cNvCxnSpPr>
            <a:cxnSpLocks/>
          </p:cNvCxnSpPr>
          <p:nvPr/>
        </p:nvCxnSpPr>
        <p:spPr>
          <a:xfrm flipV="1">
            <a:off x="4231964" y="1969023"/>
            <a:ext cx="2091721" cy="1475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4B8916-1CDF-3781-2AA7-51901E7B85D1}"/>
              </a:ext>
            </a:extLst>
          </p:cNvPr>
          <p:cNvCxnSpPr>
            <a:cxnSpLocks/>
          </p:cNvCxnSpPr>
          <p:nvPr/>
        </p:nvCxnSpPr>
        <p:spPr>
          <a:xfrm>
            <a:off x="3685663" y="1800251"/>
            <a:ext cx="2638022" cy="8534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10AE17-F8CF-2A7F-908B-5D88B5BFFC22}"/>
              </a:ext>
            </a:extLst>
          </p:cNvPr>
          <p:cNvCxnSpPr>
            <a:cxnSpLocks/>
          </p:cNvCxnSpPr>
          <p:nvPr/>
        </p:nvCxnSpPr>
        <p:spPr>
          <a:xfrm flipH="1">
            <a:off x="4054486" y="2611583"/>
            <a:ext cx="2882689" cy="33414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7025BBC-0719-5374-7A20-0A8C5EC04BF0}"/>
              </a:ext>
            </a:extLst>
          </p:cNvPr>
          <p:cNvSpPr/>
          <p:nvPr/>
        </p:nvSpPr>
        <p:spPr>
          <a:xfrm>
            <a:off x="2662082" y="3159153"/>
            <a:ext cx="170388" cy="212184"/>
          </a:xfrm>
          <a:custGeom>
            <a:avLst/>
            <a:gdLst>
              <a:gd name="connsiteX0" fmla="*/ 85725 w 114300"/>
              <a:gd name="connsiteY0" fmla="*/ 3084 h 142338"/>
              <a:gd name="connsiteX1" fmla="*/ 61912 w 114300"/>
              <a:gd name="connsiteY1" fmla="*/ 12609 h 142338"/>
              <a:gd name="connsiteX2" fmla="*/ 9525 w 114300"/>
              <a:gd name="connsiteY2" fmla="*/ 50709 h 142338"/>
              <a:gd name="connsiteX3" fmla="*/ 0 w 114300"/>
              <a:gd name="connsiteY3" fmla="*/ 69759 h 142338"/>
              <a:gd name="connsiteX4" fmla="*/ 9525 w 114300"/>
              <a:gd name="connsiteY4" fmla="*/ 131671 h 142338"/>
              <a:gd name="connsiteX5" fmla="*/ 100012 w 114300"/>
              <a:gd name="connsiteY5" fmla="*/ 117384 h 142338"/>
              <a:gd name="connsiteX6" fmla="*/ 114300 w 114300"/>
              <a:gd name="connsiteY6" fmla="*/ 69759 h 142338"/>
              <a:gd name="connsiteX7" fmla="*/ 85725 w 114300"/>
              <a:gd name="connsiteY7" fmla="*/ 3084 h 14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" h="142338">
                <a:moveTo>
                  <a:pt x="85725" y="3084"/>
                </a:moveTo>
                <a:cubicBezTo>
                  <a:pt x="76994" y="-6441"/>
                  <a:pt x="69559" y="8786"/>
                  <a:pt x="61912" y="12609"/>
                </a:cubicBezTo>
                <a:cubicBezTo>
                  <a:pt x="40323" y="23403"/>
                  <a:pt x="23911" y="31528"/>
                  <a:pt x="9525" y="50709"/>
                </a:cubicBezTo>
                <a:cubicBezTo>
                  <a:pt x="5265" y="56389"/>
                  <a:pt x="3175" y="63409"/>
                  <a:pt x="0" y="69759"/>
                </a:cubicBezTo>
                <a:cubicBezTo>
                  <a:pt x="3175" y="90396"/>
                  <a:pt x="-4683" y="116370"/>
                  <a:pt x="9525" y="131671"/>
                </a:cubicBezTo>
                <a:cubicBezTo>
                  <a:pt x="34455" y="158519"/>
                  <a:pt x="79914" y="127433"/>
                  <a:pt x="100012" y="117384"/>
                </a:cubicBezTo>
                <a:cubicBezTo>
                  <a:pt x="100565" y="115725"/>
                  <a:pt x="114300" y="76954"/>
                  <a:pt x="114300" y="69759"/>
                </a:cubicBezTo>
                <a:cubicBezTo>
                  <a:pt x="114300" y="-1041"/>
                  <a:pt x="94456" y="12609"/>
                  <a:pt x="85725" y="3084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3BB3B4E-4721-C142-16F9-2BD80B26CDCF}"/>
              </a:ext>
            </a:extLst>
          </p:cNvPr>
          <p:cNvSpPr/>
          <p:nvPr/>
        </p:nvSpPr>
        <p:spPr>
          <a:xfrm>
            <a:off x="3642606" y="2473285"/>
            <a:ext cx="86112" cy="86434"/>
          </a:xfrm>
          <a:custGeom>
            <a:avLst/>
            <a:gdLst>
              <a:gd name="connsiteX0" fmla="*/ 39719 w 57766"/>
              <a:gd name="connsiteY0" fmla="*/ 0 h 57982"/>
              <a:gd name="connsiteX1" fmla="*/ 1619 w 57766"/>
              <a:gd name="connsiteY1" fmla="*/ 52387 h 57982"/>
              <a:gd name="connsiteX2" fmla="*/ 34956 w 57766"/>
              <a:gd name="connsiteY2" fmla="*/ 57150 h 57982"/>
              <a:gd name="connsiteX3" fmla="*/ 54006 w 57766"/>
              <a:gd name="connsiteY3" fmla="*/ 52387 h 57982"/>
              <a:gd name="connsiteX4" fmla="*/ 39719 w 57766"/>
              <a:gd name="connsiteY4" fmla="*/ 0 h 5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6" h="57982">
                <a:moveTo>
                  <a:pt x="39719" y="0"/>
                </a:moveTo>
                <a:cubicBezTo>
                  <a:pt x="30988" y="0"/>
                  <a:pt x="-8398" y="32353"/>
                  <a:pt x="1619" y="52387"/>
                </a:cubicBezTo>
                <a:cubicBezTo>
                  <a:pt x="6639" y="62427"/>
                  <a:pt x="23844" y="55562"/>
                  <a:pt x="34956" y="57150"/>
                </a:cubicBezTo>
                <a:cubicBezTo>
                  <a:pt x="41306" y="55562"/>
                  <a:pt x="50079" y="57623"/>
                  <a:pt x="54006" y="52387"/>
                </a:cubicBezTo>
                <a:cubicBezTo>
                  <a:pt x="65276" y="37361"/>
                  <a:pt x="48450" y="0"/>
                  <a:pt x="3971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DE3C69F-3B76-6F9A-C061-E84A24DEA67E}"/>
              </a:ext>
            </a:extLst>
          </p:cNvPr>
          <p:cNvSpPr/>
          <p:nvPr/>
        </p:nvSpPr>
        <p:spPr>
          <a:xfrm>
            <a:off x="3818922" y="2894846"/>
            <a:ext cx="132199" cy="249764"/>
          </a:xfrm>
          <a:custGeom>
            <a:avLst/>
            <a:gdLst>
              <a:gd name="connsiteX0" fmla="*/ 45820 w 88682"/>
              <a:gd name="connsiteY0" fmla="*/ 230 h 167547"/>
              <a:gd name="connsiteX1" fmla="*/ 17245 w 88682"/>
              <a:gd name="connsiteY1" fmla="*/ 24043 h 167547"/>
              <a:gd name="connsiteX2" fmla="*/ 7720 w 88682"/>
              <a:gd name="connsiteY2" fmla="*/ 105005 h 167547"/>
              <a:gd name="connsiteX3" fmla="*/ 50582 w 88682"/>
              <a:gd name="connsiteY3" fmla="*/ 133580 h 167547"/>
              <a:gd name="connsiteX4" fmla="*/ 79157 w 88682"/>
              <a:gd name="connsiteY4" fmla="*/ 166918 h 167547"/>
              <a:gd name="connsiteX5" fmla="*/ 88682 w 88682"/>
              <a:gd name="connsiteY5" fmla="*/ 105005 h 167547"/>
              <a:gd name="connsiteX6" fmla="*/ 79157 w 88682"/>
              <a:gd name="connsiteY6" fmla="*/ 57380 h 167547"/>
              <a:gd name="connsiteX7" fmla="*/ 69632 w 88682"/>
              <a:gd name="connsiteY7" fmla="*/ 38330 h 167547"/>
              <a:gd name="connsiteX8" fmla="*/ 45820 w 88682"/>
              <a:gd name="connsiteY8" fmla="*/ 230 h 16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682" h="167547">
                <a:moveTo>
                  <a:pt x="45820" y="230"/>
                </a:moveTo>
                <a:cubicBezTo>
                  <a:pt x="37089" y="-2151"/>
                  <a:pt x="25096" y="14447"/>
                  <a:pt x="17245" y="24043"/>
                </a:cubicBezTo>
                <a:cubicBezTo>
                  <a:pt x="294" y="44761"/>
                  <a:pt x="-6535" y="80772"/>
                  <a:pt x="7720" y="105005"/>
                </a:cubicBezTo>
                <a:cubicBezTo>
                  <a:pt x="16426" y="119806"/>
                  <a:pt x="50582" y="133580"/>
                  <a:pt x="50582" y="133580"/>
                </a:cubicBezTo>
                <a:cubicBezTo>
                  <a:pt x="52820" y="136937"/>
                  <a:pt x="75307" y="172693"/>
                  <a:pt x="79157" y="166918"/>
                </a:cubicBezTo>
                <a:cubicBezTo>
                  <a:pt x="90739" y="149544"/>
                  <a:pt x="85507" y="125643"/>
                  <a:pt x="88682" y="105005"/>
                </a:cubicBezTo>
                <a:cubicBezTo>
                  <a:pt x="85507" y="89130"/>
                  <a:pt x="83605" y="72946"/>
                  <a:pt x="79157" y="57380"/>
                </a:cubicBezTo>
                <a:cubicBezTo>
                  <a:pt x="77207" y="50554"/>
                  <a:pt x="71877" y="45065"/>
                  <a:pt x="69632" y="38330"/>
                </a:cubicBezTo>
                <a:cubicBezTo>
                  <a:pt x="57466" y="1830"/>
                  <a:pt x="54551" y="2611"/>
                  <a:pt x="45820" y="23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B0E129A-0ED5-92D2-64B6-7B4D069B6732}"/>
              </a:ext>
            </a:extLst>
          </p:cNvPr>
          <p:cNvSpPr/>
          <p:nvPr/>
        </p:nvSpPr>
        <p:spPr>
          <a:xfrm>
            <a:off x="4053826" y="1981113"/>
            <a:ext cx="178138" cy="241383"/>
          </a:xfrm>
          <a:custGeom>
            <a:avLst/>
            <a:gdLst>
              <a:gd name="connsiteX0" fmla="*/ 0 w 119499"/>
              <a:gd name="connsiteY0" fmla="*/ 152400 h 161925"/>
              <a:gd name="connsiteX1" fmla="*/ 38100 w 119499"/>
              <a:gd name="connsiteY1" fmla="*/ 19050 h 161925"/>
              <a:gd name="connsiteX2" fmla="*/ 42863 w 119499"/>
              <a:gd name="connsiteY2" fmla="*/ 4762 h 161925"/>
              <a:gd name="connsiteX3" fmla="*/ 80963 w 119499"/>
              <a:gd name="connsiteY3" fmla="*/ 0 h 161925"/>
              <a:gd name="connsiteX4" fmla="*/ 109538 w 119499"/>
              <a:gd name="connsiteY4" fmla="*/ 4762 h 161925"/>
              <a:gd name="connsiteX5" fmla="*/ 100013 w 119499"/>
              <a:gd name="connsiteY5" fmla="*/ 90487 h 161925"/>
              <a:gd name="connsiteX6" fmla="*/ 61913 w 119499"/>
              <a:gd name="connsiteY6" fmla="*/ 138112 h 161925"/>
              <a:gd name="connsiteX7" fmla="*/ 47625 w 119499"/>
              <a:gd name="connsiteY7" fmla="*/ 147637 h 161925"/>
              <a:gd name="connsiteX8" fmla="*/ 33338 w 119499"/>
              <a:gd name="connsiteY8" fmla="*/ 161925 h 161925"/>
              <a:gd name="connsiteX9" fmla="*/ 0 w 119499"/>
              <a:gd name="connsiteY9" fmla="*/ 15240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499" h="161925">
                <a:moveTo>
                  <a:pt x="0" y="152400"/>
                </a:moveTo>
                <a:cubicBezTo>
                  <a:pt x="12700" y="107950"/>
                  <a:pt x="23480" y="62906"/>
                  <a:pt x="38100" y="19050"/>
                </a:cubicBezTo>
                <a:cubicBezTo>
                  <a:pt x="39688" y="14287"/>
                  <a:pt x="38275" y="6801"/>
                  <a:pt x="42863" y="4762"/>
                </a:cubicBezTo>
                <a:cubicBezTo>
                  <a:pt x="54559" y="-436"/>
                  <a:pt x="68263" y="1587"/>
                  <a:pt x="80963" y="0"/>
                </a:cubicBezTo>
                <a:cubicBezTo>
                  <a:pt x="90488" y="1587"/>
                  <a:pt x="102710" y="-2066"/>
                  <a:pt x="109538" y="4762"/>
                </a:cubicBezTo>
                <a:cubicBezTo>
                  <a:pt x="133010" y="28234"/>
                  <a:pt x="108796" y="71824"/>
                  <a:pt x="100013" y="90487"/>
                </a:cubicBezTo>
                <a:cubicBezTo>
                  <a:pt x="91727" y="108094"/>
                  <a:pt x="76706" y="125433"/>
                  <a:pt x="61913" y="138112"/>
                </a:cubicBezTo>
                <a:cubicBezTo>
                  <a:pt x="57567" y="141837"/>
                  <a:pt x="52022" y="143973"/>
                  <a:pt x="47625" y="147637"/>
                </a:cubicBezTo>
                <a:cubicBezTo>
                  <a:pt x="42451" y="151949"/>
                  <a:pt x="38100" y="157162"/>
                  <a:pt x="33338" y="161925"/>
                </a:cubicBezTo>
                <a:lnTo>
                  <a:pt x="0" y="152400"/>
                </a:ln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588C97-8780-D36A-7A4E-92C319C01A40}"/>
              </a:ext>
            </a:extLst>
          </p:cNvPr>
          <p:cNvSpPr/>
          <p:nvPr/>
        </p:nvSpPr>
        <p:spPr>
          <a:xfrm>
            <a:off x="2445399" y="1802161"/>
            <a:ext cx="238224" cy="166862"/>
          </a:xfrm>
          <a:custGeom>
            <a:avLst/>
            <a:gdLst>
              <a:gd name="connsiteX0" fmla="*/ 112181 w 159806"/>
              <a:gd name="connsiteY0" fmla="*/ 2397 h 111935"/>
              <a:gd name="connsiteX1" fmla="*/ 88368 w 159806"/>
              <a:gd name="connsiteY1" fmla="*/ 7160 h 111935"/>
              <a:gd name="connsiteX2" fmla="*/ 26456 w 159806"/>
              <a:gd name="connsiteY2" fmla="*/ 11922 h 111935"/>
              <a:gd name="connsiteX3" fmla="*/ 12168 w 159806"/>
              <a:gd name="connsiteY3" fmla="*/ 21447 h 111935"/>
              <a:gd name="connsiteX4" fmla="*/ 7406 w 159806"/>
              <a:gd name="connsiteY4" fmla="*/ 54785 h 111935"/>
              <a:gd name="connsiteX5" fmla="*/ 2643 w 159806"/>
              <a:gd name="connsiteY5" fmla="*/ 83360 h 111935"/>
              <a:gd name="connsiteX6" fmla="*/ 78843 w 159806"/>
              <a:gd name="connsiteY6" fmla="*/ 111935 h 111935"/>
              <a:gd name="connsiteX7" fmla="*/ 135993 w 159806"/>
              <a:gd name="connsiteY7" fmla="*/ 102410 h 111935"/>
              <a:gd name="connsiteX8" fmla="*/ 159806 w 159806"/>
              <a:gd name="connsiteY8" fmla="*/ 50022 h 111935"/>
              <a:gd name="connsiteX9" fmla="*/ 112181 w 159806"/>
              <a:gd name="connsiteY9" fmla="*/ 2397 h 11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06" h="111935">
                <a:moveTo>
                  <a:pt x="112181" y="2397"/>
                </a:moveTo>
                <a:cubicBezTo>
                  <a:pt x="100275" y="-4747"/>
                  <a:pt x="96413" y="6266"/>
                  <a:pt x="88368" y="7160"/>
                </a:cubicBezTo>
                <a:cubicBezTo>
                  <a:pt x="67796" y="9446"/>
                  <a:pt x="46800" y="8108"/>
                  <a:pt x="26456" y="11922"/>
                </a:cubicBezTo>
                <a:cubicBezTo>
                  <a:pt x="20830" y="12977"/>
                  <a:pt x="16931" y="18272"/>
                  <a:pt x="12168" y="21447"/>
                </a:cubicBezTo>
                <a:cubicBezTo>
                  <a:pt x="10581" y="32560"/>
                  <a:pt x="9113" y="43690"/>
                  <a:pt x="7406" y="54785"/>
                </a:cubicBezTo>
                <a:cubicBezTo>
                  <a:pt x="5938" y="64329"/>
                  <a:pt x="-4897" y="77328"/>
                  <a:pt x="2643" y="83360"/>
                </a:cubicBezTo>
                <a:cubicBezTo>
                  <a:pt x="23826" y="100306"/>
                  <a:pt x="78843" y="111935"/>
                  <a:pt x="78843" y="111935"/>
                </a:cubicBezTo>
                <a:cubicBezTo>
                  <a:pt x="97893" y="108760"/>
                  <a:pt x="118062" y="109583"/>
                  <a:pt x="135993" y="102410"/>
                </a:cubicBezTo>
                <a:cubicBezTo>
                  <a:pt x="150826" y="96477"/>
                  <a:pt x="157403" y="58432"/>
                  <a:pt x="159806" y="50022"/>
                </a:cubicBezTo>
                <a:cubicBezTo>
                  <a:pt x="154149" y="-885"/>
                  <a:pt x="124087" y="9541"/>
                  <a:pt x="112181" y="2397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BB48FB-2C40-FA50-C750-BE00D7A3BBA9}"/>
              </a:ext>
            </a:extLst>
          </p:cNvPr>
          <p:cNvSpPr/>
          <p:nvPr/>
        </p:nvSpPr>
        <p:spPr>
          <a:xfrm>
            <a:off x="7176162" y="159582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0B4B50-6E1D-73C4-41CB-C5CDED77C83B}"/>
              </a:ext>
            </a:extLst>
          </p:cNvPr>
          <p:cNvSpPr/>
          <p:nvPr/>
        </p:nvSpPr>
        <p:spPr>
          <a:xfrm>
            <a:off x="7036615" y="3197984"/>
            <a:ext cx="182196" cy="182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EC68C9C-9B4C-C6E5-438A-043C831412B2}"/>
              </a:ext>
            </a:extLst>
          </p:cNvPr>
          <p:cNvCxnSpPr>
            <a:cxnSpLocks/>
          </p:cNvCxnSpPr>
          <p:nvPr/>
        </p:nvCxnSpPr>
        <p:spPr>
          <a:xfrm flipH="1">
            <a:off x="3818922" y="2523972"/>
            <a:ext cx="3047834" cy="303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9B57F19-25D1-D094-E94C-4456812D5645}"/>
              </a:ext>
            </a:extLst>
          </p:cNvPr>
          <p:cNvCxnSpPr>
            <a:cxnSpLocks/>
          </p:cNvCxnSpPr>
          <p:nvPr/>
        </p:nvCxnSpPr>
        <p:spPr>
          <a:xfrm flipH="1">
            <a:off x="3931199" y="2279717"/>
            <a:ext cx="142601" cy="5343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962E49-750E-3988-F348-8D7C1721DFFF}"/>
              </a:ext>
            </a:extLst>
          </p:cNvPr>
          <p:cNvCxnSpPr>
            <a:cxnSpLocks/>
          </p:cNvCxnSpPr>
          <p:nvPr/>
        </p:nvCxnSpPr>
        <p:spPr>
          <a:xfrm>
            <a:off x="3517794" y="1981113"/>
            <a:ext cx="137045" cy="4473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B8EF629-CAE7-EC54-36BA-A5887059EF31}"/>
              </a:ext>
            </a:extLst>
          </p:cNvPr>
          <p:cNvSpPr txBox="1"/>
          <p:nvPr/>
        </p:nvSpPr>
        <p:spPr>
          <a:xfrm>
            <a:off x="695763" y="5184431"/>
            <a:ext cx="80380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 mathematical definition is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physical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if it captures and only captures an aspect of the physical system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3B3C8F-E39D-74AF-21D5-CF7FB9D0905A}"/>
              </a:ext>
            </a:extLst>
          </p:cNvPr>
          <p:cNvSpPr/>
          <p:nvPr/>
        </p:nvSpPr>
        <p:spPr>
          <a:xfrm>
            <a:off x="1940845" y="1380960"/>
            <a:ext cx="2556149" cy="224071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30CADE5B-9E82-FF30-DAE3-46D0806AE53A}"/>
              </a:ext>
            </a:extLst>
          </p:cNvPr>
          <p:cNvSpPr/>
          <p:nvPr/>
        </p:nvSpPr>
        <p:spPr>
          <a:xfrm>
            <a:off x="4627004" y="3992634"/>
            <a:ext cx="1290083" cy="514093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191DD-3645-8A8E-9A3D-60FBC1F8FB1F}"/>
              </a:ext>
            </a:extLst>
          </p:cNvPr>
          <p:cNvSpPr txBox="1"/>
          <p:nvPr/>
        </p:nvSpPr>
        <p:spPr>
          <a:xfrm>
            <a:off x="6028276" y="4064745"/>
            <a:ext cx="244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Mathematical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CED20-C24F-590B-167B-0642AC07B8B1}"/>
              </a:ext>
            </a:extLst>
          </p:cNvPr>
          <p:cNvSpPr txBox="1"/>
          <p:nvPr/>
        </p:nvSpPr>
        <p:spPr>
          <a:xfrm>
            <a:off x="715701" y="1209222"/>
            <a:ext cx="1357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well-defined</a:t>
            </a:r>
            <a:br>
              <a:rPr lang="en-US" dirty="0"/>
            </a:br>
            <a:r>
              <a:rPr lang="en-US" dirty="0"/>
              <a:t>physical</a:t>
            </a:r>
          </a:p>
          <a:p>
            <a:r>
              <a:rPr lang="en-US" dirty="0"/>
              <a:t>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57DD2-6D82-475F-0E72-195836A03CFF}"/>
              </a:ext>
            </a:extLst>
          </p:cNvPr>
          <p:cNvSpPr txBox="1"/>
          <p:nvPr/>
        </p:nvSpPr>
        <p:spPr>
          <a:xfrm>
            <a:off x="7872026" y="1355194"/>
            <a:ext cx="1473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well-defined</a:t>
            </a:r>
            <a:br>
              <a:rPr lang="en-US" dirty="0"/>
            </a:br>
            <a:r>
              <a:rPr lang="en-US" dirty="0"/>
              <a:t>mathematical</a:t>
            </a:r>
            <a:br>
              <a:rPr lang="en-US" dirty="0"/>
            </a:br>
            <a:r>
              <a:rPr lang="en-US" dirty="0"/>
              <a:t>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6E1330-0771-A094-BD7A-AF12FB3C1BBB}"/>
              </a:ext>
            </a:extLst>
          </p:cNvPr>
          <p:cNvSpPr txBox="1"/>
          <p:nvPr/>
        </p:nvSpPr>
        <p:spPr>
          <a:xfrm>
            <a:off x="1815927" y="226388"/>
            <a:ext cx="25561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Physical world</a:t>
            </a:r>
            <a:br>
              <a:rPr lang="en-US" sz="3200" dirty="0"/>
            </a:br>
            <a:r>
              <a:rPr lang="en-US" sz="2000" dirty="0"/>
              <a:t>(informal system)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5D4900-4025-F18F-5148-FADC60795B4C}"/>
              </a:ext>
            </a:extLst>
          </p:cNvPr>
          <p:cNvSpPr txBox="1"/>
          <p:nvPr/>
        </p:nvSpPr>
        <p:spPr>
          <a:xfrm>
            <a:off x="5342839" y="225082"/>
            <a:ext cx="50619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Mathematical representation</a:t>
            </a:r>
          </a:p>
          <a:p>
            <a:pPr algn="ctr"/>
            <a:r>
              <a:rPr lang="en-US" sz="2000" dirty="0"/>
              <a:t>(formal system)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12DC4-0BEA-181B-2A3E-98BD3E41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87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BAC487-BEE7-759B-DE15-6BA6A83E93E3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F1EB9-8744-A3D5-2B5D-2353CD3ADE0C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statement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2C0585-271C-699B-8E4D-339A8B92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223"/>
          <a:stretch/>
        </p:blipFill>
        <p:spPr>
          <a:xfrm>
            <a:off x="276926" y="274645"/>
            <a:ext cx="6692929" cy="24530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16BAAD-FCC2-7FA5-6880-DD481F5C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86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C697-A815-6B75-08D1-7A2B080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FE51D8-2D68-E377-3878-1ADC600F5D4E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76FE6-8B85-8C0F-F752-EB10A2770E2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48DFFD-7694-ED1C-D3EE-C52A8041B072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statement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694C7-9C22-00F2-CADA-99B9D317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718"/>
          <a:stretch/>
        </p:blipFill>
        <p:spPr>
          <a:xfrm>
            <a:off x="276926" y="274646"/>
            <a:ext cx="6692929" cy="22328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543C785-4656-16D1-0C0E-C38ECDC3D1B0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requirement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55F78-63C3-02A8-F888-7E25B5820911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DEBAB9-06C6-92E9-C34B-4981CA3D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26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9D14-F961-FB1B-1B55-7B3119A8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49DA16-BC8B-4ACF-EF57-5410463310A7}"/>
              </a:ext>
            </a:extLst>
          </p:cNvPr>
          <p:cNvSpPr/>
          <p:nvPr/>
        </p:nvSpPr>
        <p:spPr>
          <a:xfrm>
            <a:off x="7037294" y="2507455"/>
            <a:ext cx="77259" cy="38305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AB716-90C8-674B-6645-ED43312155F6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39B586-C693-2FAC-2F04-C59BFDE0653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EAAF2-47DC-528E-B41F-842C43918953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statement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095D75-F070-F9D4-80DB-8AB86109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578"/>
          <a:stretch/>
        </p:blipFill>
        <p:spPr>
          <a:xfrm>
            <a:off x="276926" y="274645"/>
            <a:ext cx="6692929" cy="3040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4BB0E9-F718-0972-70B4-C0A83393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85" b="1"/>
          <a:stretch/>
        </p:blipFill>
        <p:spPr>
          <a:xfrm>
            <a:off x="273986" y="3115614"/>
            <a:ext cx="6692929" cy="32248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708194-2A12-D22F-B248-9A99FFEBC83E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requirement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3CDE6-03DA-8072-ACA8-E03F92E031AC}"/>
              </a:ext>
            </a:extLst>
          </p:cNvPr>
          <p:cNvSpPr txBox="1"/>
          <p:nvPr/>
        </p:nvSpPr>
        <p:spPr>
          <a:xfrm>
            <a:off x="7253100" y="2792448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requirement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statement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73D634-5366-26FD-DD48-FA61848D9F6C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2B99A-52ED-041E-5E15-D79175322F99}"/>
              </a:ext>
            </a:extLst>
          </p:cNvPr>
          <p:cNvSpPr/>
          <p:nvPr/>
        </p:nvSpPr>
        <p:spPr>
          <a:xfrm>
            <a:off x="670560" y="2509245"/>
            <a:ext cx="982980" cy="1963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370BAE-E2F9-D0C9-C50A-C22F90CE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959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CD76-87E6-235A-A635-D67FABA8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C3931-E301-90A3-B191-F6312B98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429579"/>
            <a:ext cx="11155332" cy="704948"/>
          </a:xfrm>
          <a:prstGeom prst="rect">
            <a:avLst/>
          </a:prstGeom>
        </p:spPr>
      </p:pic>
      <p:graphicFrame>
        <p:nvGraphicFramePr>
          <p:cNvPr id="4" name="Table 52">
            <a:extLst>
              <a:ext uri="{FF2B5EF4-FFF2-40B4-BE49-F238E27FC236}">
                <a16:creationId xmlns:a16="http://schemas.microsoft.com/office/drawing/2014/main" id="{BB5B8DFA-9E74-673F-9809-B3365BDF8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71603"/>
              </p:ext>
            </p:extLst>
          </p:nvPr>
        </p:nvGraphicFramePr>
        <p:xfrm>
          <a:off x="3671346" y="2667000"/>
          <a:ext cx="342384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337734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1FBE3F-D8C4-D237-BCB1-2F7C50B68BEE}"/>
                  </a:ext>
                </a:extLst>
              </p:cNvPr>
              <p:cNvSpPr txBox="1"/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Science is about statements that are associated to experimental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3A581-5556-303C-C8F1-939F28965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blipFill>
                <a:blip r:embed="rId3"/>
                <a:stretch>
                  <a:fillRect t="-11628" r="-172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0707C9-7BD3-6E06-1A0D-B21CEA9E9C0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828397" y="2508871"/>
            <a:ext cx="842949" cy="29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30E0A8-B185-CF0F-5F11-F17C6C609980}"/>
              </a:ext>
            </a:extLst>
          </p:cNvPr>
          <p:cNvSpPr txBox="1"/>
          <p:nvPr/>
        </p:nvSpPr>
        <p:spPr>
          <a:xfrm>
            <a:off x="518334" y="2047206"/>
            <a:ext cx="2310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Statements must be either true or false for everybody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C37DE-2326-EA0B-872A-6E0012D023DF}"/>
              </a:ext>
            </a:extLst>
          </p:cNvPr>
          <p:cNvSpPr txBox="1"/>
          <p:nvPr/>
        </p:nvSpPr>
        <p:spPr>
          <a:xfrm>
            <a:off x="8164689" y="2343834"/>
            <a:ext cx="3193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Tests may or may not terminate (i.e. be conclusive)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B2633-13F0-2C6F-C880-76DD4E950128}"/>
              </a:ext>
            </a:extLst>
          </p:cNvPr>
          <p:cNvCxnSpPr>
            <a:cxnSpLocks/>
          </p:cNvCxnSpPr>
          <p:nvPr/>
        </p:nvCxnSpPr>
        <p:spPr>
          <a:xfrm flipH="1">
            <a:off x="7321740" y="2654760"/>
            <a:ext cx="770356" cy="14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52">
            <a:extLst>
              <a:ext uri="{FF2B5EF4-FFF2-40B4-BE49-F238E27FC236}">
                <a16:creationId xmlns:a16="http://schemas.microsoft.com/office/drawing/2014/main" id="{7CB7471C-DA5C-FCAD-81F2-E09CBD519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00332"/>
              </p:ext>
            </p:extLst>
          </p:nvPr>
        </p:nvGraphicFramePr>
        <p:xfrm>
          <a:off x="3671346" y="4722844"/>
          <a:ext cx="3423847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Verifiable 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63D73-4D7F-4F75-712C-55D7101E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84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C284AB-0322-494C-AD97-CF62D6AB5E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431" y="136525"/>
                <a:ext cx="11843238" cy="89742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C284AB-0322-494C-AD97-CF62D6AB5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431" y="136525"/>
                <a:ext cx="11843238" cy="897425"/>
              </a:xfrm>
              <a:blipFill>
                <a:blip r:embed="rId2"/>
                <a:stretch>
                  <a:fillRect t="-9459" b="-20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5DDAAB7-9C97-E32E-60DF-D462351CD1B6}"/>
              </a:ext>
            </a:extLst>
          </p:cNvPr>
          <p:cNvGrpSpPr/>
          <p:nvPr/>
        </p:nvGrpSpPr>
        <p:grpSpPr>
          <a:xfrm>
            <a:off x="292581" y="1008555"/>
            <a:ext cx="2990369" cy="2684357"/>
            <a:chOff x="1041881" y="1285108"/>
            <a:chExt cx="2990369" cy="26843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5B4C9C1-42AC-8C4C-EA49-007BC61E6D36}"/>
                </a:ext>
              </a:extLst>
            </p:cNvPr>
            <p:cNvSpPr/>
            <p:nvPr/>
          </p:nvSpPr>
          <p:spPr>
            <a:xfrm>
              <a:off x="1085855" y="1285108"/>
              <a:ext cx="2946395" cy="13457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43E7D67-F6E8-5440-F2B7-DF0C34E6D019}"/>
                </a:ext>
              </a:extLst>
            </p:cNvPr>
            <p:cNvSpPr/>
            <p:nvPr/>
          </p:nvSpPr>
          <p:spPr>
            <a:xfrm>
              <a:off x="2581027" y="1755678"/>
              <a:ext cx="1362635" cy="6281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0368A0-66B3-DFAE-9A39-77D7ECFB12D7}"/>
                </a:ext>
              </a:extLst>
            </p:cNvPr>
            <p:cNvSpPr txBox="1"/>
            <p:nvPr/>
          </p:nvSpPr>
          <p:spPr>
            <a:xfrm>
              <a:off x="2849723" y="1909004"/>
              <a:ext cx="10338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Possibilities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081FD6B-908A-8E9E-9648-B5E1B0B9E7FE}"/>
                </a:ext>
              </a:extLst>
            </p:cNvPr>
            <p:cNvSpPr txBox="1"/>
            <p:nvPr/>
          </p:nvSpPr>
          <p:spPr>
            <a:xfrm>
              <a:off x="1531887" y="1297809"/>
              <a:ext cx="1863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Theoretical statements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9102EA5-5CF4-AD1A-7C4D-67C90CEC74B0}"/>
                </a:ext>
              </a:extLst>
            </p:cNvPr>
            <p:cNvSpPr/>
            <p:nvPr/>
          </p:nvSpPr>
          <p:spPr>
            <a:xfrm>
              <a:off x="1189256" y="1598740"/>
              <a:ext cx="1687294" cy="897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CB3B32-912A-3F65-4BEB-E9D7D051EA61}"/>
                </a:ext>
              </a:extLst>
            </p:cNvPr>
            <p:cNvSpPr txBox="1"/>
            <p:nvPr/>
          </p:nvSpPr>
          <p:spPr>
            <a:xfrm>
              <a:off x="1463536" y="1774599"/>
              <a:ext cx="1002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Verifiable</a:t>
              </a:r>
              <a:br>
                <a:rPr lang="en-US" sz="1400" dirty="0"/>
              </a:br>
              <a:r>
                <a:rPr lang="en-US" sz="1400" dirty="0"/>
                <a:t>statements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12CA9CE-D84F-502E-8A4C-640CB218A657}"/>
                </a:ext>
              </a:extLst>
            </p:cNvPr>
            <p:cNvGrpSpPr/>
            <p:nvPr/>
          </p:nvGrpSpPr>
          <p:grpSpPr>
            <a:xfrm>
              <a:off x="3045795" y="3193936"/>
              <a:ext cx="889000" cy="365125"/>
              <a:chOff x="4648201" y="4642103"/>
              <a:chExt cx="889000" cy="365125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F9B81BB-0D93-AAA2-9B5A-1A11AF56C940}"/>
                  </a:ext>
                </a:extLst>
              </p:cNvPr>
              <p:cNvSpPr/>
              <p:nvPr/>
            </p:nvSpPr>
            <p:spPr>
              <a:xfrm>
                <a:off x="4648201" y="4642103"/>
                <a:ext cx="889000" cy="3651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6584A3E-2557-FABC-5ECC-491A5089D255}"/>
                  </a:ext>
                </a:extLst>
              </p:cNvPr>
              <p:cNvSpPr txBox="1"/>
              <p:nvPr/>
            </p:nvSpPr>
            <p:spPr>
              <a:xfrm>
                <a:off x="4788946" y="4655388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Points</a:t>
                </a:r>
              </a:p>
            </p:txBody>
          </p:sp>
        </p:grp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2D475D2-0FCF-B273-4831-1FE5A70E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390875" y="2397103"/>
              <a:ext cx="32835" cy="772487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110211D-8227-12CB-92FB-DF11A64B7BCF}"/>
                </a:ext>
              </a:extLst>
            </p:cNvPr>
            <p:cNvCxnSpPr>
              <a:cxnSpLocks/>
            </p:cNvCxnSpPr>
            <p:nvPr/>
          </p:nvCxnSpPr>
          <p:spPr>
            <a:xfrm>
              <a:off x="1981428" y="2512494"/>
              <a:ext cx="0" cy="666799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EAD3930-1A81-8244-FCCF-E01CF9D23D71}"/>
                </a:ext>
              </a:extLst>
            </p:cNvPr>
            <p:cNvCxnSpPr>
              <a:cxnSpLocks/>
            </p:cNvCxnSpPr>
            <p:nvPr/>
          </p:nvCxnSpPr>
          <p:spPr>
            <a:xfrm>
              <a:off x="1500669" y="2643585"/>
              <a:ext cx="0" cy="403423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ED872A43-C448-88EB-BF24-4BE62DEAE93B}"/>
                </a:ext>
              </a:extLst>
            </p:cNvPr>
            <p:cNvSpPr/>
            <p:nvPr/>
          </p:nvSpPr>
          <p:spPr>
            <a:xfrm>
              <a:off x="1041881" y="3073171"/>
              <a:ext cx="1644170" cy="8962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58D2793-6807-B202-413A-F38C5C6AD76F}"/>
                </a:ext>
              </a:extLst>
            </p:cNvPr>
            <p:cNvSpPr txBox="1"/>
            <p:nvPr/>
          </p:nvSpPr>
          <p:spPr>
            <a:xfrm>
              <a:off x="1060931" y="3636288"/>
              <a:ext cx="899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Borel</a:t>
              </a:r>
              <a:r>
                <a:rPr lang="en-US" sz="1400" dirty="0"/>
                <a:t> sets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329AD12-6120-D393-66B4-B987489B3624}"/>
                </a:ext>
              </a:extLst>
            </p:cNvPr>
            <p:cNvSpPr txBox="1"/>
            <p:nvPr/>
          </p:nvSpPr>
          <p:spPr>
            <a:xfrm>
              <a:off x="1511761" y="3250918"/>
              <a:ext cx="913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Open sets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B540DCF-D084-0E72-873F-EB5A27A07F69}"/>
                </a:ext>
              </a:extLst>
            </p:cNvPr>
            <p:cNvSpPr/>
            <p:nvPr/>
          </p:nvSpPr>
          <p:spPr>
            <a:xfrm>
              <a:off x="1445065" y="3201606"/>
              <a:ext cx="1077868" cy="42574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4" name="Table 52">
                <a:extLst>
                  <a:ext uri="{FF2B5EF4-FFF2-40B4-BE49-F238E27FC236}">
                    <a16:creationId xmlns:a16="http://schemas.microsoft.com/office/drawing/2014/main" id="{7A02F71F-2C61-0DF1-BB14-43D1E4BF4F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83858" y="1246455"/>
              <a:ext cx="2220608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1633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888975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2691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4" name="Table 52">
                <a:extLst>
                  <a:ext uri="{FF2B5EF4-FFF2-40B4-BE49-F238E27FC236}">
                    <a16:creationId xmlns:a16="http://schemas.microsoft.com/office/drawing/2014/main" id="{7A02F71F-2C61-0DF1-BB14-43D1E4BF4F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336136"/>
                  </p:ext>
                </p:extLst>
              </p:nvPr>
            </p:nvGraphicFramePr>
            <p:xfrm>
              <a:off x="4083858" y="1246455"/>
              <a:ext cx="2220608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1633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888975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" r="-567273" b="-4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46473DB-15A1-5A3B-F821-B1A9E37B1D0C}"/>
                  </a:ext>
                </a:extLst>
              </p:cNvPr>
              <p:cNvSpPr txBox="1"/>
              <p:nvPr/>
            </p:nvSpPr>
            <p:spPr>
              <a:xfrm>
                <a:off x="6784362" y="1044075"/>
                <a:ext cx="2823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verifiable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46473DB-15A1-5A3B-F821-B1A9E37B1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1044075"/>
                <a:ext cx="2823593" cy="523220"/>
              </a:xfrm>
              <a:prstGeom prst="rect">
                <a:avLst/>
              </a:prstGeom>
              <a:blipFill>
                <a:blip r:embed="rId4"/>
                <a:stretch>
                  <a:fillRect l="-648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54905A6-3528-522C-259E-DE542E6F216E}"/>
                  </a:ext>
                </a:extLst>
              </p:cNvPr>
              <p:cNvSpPr txBox="1"/>
              <p:nvPr/>
            </p:nvSpPr>
            <p:spPr>
              <a:xfrm>
                <a:off x="6784362" y="2505113"/>
                <a:ext cx="28682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𝑒𝑥𝑡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falsifiable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54905A6-3528-522C-259E-DE542E6F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2505113"/>
                <a:ext cx="2868286" cy="523220"/>
              </a:xfrm>
              <a:prstGeom prst="rect">
                <a:avLst/>
              </a:prstGeom>
              <a:blipFill>
                <a:blip r:embed="rId5"/>
                <a:stretch>
                  <a:fillRect l="-638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224C124-004C-5CC6-2275-A54E9780543E}"/>
                  </a:ext>
                </a:extLst>
              </p:cNvPr>
              <p:cNvSpPr txBox="1"/>
              <p:nvPr/>
            </p:nvSpPr>
            <p:spPr>
              <a:xfrm>
                <a:off x="6784362" y="1802627"/>
                <a:ext cx="27568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corresponds to the undecidable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224C124-004C-5CC6-2275-A54E97805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1802627"/>
                <a:ext cx="2756845" cy="523220"/>
              </a:xfrm>
              <a:prstGeom prst="rect">
                <a:avLst/>
              </a:prstGeom>
              <a:blipFill>
                <a:blip r:embed="rId6"/>
                <a:stretch>
                  <a:fillRect l="-664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4CE05E3-1DE2-F4EB-F3FC-C08CC8A336F1}"/>
              </a:ext>
            </a:extLst>
          </p:cNvPr>
          <p:cNvCxnSpPr>
            <a:endCxn id="105" idx="1"/>
          </p:cNvCxnSpPr>
          <p:nvPr/>
        </p:nvCxnSpPr>
        <p:spPr>
          <a:xfrm flipV="1">
            <a:off x="6304466" y="1305685"/>
            <a:ext cx="479896" cy="38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A4F3C05-62F1-7DA4-6E66-B2BED61E8C60}"/>
              </a:ext>
            </a:extLst>
          </p:cNvPr>
          <p:cNvCxnSpPr>
            <a:endCxn id="107" idx="1"/>
          </p:cNvCxnSpPr>
          <p:nvPr/>
        </p:nvCxnSpPr>
        <p:spPr>
          <a:xfrm flipV="1">
            <a:off x="6304466" y="2064237"/>
            <a:ext cx="479896" cy="11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0F88A88-AD43-722E-7601-01BA96834E29}"/>
              </a:ext>
            </a:extLst>
          </p:cNvPr>
          <p:cNvCxnSpPr>
            <a:endCxn id="106" idx="1"/>
          </p:cNvCxnSpPr>
          <p:nvPr/>
        </p:nvCxnSpPr>
        <p:spPr>
          <a:xfrm>
            <a:off x="6304466" y="2585964"/>
            <a:ext cx="479896" cy="180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A942268-AA18-2EB0-8682-A2A7105DBE38}"/>
                  </a:ext>
                </a:extLst>
              </p:cNvPr>
              <p:cNvSpPr txBox="1"/>
              <p:nvPr/>
            </p:nvSpPr>
            <p:spPr>
              <a:xfrm>
                <a:off x="3432310" y="3651209"/>
                <a:ext cx="92853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Borel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𝑖𝑛𝑡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𝑒𝑥𝑡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400" dirty="0"/>
                  <a:t>)</a:t>
                </a:r>
                <a:r>
                  <a:rPr lang="en-US" sz="1400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</m:t>
                    </m:r>
                  </m:oMath>
                </a14:m>
                <a:r>
                  <a:rPr lang="en-US" sz="1400" dirty="0"/>
                  <a:t>Theoretical “the mass of the electron in KeV is a rational number” (undecidable)</a:t>
                </a: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A942268-AA18-2EB0-8682-A2A7105DB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0" y="3651209"/>
                <a:ext cx="9285320" cy="307777"/>
              </a:xfrm>
              <a:prstGeom prst="rect">
                <a:avLst/>
              </a:prstGeom>
              <a:blipFill>
                <a:blip r:embed="rId7"/>
                <a:stretch>
                  <a:fillRect l="-197"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AC1419C-9BE1-1F1F-4D2D-23605E2108EC}"/>
                  </a:ext>
                </a:extLst>
              </p:cNvPr>
              <p:cNvSpPr/>
              <p:nvPr/>
            </p:nvSpPr>
            <p:spPr>
              <a:xfrm>
                <a:off x="3432311" y="3049260"/>
                <a:ext cx="6096000" cy="3077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Open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400" dirty="0"/>
                      <m:t>5</m:t>
                    </m:r>
                    <m:r>
                      <m:rPr>
                        <m:nor/>
                      </m:rPr>
                      <a:rPr lang="en-US" sz="1400" b="0" i="0" dirty="0" smtClean="0"/>
                      <m:t>09.5, 510.5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Verifiable “the mass of the electron is 510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1400" dirty="0"/>
                  <a:t> 0.5 KeV”</a:t>
                </a:r>
              </a:p>
            </p:txBody>
          </p:sp>
        </mc:Choice>
        <mc:Fallback xmlns="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AC1419C-9BE1-1F1F-4D2D-23605E2108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1" y="3049260"/>
                <a:ext cx="6096000" cy="307777"/>
              </a:xfrm>
              <a:prstGeom prst="rect">
                <a:avLst/>
              </a:prstGeom>
              <a:blipFill>
                <a:blip r:embed="rId8"/>
                <a:stretch>
                  <a:fillRect l="-300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BC65555D-39EA-CDC5-63B8-283EC376DA91}"/>
                  </a:ext>
                </a:extLst>
              </p:cNvPr>
              <p:cNvSpPr/>
              <p:nvPr/>
            </p:nvSpPr>
            <p:spPr>
              <a:xfrm>
                <a:off x="3432311" y="3358436"/>
                <a:ext cx="6096000" cy="3077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Closed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[510]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Falsifiable “the mass of the electron is exactly 510 KeV”</a:t>
                </a:r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BC65555D-39EA-CDC5-63B8-283EC376D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1" y="3358436"/>
                <a:ext cx="6096000" cy="307777"/>
              </a:xfrm>
              <a:prstGeom prst="rect">
                <a:avLst/>
              </a:prstGeom>
              <a:blipFill>
                <a:blip r:embed="rId9"/>
                <a:stretch>
                  <a:fillRect l="-3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D98965B-162C-1080-D8FF-31167A020D53}"/>
              </a:ext>
            </a:extLst>
          </p:cNvPr>
          <p:cNvGrpSpPr/>
          <p:nvPr/>
        </p:nvGrpSpPr>
        <p:grpSpPr>
          <a:xfrm>
            <a:off x="523158" y="4444668"/>
            <a:ext cx="3208184" cy="1479650"/>
            <a:chOff x="608166" y="1348615"/>
            <a:chExt cx="7780826" cy="358860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88DDF36-0955-3A97-6B2B-CF73FB65656A}"/>
                </a:ext>
              </a:extLst>
            </p:cNvPr>
            <p:cNvGrpSpPr/>
            <p:nvPr/>
          </p:nvGrpSpPr>
          <p:grpSpPr>
            <a:xfrm>
              <a:off x="1001222" y="3472140"/>
              <a:ext cx="6797787" cy="1465078"/>
              <a:chOff x="2212388" y="3872190"/>
              <a:chExt cx="6797787" cy="1465078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4D800F1C-F0B3-4434-B3A4-01E1E759D498}"/>
                  </a:ext>
                </a:extLst>
              </p:cNvPr>
              <p:cNvGrpSpPr/>
              <p:nvPr/>
            </p:nvGrpSpPr>
            <p:grpSpPr>
              <a:xfrm>
                <a:off x="7267876" y="3872190"/>
                <a:ext cx="1742299" cy="1465078"/>
                <a:chOff x="7120424" y="4399613"/>
                <a:chExt cx="1742299" cy="1465078"/>
              </a:xfrm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31B2081D-56F9-9CD8-8A64-53A06DD31D3D}"/>
                    </a:ext>
                  </a:extLst>
                </p:cNvPr>
                <p:cNvSpPr/>
                <p:nvPr/>
              </p:nvSpPr>
              <p:spPr>
                <a:xfrm>
                  <a:off x="7120424" y="4399613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C5EE13C0-5775-1AD4-85E2-4D31557348A4}"/>
                    </a:ext>
                  </a:extLst>
                </p:cNvPr>
                <p:cNvSpPr/>
                <p:nvPr/>
              </p:nvSpPr>
              <p:spPr>
                <a:xfrm>
                  <a:off x="8325626" y="489607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5183B65F-AABC-13A7-4D68-B2A5DB56E5A7}"/>
                    </a:ext>
                  </a:extLst>
                </p:cNvPr>
                <p:cNvSpPr/>
                <p:nvPr/>
              </p:nvSpPr>
              <p:spPr>
                <a:xfrm>
                  <a:off x="7407281" y="512238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DC845337-8682-0F87-69C7-158EC9C7133C}"/>
                    </a:ext>
                  </a:extLst>
                </p:cNvPr>
                <p:cNvSpPr/>
                <p:nvPr/>
              </p:nvSpPr>
              <p:spPr>
                <a:xfrm>
                  <a:off x="8090010" y="548914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7F70AA4F-0445-683E-828A-56FCE8904291}"/>
                    </a:ext>
                  </a:extLst>
                </p:cNvPr>
                <p:cNvSpPr/>
                <p:nvPr/>
              </p:nvSpPr>
              <p:spPr>
                <a:xfrm>
                  <a:off x="7930758" y="520205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B01F7F7A-CA87-5B35-FA1C-5633F63A8DB7}"/>
                    </a:ext>
                  </a:extLst>
                </p:cNvPr>
                <p:cNvSpPr/>
                <p:nvPr/>
              </p:nvSpPr>
              <p:spPr>
                <a:xfrm>
                  <a:off x="7683115" y="472538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29FF1D9D-0BB6-81C5-30B4-3E4E27D271ED}"/>
                  </a:ext>
                </a:extLst>
              </p:cNvPr>
              <p:cNvGrpSpPr/>
              <p:nvPr/>
            </p:nvGrpSpPr>
            <p:grpSpPr>
              <a:xfrm>
                <a:off x="2212388" y="3872190"/>
                <a:ext cx="1742299" cy="1465078"/>
                <a:chOff x="1936220" y="4385306"/>
                <a:chExt cx="1742299" cy="1465078"/>
              </a:xfrm>
            </p:grpSpPr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06482D70-E001-9125-1F80-C2A8F30D7422}"/>
                    </a:ext>
                  </a:extLst>
                </p:cNvPr>
                <p:cNvSpPr/>
                <p:nvPr/>
              </p:nvSpPr>
              <p:spPr>
                <a:xfrm>
                  <a:off x="1936220" y="4385306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F403653-62B4-D87A-325F-CC38D28C4F1C}"/>
                    </a:ext>
                  </a:extLst>
                </p:cNvPr>
                <p:cNvSpPr/>
                <p:nvPr/>
              </p:nvSpPr>
              <p:spPr>
                <a:xfrm>
                  <a:off x="3141422" y="488176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D09F92B7-5DF5-119B-FC82-4D0E766CFB99}"/>
                    </a:ext>
                  </a:extLst>
                </p:cNvPr>
                <p:cNvSpPr/>
                <p:nvPr/>
              </p:nvSpPr>
              <p:spPr>
                <a:xfrm>
                  <a:off x="2199116" y="52171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D7EEE8CF-468D-CB89-FCCC-107F02649643}"/>
                    </a:ext>
                  </a:extLst>
                </p:cNvPr>
                <p:cNvSpPr/>
                <p:nvPr/>
              </p:nvSpPr>
              <p:spPr>
                <a:xfrm>
                  <a:off x="3296784" y="5217138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5418E216-A709-78A1-CC98-EF3C7DFB40D2}"/>
                    </a:ext>
                  </a:extLst>
                </p:cNvPr>
                <p:cNvSpPr/>
                <p:nvPr/>
              </p:nvSpPr>
              <p:spPr>
                <a:xfrm>
                  <a:off x="2552536" y="548914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3F0E1D85-9DBD-B97D-DBB5-BADBAD80A3E9}"/>
                    </a:ext>
                  </a:extLst>
                </p:cNvPr>
                <p:cNvSpPr/>
                <p:nvPr/>
              </p:nvSpPr>
              <p:spPr>
                <a:xfrm>
                  <a:off x="2727129" y="5043214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45E19111-C121-1797-8ECE-BFF5BC146537}"/>
                    </a:ext>
                  </a:extLst>
                </p:cNvPr>
                <p:cNvSpPr/>
                <p:nvPr/>
              </p:nvSpPr>
              <p:spPr>
                <a:xfrm>
                  <a:off x="3012901" y="545363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E6B9C8E2-2A61-56A1-B927-70A679AEBCB6}"/>
                    </a:ext>
                  </a:extLst>
                </p:cNvPr>
                <p:cNvSpPr/>
                <p:nvPr/>
              </p:nvSpPr>
              <p:spPr>
                <a:xfrm>
                  <a:off x="2790957" y="46167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6DA8FA60-4B7A-92AB-B295-5CE53922200B}"/>
                    </a:ext>
                  </a:extLst>
                </p:cNvPr>
                <p:cNvSpPr/>
                <p:nvPr/>
              </p:nvSpPr>
              <p:spPr>
                <a:xfrm>
                  <a:off x="2262534" y="4820790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08372CF-6248-CA38-4FF9-B4EE5F98B6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7590" y="4307674"/>
                <a:ext cx="4386514" cy="651658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54634B41-B019-D7F9-AF77-C5D948FED2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8146" y="4230631"/>
                <a:ext cx="4608740" cy="331424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79AD8863-A205-49F8-6C96-33206C657C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6933" y="4146006"/>
                <a:ext cx="4293715" cy="48447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E72A7507-F1DD-3A21-C3A0-BFE10A21B5B8}"/>
                </a:ext>
              </a:extLst>
            </p:cNvPr>
            <p:cNvGrpSpPr/>
            <p:nvPr/>
          </p:nvGrpSpPr>
          <p:grpSpPr>
            <a:xfrm>
              <a:off x="608166" y="1348615"/>
              <a:ext cx="2715202" cy="1605910"/>
              <a:chOff x="1085238" y="2632678"/>
              <a:chExt cx="2715202" cy="1605910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A8609197-9094-B562-DADF-DD40C041A24E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BE2BA702-70C5-B8ED-1874-2286A20D8C1C}"/>
                  </a:ext>
                </a:extLst>
              </p:cNvPr>
              <p:cNvSpPr/>
              <p:nvPr/>
            </p:nvSpPr>
            <p:spPr>
              <a:xfrm>
                <a:off x="2320031" y="303265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D0ECA9EC-A6FF-E508-0A16-84B6D4A98E1B}"/>
                  </a:ext>
                </a:extLst>
              </p:cNvPr>
              <p:cNvSpPr/>
              <p:nvPr/>
            </p:nvSpPr>
            <p:spPr>
              <a:xfrm>
                <a:off x="1305017" y="346451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0E9B7479-02B9-6F74-AFD3-7D66D6D67EC7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371C3F2-D023-B20D-6D69-AA9C456E0F0F}"/>
                  </a:ext>
                </a:extLst>
              </p:cNvPr>
              <p:cNvSpPr/>
              <p:nvPr/>
            </p:nvSpPr>
            <p:spPr>
              <a:xfrm>
                <a:off x="2756517" y="38312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1F903487-9A5D-A157-F555-9848EAAC70F8}"/>
                  </a:ext>
                </a:extLst>
              </p:cNvPr>
              <p:cNvSpPr/>
              <p:nvPr/>
            </p:nvSpPr>
            <p:spPr>
              <a:xfrm>
                <a:off x="2251969" y="354860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8FD807CB-CF25-41DB-A029-0216F63C29DC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FF39DE3B-8538-20B4-B89B-6C1ABB1AA4DF}"/>
                  </a:ext>
                </a:extLst>
              </p:cNvPr>
              <p:cNvSpPr/>
              <p:nvPr/>
            </p:nvSpPr>
            <p:spPr>
              <a:xfrm>
                <a:off x="1876147" y="329058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A473234-CFA0-8C30-B9A5-33919EF722A0}"/>
                  </a:ext>
                </a:extLst>
              </p:cNvPr>
              <p:cNvSpPr/>
              <p:nvPr/>
            </p:nvSpPr>
            <p:spPr>
              <a:xfrm>
                <a:off x="3016932" y="296163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77611126-1223-2228-8CED-459A337CE50A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0E288CC2-A39F-704D-B210-4397A5087A02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C3C7D405-B001-422A-FED0-CCE468FA2A1A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8081EB1D-7BBF-D961-199E-3A9EEFEB079C}"/>
                  </a:ext>
                </a:extLst>
              </p:cNvPr>
              <p:cNvSpPr/>
              <p:nvPr/>
            </p:nvSpPr>
            <p:spPr>
              <a:xfrm>
                <a:off x="3087953" y="373300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897183D5-64C7-0792-5737-DBC5240A0331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C8A75A38-CF1A-AF4A-C10E-D89A3D753438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9273DD29-01C7-4117-AA7A-695A14FC11B9}"/>
                </a:ext>
              </a:extLst>
            </p:cNvPr>
            <p:cNvGrpSpPr/>
            <p:nvPr/>
          </p:nvGrpSpPr>
          <p:grpSpPr>
            <a:xfrm>
              <a:off x="5673790" y="1372812"/>
              <a:ext cx="2715202" cy="1605910"/>
              <a:chOff x="1085238" y="2632678"/>
              <a:chExt cx="2715202" cy="1605910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F1C28D42-C85E-F9B6-BC5B-2629C58E382B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8D8A3EAE-7DB8-3CD5-FFBF-BEB5002EEC59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B7CACF47-6589-3CB4-3B1D-875D35299C85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F468159-68A5-224A-9D62-8F896522F8D8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7EFFB02C-2D79-37BA-1207-90C114186C65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1F5E3D1E-DE5A-E296-3E0A-33CCF14F8995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FCEBD845-40A2-0775-D2A7-99804E9F6118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A358C25D-7790-0D25-B5E1-8F6A084DE39B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EB5DAB8-39D4-D9DE-5B44-5EF3A12518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858" y="1879854"/>
              <a:ext cx="3590544" cy="20116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5E9CCBDD-EC6C-E761-6208-C66CD5FF5F99}"/>
                </a:ext>
              </a:extLst>
            </p:cNvPr>
            <p:cNvCxnSpPr>
              <a:cxnSpLocks/>
            </p:cNvCxnSpPr>
            <p:nvPr/>
          </p:nvCxnSpPr>
          <p:spPr>
            <a:xfrm>
              <a:off x="1885602" y="2306574"/>
              <a:ext cx="4401312" cy="914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D3402922-B83C-A2D8-3346-CF95B6444F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706" y="2130639"/>
              <a:ext cx="4163206" cy="4791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F73033B-1084-DC9E-9BC5-CB5309A8C686}"/>
                </a:ext>
              </a:extLst>
            </p:cNvPr>
            <p:cNvGrpSpPr/>
            <p:nvPr/>
          </p:nvGrpSpPr>
          <p:grpSpPr>
            <a:xfrm>
              <a:off x="1695844" y="2391071"/>
              <a:ext cx="5061844" cy="2370621"/>
              <a:chOff x="2907010" y="2791121"/>
              <a:chExt cx="5061844" cy="2370621"/>
            </a:xfrm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559869D7-59E3-8512-AEE3-DE5D6816E696}"/>
                  </a:ext>
                </a:extLst>
              </p:cNvPr>
              <p:cNvSpPr/>
              <p:nvPr/>
            </p:nvSpPr>
            <p:spPr>
              <a:xfrm rot="1485908">
                <a:off x="7508722" y="4044552"/>
                <a:ext cx="460132" cy="8695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277A007C-D278-0054-33CD-3803E92CAEFE}"/>
                  </a:ext>
                </a:extLst>
              </p:cNvPr>
              <p:cNvSpPr/>
              <p:nvPr/>
            </p:nvSpPr>
            <p:spPr>
              <a:xfrm rot="20779759">
                <a:off x="2907010" y="4013557"/>
                <a:ext cx="517041" cy="1148185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00F7A868-7FC2-F2BF-1333-FB87B137737B}"/>
                  </a:ext>
                </a:extLst>
              </p:cNvPr>
              <p:cNvCxnSpPr/>
              <p:nvPr/>
            </p:nvCxnSpPr>
            <p:spPr>
              <a:xfrm>
                <a:off x="7618160" y="2920014"/>
                <a:ext cx="212407" cy="106814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9CA54428-0991-C566-CF0F-101AC0D57171}"/>
                  </a:ext>
                </a:extLst>
              </p:cNvPr>
              <p:cNvCxnSpPr/>
              <p:nvPr/>
            </p:nvCxnSpPr>
            <p:spPr>
              <a:xfrm>
                <a:off x="3048206" y="2791121"/>
                <a:ext cx="8878" cy="1197041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368FF74E-0A59-C859-15B1-9A550F53829A}"/>
                  </a:ext>
                </a:extLst>
              </p:cNvPr>
              <p:cNvSpPr txBox="1"/>
              <p:nvPr/>
            </p:nvSpPr>
            <p:spPr>
              <a:xfrm>
                <a:off x="192045" y="4349522"/>
                <a:ext cx="4877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368FF74E-0A59-C859-15B1-9A550F538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45" y="4349522"/>
                <a:ext cx="48776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423958C-EFF4-1FBE-17C3-5DA9B4764FA6}"/>
                  </a:ext>
                </a:extLst>
              </p:cNvPr>
              <p:cNvSpPr txBox="1"/>
              <p:nvPr/>
            </p:nvSpPr>
            <p:spPr>
              <a:xfrm>
                <a:off x="2286661" y="4339574"/>
                <a:ext cx="4817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423958C-EFF4-1FBE-17C3-5DA9B4764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61" y="4339574"/>
                <a:ext cx="481799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6F683A47-63B0-4528-8BBF-7468CD47524F}"/>
                  </a:ext>
                </a:extLst>
              </p:cNvPr>
              <p:cNvSpPr txBox="1"/>
              <p:nvPr/>
            </p:nvSpPr>
            <p:spPr>
              <a:xfrm>
                <a:off x="2515473" y="5643378"/>
                <a:ext cx="35958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6F683A47-63B0-4528-8BBF-7468CD47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73" y="5643378"/>
                <a:ext cx="35958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7E0EB15-91F9-47E2-BBE0-8678CE9978DC}"/>
                  </a:ext>
                </a:extLst>
              </p:cNvPr>
              <p:cNvSpPr txBox="1"/>
              <p:nvPr/>
            </p:nvSpPr>
            <p:spPr>
              <a:xfrm>
                <a:off x="433764" y="5643378"/>
                <a:ext cx="36920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7E0EB15-91F9-47E2-BBE0-8678CE997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64" y="5643378"/>
                <a:ext cx="369204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133544B-4B5B-C76A-CF34-291CC2707D34}"/>
                  </a:ext>
                </a:extLst>
              </p:cNvPr>
              <p:cNvSpPr txBox="1"/>
              <p:nvPr/>
            </p:nvSpPr>
            <p:spPr>
              <a:xfrm>
                <a:off x="106242" y="4026458"/>
                <a:ext cx="4266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</a:rPr>
                  <a:t>Inference relationship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133544B-4B5B-C76A-CF34-291CC2707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2" y="4026458"/>
                <a:ext cx="4266745" cy="307777"/>
              </a:xfrm>
              <a:prstGeom prst="rect">
                <a:avLst/>
              </a:prstGeom>
              <a:blipFill>
                <a:blip r:embed="rId14"/>
                <a:stretch>
                  <a:fillRect l="-42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1A6B2F69-1A7F-19A9-8D3E-36A302E68281}"/>
                  </a:ext>
                </a:extLst>
              </p:cNvPr>
              <p:cNvSpPr txBox="1"/>
              <p:nvPr/>
            </p:nvSpPr>
            <p:spPr>
              <a:xfrm>
                <a:off x="523158" y="6040850"/>
                <a:ext cx="3759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6"/>
                    </a:solidFill>
                  </a:rPr>
                  <a:t>Causal relationship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1A6B2F69-1A7F-19A9-8D3E-36A302E68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8" y="6040850"/>
                <a:ext cx="3759940" cy="307777"/>
              </a:xfrm>
              <a:prstGeom prst="rect">
                <a:avLst/>
              </a:prstGeom>
              <a:blipFill>
                <a:blip r:embed="rId15"/>
                <a:stretch>
                  <a:fillRect l="-486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154C12AE-9F8C-5852-3B59-8B84757744F8}"/>
                  </a:ext>
                </a:extLst>
              </p:cNvPr>
              <p:cNvSpPr txBox="1"/>
              <p:nvPr/>
            </p:nvSpPr>
            <p:spPr>
              <a:xfrm>
                <a:off x="3937039" y="4453612"/>
                <a:ext cx="1802866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5"/>
                    </a:solidFill>
                  </a:rPr>
                  <a:t>Inference relationship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br>
                  <a:rPr lang="en-US" sz="1400" dirty="0">
                    <a:solidFill>
                      <a:schemeClr val="accent6"/>
                    </a:solidFill>
                  </a:rPr>
                </a:br>
                <a:r>
                  <a:rPr lang="en-US" sz="1400" dirty="0">
                    <a:solidFill>
                      <a:schemeClr val="accent6"/>
                    </a:solidFill>
                  </a:rPr>
                  <a:t>Causal relationship</a:t>
                </a:r>
                <a:endParaRPr lang="en-US" sz="1400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154C12AE-9F8C-5852-3B59-8B847577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39" y="4453612"/>
                <a:ext cx="1802866" cy="738664"/>
              </a:xfrm>
              <a:prstGeom prst="rect">
                <a:avLst/>
              </a:prstGeom>
              <a:blipFill>
                <a:blip r:embed="rId1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TextBox 236">
            <a:extLst>
              <a:ext uri="{FF2B5EF4-FFF2-40B4-BE49-F238E27FC236}">
                <a16:creationId xmlns:a16="http://schemas.microsoft.com/office/drawing/2014/main" id="{4F6E5D37-BF8F-ADC3-6C66-D0B5F454376E}"/>
              </a:ext>
            </a:extLst>
          </p:cNvPr>
          <p:cNvSpPr txBox="1"/>
          <p:nvPr/>
        </p:nvSpPr>
        <p:spPr>
          <a:xfrm>
            <a:off x="3746017" y="5280020"/>
            <a:ext cx="2216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Relationships must be</a:t>
            </a:r>
            <a:br>
              <a:rPr lang="en-US" sz="1600" dirty="0"/>
            </a:br>
            <a:r>
              <a:rPr lang="en-US" sz="1600" dirty="0"/>
              <a:t>topologically continuous</a:t>
            </a: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A9094C7F-2D2E-455D-F907-46BE650BAF6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574" y="4668167"/>
            <a:ext cx="2402560" cy="1779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325D7E1-1A3B-C661-ED10-3E1263B60369}"/>
                  </a:ext>
                </a:extLst>
              </p:cNvPr>
              <p:cNvSpPr txBox="1"/>
              <p:nvPr/>
            </p:nvSpPr>
            <p:spPr>
              <a:xfrm>
                <a:off x="5875027" y="6382425"/>
                <a:ext cx="3793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Phase transition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Topologically isolated regions</a:t>
                </a:r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325D7E1-1A3B-C661-ED10-3E1263B60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027" y="6382425"/>
                <a:ext cx="3793219" cy="307777"/>
              </a:xfrm>
              <a:prstGeom prst="rect">
                <a:avLst/>
              </a:prstGeom>
              <a:blipFill>
                <a:blip r:embed="rId1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TextBox 240">
            <a:extLst>
              <a:ext uri="{FF2B5EF4-FFF2-40B4-BE49-F238E27FC236}">
                <a16:creationId xmlns:a16="http://schemas.microsoft.com/office/drawing/2014/main" id="{81F24FD1-1522-BCAB-7D3F-D815B49662C1}"/>
              </a:ext>
            </a:extLst>
          </p:cNvPr>
          <p:cNvSpPr txBox="1"/>
          <p:nvPr/>
        </p:nvSpPr>
        <p:spPr>
          <a:xfrm>
            <a:off x="5886953" y="4227492"/>
            <a:ext cx="3893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Topologically continuous consistent</a:t>
            </a:r>
            <a:br>
              <a:rPr lang="en-US" sz="1600" dirty="0"/>
            </a:br>
            <a:r>
              <a:rPr lang="en-US" sz="1600" dirty="0"/>
              <a:t>with analytic discontinuity on isolated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A8F6EC1-439B-7EA6-CD6F-D527A697C9C9}"/>
                  </a:ext>
                </a:extLst>
              </p:cNvPr>
              <p:cNvSpPr txBox="1"/>
              <p:nvPr/>
            </p:nvSpPr>
            <p:spPr>
              <a:xfrm>
                <a:off x="9135331" y="223498"/>
                <a:ext cx="30047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-algebras</a:t>
                </a:r>
                <a:b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(foundation of geometry, probability, …)</a:t>
                </a: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A8F6EC1-439B-7EA6-CD6F-D527A697C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331" y="223498"/>
                <a:ext cx="3004739" cy="1200329"/>
              </a:xfrm>
              <a:prstGeom prst="rect">
                <a:avLst/>
              </a:prstGeom>
              <a:blipFill>
                <a:blip r:embed="rId19"/>
                <a:stretch>
                  <a:fillRect t="-3046" r="-3252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TextBox 242">
            <a:extLst>
              <a:ext uri="{FF2B5EF4-FFF2-40B4-BE49-F238E27FC236}">
                <a16:creationId xmlns:a16="http://schemas.microsoft.com/office/drawing/2014/main" id="{BEDD5A49-4B16-6BB3-E269-D6B0E62D57BC}"/>
              </a:ext>
            </a:extLst>
          </p:cNvPr>
          <p:cNvSpPr txBox="1"/>
          <p:nvPr/>
        </p:nvSpPr>
        <p:spPr>
          <a:xfrm>
            <a:off x="9883520" y="1428386"/>
            <a:ext cx="2230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Perfect map between math and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5DA4D-1AB9-85FB-F3F0-D8D440EB772D}"/>
                  </a:ext>
                </a:extLst>
              </p:cNvPr>
              <p:cNvSpPr txBox="1"/>
              <p:nvPr/>
            </p:nvSpPr>
            <p:spPr>
              <a:xfrm>
                <a:off x="9518998" y="2688356"/>
                <a:ext cx="26075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dirty="0">
                    <a:solidFill>
                      <a:srgbClr val="C00000"/>
                    </a:solidFill>
                  </a:rPr>
                  <a:t>NB: in physics, topology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C00000"/>
                    </a:solidFill>
                  </a:rPr>
                  <a:t>-algebra are parts of the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same</a:t>
                </a:r>
                <a:r>
                  <a:rPr lang="en-US" sz="1600" dirty="0">
                    <a:solidFill>
                      <a:srgbClr val="C00000"/>
                    </a:solidFill>
                  </a:rPr>
                  <a:t> logic structure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5DA4D-1AB9-85FB-F3F0-D8D440EB7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998" y="2688356"/>
                <a:ext cx="2607533" cy="830997"/>
              </a:xfrm>
              <a:prstGeom prst="rect">
                <a:avLst/>
              </a:prstGeom>
              <a:blipFill>
                <a:blip r:embed="rId20"/>
                <a:stretch>
                  <a:fillRect t="-2206" r="-3513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A8F79-79C3-8A7B-D5B3-BC3B144D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4194737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AF1D-02EC-AFCC-0E9E-7ECADFF1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231A2A-CB33-CD49-43E7-EDA8D9AE7A30}"/>
                  </a:ext>
                </a:extLst>
              </p:cNvPr>
              <p:cNvSpPr txBox="1"/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Scientific laws are relationships between ensembles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D530E-E864-1366-9E84-9F4F648B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7C968EE-5F1C-FA92-6FA9-9180AB02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" y="291078"/>
            <a:ext cx="11210736" cy="654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8F67C-A10F-C7FE-991E-224BC544CBC3}"/>
                  </a:ext>
                </a:extLst>
              </p:cNvPr>
              <p:cNvSpPr/>
              <p:nvPr/>
            </p:nvSpPr>
            <p:spPr>
              <a:xfrm>
                <a:off x="1215616" y="2689412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Preparation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8F67C-A10F-C7FE-991E-224BC544C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616" y="2689412"/>
                <a:ext cx="1605250" cy="1430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98CE02-6F5A-E7E3-3C93-4D4B22454FB9}"/>
                  </a:ext>
                </a:extLst>
              </p:cNvPr>
              <p:cNvSpPr/>
              <p:nvPr/>
            </p:nvSpPr>
            <p:spPr>
              <a:xfrm>
                <a:off x="4105836" y="2689412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Process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98CE02-6F5A-E7E3-3C93-4D4B22454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836" y="2689412"/>
                <a:ext cx="1605250" cy="1430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181D1-55E7-B3F8-26B6-91EBC057CC65}"/>
                  </a:ext>
                </a:extLst>
              </p:cNvPr>
              <p:cNvSpPr/>
              <p:nvPr/>
            </p:nvSpPr>
            <p:spPr>
              <a:xfrm>
                <a:off x="6996057" y="2689412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Measurement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181D1-55E7-B3F8-26B6-91EBC057C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057" y="2689412"/>
                <a:ext cx="1605250" cy="1430767"/>
              </a:xfrm>
              <a:prstGeom prst="rect">
                <a:avLst/>
              </a:prstGeom>
              <a:blipFill>
                <a:blip r:embed="rId6"/>
                <a:stretch>
                  <a:fillRect l="-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1D5437-8C63-88F6-730A-1DD109CE4DD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2820866" y="3404796"/>
            <a:ext cx="128497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38126B-3481-57B3-1C4F-607A3FEBFB5B}"/>
              </a:ext>
            </a:extLst>
          </p:cNvPr>
          <p:cNvCxnSpPr>
            <a:cxnSpLocks/>
          </p:cNvCxnSpPr>
          <p:nvPr/>
        </p:nvCxnSpPr>
        <p:spPr>
          <a:xfrm>
            <a:off x="5711086" y="3404796"/>
            <a:ext cx="1284971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3599D9-C463-4FB0-0AC3-7A5F1506FB5C}"/>
                  </a:ext>
                </a:extLst>
              </p:cNvPr>
              <p:cNvSpPr txBox="1"/>
              <p:nvPr/>
            </p:nvSpPr>
            <p:spPr>
              <a:xfrm>
                <a:off x="3463351" y="2958353"/>
                <a:ext cx="467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3599D9-C463-4FB0-0AC3-7A5F1506F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351" y="2958353"/>
                <a:ext cx="4671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FD67A-DBBA-5DEF-77DF-4C61C3F43087}"/>
                  </a:ext>
                </a:extLst>
              </p:cNvPr>
              <p:cNvSpPr txBox="1"/>
              <p:nvPr/>
            </p:nvSpPr>
            <p:spPr>
              <a:xfrm>
                <a:off x="6353571" y="2958353"/>
                <a:ext cx="480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FD67A-DBBA-5DEF-77DF-4C61C3F43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71" y="2958353"/>
                <a:ext cx="48032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F647DE-AEC3-B2D3-0133-40C6B30319BE}"/>
                  </a:ext>
                </a:extLst>
              </p:cNvPr>
              <p:cNvSpPr txBox="1"/>
              <p:nvPr/>
            </p:nvSpPr>
            <p:spPr>
              <a:xfrm>
                <a:off x="9243791" y="2958353"/>
                <a:ext cx="505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F647DE-AEC3-B2D3-0133-40C6B303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791" y="2958353"/>
                <a:ext cx="5057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8E2DF9-E583-221A-AFA3-617A6C0838CB}"/>
              </a:ext>
            </a:extLst>
          </p:cNvPr>
          <p:cNvCxnSpPr>
            <a:cxnSpLocks/>
          </p:cNvCxnSpPr>
          <p:nvPr/>
        </p:nvCxnSpPr>
        <p:spPr>
          <a:xfrm>
            <a:off x="8601307" y="3404796"/>
            <a:ext cx="1284971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1957257-7193-E2B2-C26B-9CD0E92E09AD}"/>
              </a:ext>
            </a:extLst>
          </p:cNvPr>
          <p:cNvSpPr/>
          <p:nvPr/>
        </p:nvSpPr>
        <p:spPr>
          <a:xfrm>
            <a:off x="931697" y="2495774"/>
            <a:ext cx="2531654" cy="1839558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E712A-485F-E8EF-15A1-9E5994D82617}"/>
              </a:ext>
            </a:extLst>
          </p:cNvPr>
          <p:cNvSpPr/>
          <p:nvPr/>
        </p:nvSpPr>
        <p:spPr>
          <a:xfrm>
            <a:off x="763794" y="2345167"/>
            <a:ext cx="5589777" cy="2142565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915B59-FFC9-7D08-37FB-22AF4756C37B}"/>
              </a:ext>
            </a:extLst>
          </p:cNvPr>
          <p:cNvSpPr/>
          <p:nvPr/>
        </p:nvSpPr>
        <p:spPr>
          <a:xfrm>
            <a:off x="580914" y="2173045"/>
            <a:ext cx="8662877" cy="2467087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23A959-31A5-C0C6-62AE-E87EF6B38A85}"/>
              </a:ext>
            </a:extLst>
          </p:cNvPr>
          <p:cNvSpPr txBox="1"/>
          <p:nvPr/>
        </p:nvSpPr>
        <p:spPr>
          <a:xfrm>
            <a:off x="2910604" y="4812254"/>
            <a:ext cx="1101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Initial</a:t>
            </a:r>
            <a:br>
              <a:rPr lang="en-US" dirty="0"/>
            </a:br>
            <a:r>
              <a:rPr lang="en-US" dirty="0"/>
              <a:t>ensemble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5DA85-696B-1BAD-0F7A-018704E3DE36}"/>
              </a:ext>
            </a:extLst>
          </p:cNvPr>
          <p:cNvSpPr txBox="1"/>
          <p:nvPr/>
        </p:nvSpPr>
        <p:spPr>
          <a:xfrm>
            <a:off x="5804733" y="4792532"/>
            <a:ext cx="1101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Final</a:t>
            </a:r>
            <a:br>
              <a:rPr lang="en-US" dirty="0"/>
            </a:br>
            <a:r>
              <a:rPr lang="en-US" dirty="0"/>
              <a:t>ensemble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D7BC4C-2A3E-30B6-D8C7-9D2806A5E79D}"/>
              </a:ext>
            </a:extLst>
          </p:cNvPr>
          <p:cNvSpPr txBox="1"/>
          <p:nvPr/>
        </p:nvSpPr>
        <p:spPr>
          <a:xfrm>
            <a:off x="10311330" y="3092387"/>
            <a:ext cx="1079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Statistical</a:t>
            </a:r>
            <a:br>
              <a:rPr lang="en-US" dirty="0"/>
            </a:br>
            <a:r>
              <a:rPr lang="en-US" dirty="0"/>
              <a:t>data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ECD7AA-CED7-666E-E420-70991D6B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1849653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B261-31C0-A428-0D6B-7AEC1C4C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F8DF15-16E0-58D4-B72F-C90152F074A5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D7CDDE9-6E37-A177-1CF1-D6EFE1580731}"/>
              </a:ext>
            </a:extLst>
          </p:cNvPr>
          <p:cNvSpPr/>
          <p:nvPr/>
        </p:nvSpPr>
        <p:spPr>
          <a:xfrm>
            <a:off x="4906589" y="51066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6F359-A4FB-4949-1569-A05B68EEFEEB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F90C5-AB65-9DD9-277E-EE7893347C96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3E69D9-C4D8-F6DD-C5D4-99651894DC8F}"/>
              </a:ext>
            </a:extLst>
          </p:cNvPr>
          <p:cNvSpPr txBox="1"/>
          <p:nvPr/>
        </p:nvSpPr>
        <p:spPr>
          <a:xfrm>
            <a:off x="7644659" y="150607"/>
            <a:ext cx="116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/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786CBB1D-1DE4-771E-9064-0A52C3DAA9BD}"/>
              </a:ext>
            </a:extLst>
          </p:cNvPr>
          <p:cNvSpPr/>
          <p:nvPr/>
        </p:nvSpPr>
        <p:spPr>
          <a:xfrm>
            <a:off x="3911741" y="4949812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52B21A-50E1-D2EC-D7D9-49B1EA1E7D29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947A431-8AE8-D99E-5243-B6D7F8BBB35C}"/>
              </a:ext>
            </a:extLst>
          </p:cNvPr>
          <p:cNvSpPr/>
          <p:nvPr/>
        </p:nvSpPr>
        <p:spPr>
          <a:xfrm>
            <a:off x="2341121" y="46860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8A21A5F-0C2A-A881-0E2E-2DF85DB084C9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4AE5A97-76FC-7817-B430-D38D69517E74}"/>
              </a:ext>
            </a:extLst>
          </p:cNvPr>
          <p:cNvSpPr/>
          <p:nvPr/>
        </p:nvSpPr>
        <p:spPr>
          <a:xfrm>
            <a:off x="4626529" y="477015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112F0ED-D28B-3E73-2422-388BB5C6D81C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69F5F02-D3B7-52BE-845C-C41A3398AE0A}"/>
              </a:ext>
            </a:extLst>
          </p:cNvPr>
          <p:cNvSpPr/>
          <p:nvPr/>
        </p:nvSpPr>
        <p:spPr>
          <a:xfrm>
            <a:off x="6211424" y="463371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B609646-6EE3-6C2F-F39C-6ABB3CD51447}"/>
              </a:ext>
            </a:extLst>
          </p:cNvPr>
          <p:cNvSpPr/>
          <p:nvPr/>
        </p:nvSpPr>
        <p:spPr>
          <a:xfrm>
            <a:off x="3005430" y="4627897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6B9226-0C4F-863D-2001-6D81C644303D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585A1FF-7E7C-8336-883A-309D8A179D68}"/>
              </a:ext>
            </a:extLst>
          </p:cNvPr>
          <p:cNvSpPr/>
          <p:nvPr/>
        </p:nvSpPr>
        <p:spPr>
          <a:xfrm>
            <a:off x="5423234" y="516381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144642C-E86E-428F-EA83-2F6833A5C6CE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/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479588C-35F2-4081-CD35-48EEE6B00E71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032477D-DA38-BDB0-4A3F-0F027ACB8851}"/>
              </a:ext>
            </a:extLst>
          </p:cNvPr>
          <p:cNvSpPr/>
          <p:nvPr/>
        </p:nvSpPr>
        <p:spPr>
          <a:xfrm>
            <a:off x="3326177" y="489582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9F811A0-D49C-47CD-0CDD-FB1B3B1C9168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E5332BB4-63AF-D7E0-B555-D6A444B48DA4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76D93EAF-B146-56FC-C549-DDEF65377A35}"/>
              </a:ext>
            </a:extLst>
          </p:cNvPr>
          <p:cNvSpPr/>
          <p:nvPr/>
        </p:nvSpPr>
        <p:spPr>
          <a:xfrm>
            <a:off x="5423234" y="1018723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A73081-2A01-A5A7-E3DB-835A50C061BA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C6CCA-6F97-DFF4-6F81-0B32139CF6D3}"/>
              </a:ext>
            </a:extLst>
          </p:cNvPr>
          <p:cNvSpPr/>
          <p:nvPr/>
        </p:nvSpPr>
        <p:spPr>
          <a:xfrm>
            <a:off x="6007797" y="494803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E6633-3DD3-8171-A538-B49B0A7F7389}"/>
              </a:ext>
            </a:extLst>
          </p:cNvPr>
          <p:cNvSpPr/>
          <p:nvPr/>
        </p:nvSpPr>
        <p:spPr>
          <a:xfrm>
            <a:off x="4263444" y="473830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2C2E7A4-8EA5-065C-8FD1-5DA18AE87B1E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4C3724EB-F6AC-8D6A-AF55-FE3E210283B7}"/>
              </a:ext>
            </a:extLst>
          </p:cNvPr>
          <p:cNvSpPr/>
          <p:nvPr/>
        </p:nvSpPr>
        <p:spPr>
          <a:xfrm>
            <a:off x="5449380" y="4579062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51972E8-2327-1EEA-313C-70C56B700C21}"/>
              </a:ext>
            </a:extLst>
          </p:cNvPr>
          <p:cNvSpPr/>
          <p:nvPr/>
        </p:nvSpPr>
        <p:spPr>
          <a:xfrm>
            <a:off x="2499829" y="4897519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F3EC20-C53A-DB4A-EBE5-60A866B17706}"/>
              </a:ext>
            </a:extLst>
          </p:cNvPr>
          <p:cNvCxnSpPr>
            <a:cxnSpLocks/>
          </p:cNvCxnSpPr>
          <p:nvPr/>
        </p:nvCxnSpPr>
        <p:spPr>
          <a:xfrm flipH="1" flipV="1">
            <a:off x="6926805" y="1516978"/>
            <a:ext cx="843207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86FCD-2B7D-48FC-BF68-30F21365CCE1}"/>
              </a:ext>
            </a:extLst>
          </p:cNvPr>
          <p:cNvCxnSpPr>
            <a:cxnSpLocks/>
          </p:cNvCxnSpPr>
          <p:nvPr/>
        </p:nvCxnSpPr>
        <p:spPr>
          <a:xfrm flipH="1">
            <a:off x="6965099" y="2095457"/>
            <a:ext cx="774300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E00B59-892B-C5AF-D3CC-607E7060FC34}"/>
              </a:ext>
            </a:extLst>
          </p:cNvPr>
          <p:cNvSpPr txBox="1"/>
          <p:nvPr/>
        </p:nvSpPr>
        <p:spPr>
          <a:xfrm>
            <a:off x="7932191" y="1728713"/>
            <a:ext cx="248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Mutually exclusive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/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  <a:blipFill>
                <a:blip r:embed="rId10"/>
                <a:stretch>
                  <a:fillRect r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Down 30">
            <a:extLst>
              <a:ext uri="{FF2B5EF4-FFF2-40B4-BE49-F238E27FC236}">
                <a16:creationId xmlns:a16="http://schemas.microsoft.com/office/drawing/2014/main" id="{9EB5ABD3-5689-A3A3-CAAE-49F5DF4C6D5F}"/>
              </a:ext>
            </a:extLst>
          </p:cNvPr>
          <p:cNvSpPr/>
          <p:nvPr/>
        </p:nvSpPr>
        <p:spPr>
          <a:xfrm>
            <a:off x="1054249" y="3603812"/>
            <a:ext cx="290457" cy="5056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02DD9A5C-A0A0-D271-92F2-A0901920F80F}"/>
              </a:ext>
            </a:extLst>
          </p:cNvPr>
          <p:cNvSpPr/>
          <p:nvPr/>
        </p:nvSpPr>
        <p:spPr>
          <a:xfrm>
            <a:off x="3911741" y="1302971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BDC4E9-72B3-34AF-A95D-9A9CAFF36B4B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85BC21-7779-DC7C-AA62-64839D65725A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B9B6AB-40FA-CFA7-CC72-B54809F2DD27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2C984B-7960-F8E8-6B8A-573096EDF7EA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A642120-2444-048A-AD1A-6483713FE2A1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7EF5D0DE-9244-E35F-EAAC-43D799B9F442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B8FA66-10FB-DD66-CF1C-4B2B00B8D7D1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B65ECB-209B-BC3B-69A3-A9E18DE99A1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6CAF6C-51A7-6355-7E5E-A51A819C8411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563164-6754-21CC-2C89-61067A168F3B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DE9DB4A6-A919-A8BC-C5FF-95477318AFA5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/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/>
              <p:nvPr/>
            </p:nvSpPr>
            <p:spPr>
              <a:xfrm>
                <a:off x="7083617" y="4427389"/>
                <a:ext cx="2379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617" y="4427389"/>
                <a:ext cx="2379434" cy="830997"/>
              </a:xfrm>
              <a:prstGeom prst="rect">
                <a:avLst/>
              </a:prstGeom>
              <a:blipFill>
                <a:blip r:embed="rId12"/>
                <a:stretch>
                  <a:fillRect l="-1538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/>
              <p:nvPr/>
            </p:nvSpPr>
            <p:spPr>
              <a:xfrm>
                <a:off x="9526650" y="1111374"/>
                <a:ext cx="2471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One instance is enough to tell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apart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650" y="1111374"/>
                <a:ext cx="2471959" cy="646331"/>
              </a:xfrm>
              <a:prstGeom prst="rect">
                <a:avLst/>
              </a:prstGeom>
              <a:blipFill>
                <a:blip r:embed="rId13"/>
                <a:stretch>
                  <a:fillRect t="-4717" r="-37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85500F23-1E85-433B-96DF-32F7C56DC6EA}"/>
              </a:ext>
            </a:extLst>
          </p:cNvPr>
          <p:cNvSpPr txBox="1"/>
          <p:nvPr/>
        </p:nvSpPr>
        <p:spPr>
          <a:xfrm>
            <a:off x="6509190" y="3637027"/>
            <a:ext cx="3417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Maximal entropy increase</a:t>
            </a:r>
            <a:br>
              <a:rPr lang="en-US" sz="2400" dirty="0"/>
            </a:br>
            <a:r>
              <a:rPr lang="en-US" sz="2400" dirty="0"/>
              <a:t>if orthogonal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7DC1A4-3FD7-ABD6-1272-D9F0D9C5A957}"/>
              </a:ext>
            </a:extLst>
          </p:cNvPr>
          <p:cNvSpPr txBox="1"/>
          <p:nvPr/>
        </p:nvSpPr>
        <p:spPr>
          <a:xfrm>
            <a:off x="10065259" y="2464943"/>
            <a:ext cx="16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Orthogonal</a:t>
            </a:r>
          </a:p>
        </p:txBody>
      </p:sp>
      <p:sp>
        <p:nvSpPr>
          <p:cNvPr id="82" name="Arrow: Left-Right 81">
            <a:extLst>
              <a:ext uri="{FF2B5EF4-FFF2-40B4-BE49-F238E27FC236}">
                <a16:creationId xmlns:a16="http://schemas.microsoft.com/office/drawing/2014/main" id="{39B00332-37AF-5B8C-4E00-48D8852B0E8B}"/>
              </a:ext>
            </a:extLst>
          </p:cNvPr>
          <p:cNvSpPr/>
          <p:nvPr/>
        </p:nvSpPr>
        <p:spPr>
          <a:xfrm rot="1708127">
            <a:off x="9295705" y="2270000"/>
            <a:ext cx="696868" cy="3573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D3B4D2-ACFF-426E-F22A-9DDFD5D226F0}"/>
                  </a:ext>
                </a:extLst>
              </p:cNvPr>
              <p:cNvSpPr txBox="1"/>
              <p:nvPr/>
            </p:nvSpPr>
            <p:spPr>
              <a:xfrm>
                <a:off x="6322096" y="5686459"/>
                <a:ext cx="2897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D3B4D2-ACFF-426E-F22A-9DDFD5D22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96" y="5686459"/>
                <a:ext cx="2897973" cy="369332"/>
              </a:xfrm>
              <a:prstGeom prst="rect">
                <a:avLst/>
              </a:prstGeom>
              <a:blipFill>
                <a:blip r:embed="rId14"/>
                <a:stretch>
                  <a:fillRect r="-715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DEF03873-2412-EA2E-16E5-3CD07308D16E}"/>
              </a:ext>
            </a:extLst>
          </p:cNvPr>
          <p:cNvSpPr txBox="1"/>
          <p:nvPr/>
        </p:nvSpPr>
        <p:spPr>
          <a:xfrm>
            <a:off x="6481809" y="5391376"/>
            <a:ext cx="264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recovers Shannon entropy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752173-861A-E989-4B53-3DF6A4D35BFE}"/>
              </a:ext>
            </a:extLst>
          </p:cNvPr>
          <p:cNvCxnSpPr/>
          <p:nvPr/>
        </p:nvCxnSpPr>
        <p:spPr>
          <a:xfrm flipV="1">
            <a:off x="7561847" y="5158984"/>
            <a:ext cx="370344" cy="23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2DEE7-B827-59FE-C2BC-4BFFE11CE999}"/>
              </a:ext>
            </a:extLst>
          </p:cNvPr>
          <p:cNvCxnSpPr>
            <a:cxnSpLocks/>
          </p:cNvCxnSpPr>
          <p:nvPr/>
        </p:nvCxnSpPr>
        <p:spPr>
          <a:xfrm flipH="1">
            <a:off x="4364681" y="2151816"/>
            <a:ext cx="298695" cy="409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E9BBCB-3338-F60C-5C71-5DB644B231AA}"/>
              </a:ext>
            </a:extLst>
          </p:cNvPr>
          <p:cNvSpPr txBox="1"/>
          <p:nvPr/>
        </p:nvSpPr>
        <p:spPr>
          <a:xfrm>
            <a:off x="4259810" y="1863268"/>
            <a:ext cx="1488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more variability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EBA0F-567F-53B6-08AB-BC392C68D319}"/>
              </a:ext>
            </a:extLst>
          </p:cNvPr>
          <p:cNvSpPr txBox="1"/>
          <p:nvPr/>
        </p:nvSpPr>
        <p:spPr>
          <a:xfrm>
            <a:off x="9485238" y="147647"/>
            <a:ext cx="1763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Variability within</a:t>
            </a:r>
            <a:br>
              <a:rPr lang="en-US" dirty="0"/>
            </a:br>
            <a:r>
              <a:rPr lang="en-US" dirty="0"/>
              <a:t>an ensemble</a:t>
            </a: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5382ACFD-61B1-FEFD-0749-EF42815391F6}"/>
              </a:ext>
            </a:extLst>
          </p:cNvPr>
          <p:cNvSpPr/>
          <p:nvPr/>
        </p:nvSpPr>
        <p:spPr>
          <a:xfrm>
            <a:off x="8876087" y="288861"/>
            <a:ext cx="538938" cy="2689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A9A04-172D-3A4B-0E67-A2B177F3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75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BC81-EF5D-69EE-15A0-F0EDE57A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679787-FDF8-9900-782B-0C2384E5D4CC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FE6C7-C058-6FC1-DB41-BC2D9BD4F3F9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D6C66-B15A-B11B-2470-3176CF7E97E0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2761AF2F-C615-1A02-92FD-ACD2C2B4DCBA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D7F38DB-7BA9-16E6-078D-BACA3AB05335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F6F29D5-102E-57A4-9BD9-3D75631A99A9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81207C4-2A39-8ADE-F803-535714B11CA5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8B20C40-5D22-8304-C387-AB42E9D5F098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7D1FFC7-3B1A-F63F-6E5E-41DD9E49B3FB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81F51E-CD86-83FE-AAC9-B3EAADE06E1B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578F7FB9-6D96-E3D9-6A55-EFF04506A94C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18554-27BA-A261-43A8-804C2C410019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4F40630-B9DC-7053-A771-3E444CA7D048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F5DA7E-90F2-2629-77DD-4410787099E8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AB59CD-3BD8-06CA-779E-F3A27C130340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C5176C-CCF9-5E88-5DFA-68F5CEE336A4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E4DB47-7722-F830-E917-61321AA34A59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CCBE27-6B21-74D9-6514-4C6C024B0AD3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EF8AF7B-9713-EA15-44AD-A83A44093DD3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45A78C-EB7B-9442-F2F1-816B20C91962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3BF4C9-5758-2DBE-85E2-E5F3E1F213E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6D86FE-D86D-4CDA-774D-9895549B9AE4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7D53FA7-FD09-FCB1-A3BE-80D53830440C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0155DCBD-936F-DF2E-23EB-16FB01AB1CA1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C4E8A4-094C-7E37-042C-29F3E87699ED}"/>
              </a:ext>
            </a:extLst>
          </p:cNvPr>
          <p:cNvSpPr/>
          <p:nvPr/>
        </p:nvSpPr>
        <p:spPr>
          <a:xfrm>
            <a:off x="4055844" y="139297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C1682D-102E-591E-89AD-0F93FE53369F}"/>
              </a:ext>
            </a:extLst>
          </p:cNvPr>
          <p:cNvSpPr/>
          <p:nvPr/>
        </p:nvSpPr>
        <p:spPr>
          <a:xfrm>
            <a:off x="5470209" y="107134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A7922A-691B-CDB8-8A09-50BC71B08B4E}"/>
              </a:ext>
            </a:extLst>
          </p:cNvPr>
          <p:cNvSpPr txBox="1"/>
          <p:nvPr/>
        </p:nvSpPr>
        <p:spPr>
          <a:xfrm>
            <a:off x="8064336" y="483104"/>
            <a:ext cx="16755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Identically</a:t>
            </a:r>
            <a:br>
              <a:rPr lang="en-US" sz="2800" dirty="0"/>
            </a:br>
            <a:r>
              <a:rPr lang="en-US" sz="2800" dirty="0"/>
              <a:t>prepared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55769-E4F1-FC12-7B40-652C9570FF70}"/>
              </a:ext>
            </a:extLst>
          </p:cNvPr>
          <p:cNvSpPr txBox="1"/>
          <p:nvPr/>
        </p:nvSpPr>
        <p:spPr>
          <a:xfrm>
            <a:off x="8081010" y="2237878"/>
            <a:ext cx="16065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Pure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/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is no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blipFill>
                <a:blip r:embed="rId8"/>
                <a:stretch>
                  <a:fillRect l="-83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588BB04-01CD-CEF0-253B-8DCF8D7F7F71}"/>
              </a:ext>
            </a:extLst>
          </p:cNvPr>
          <p:cNvSpPr txBox="1"/>
          <p:nvPr/>
        </p:nvSpPr>
        <p:spPr>
          <a:xfrm>
            <a:off x="243288" y="4073075"/>
            <a:ext cx="944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classical theories, all pure ensembles are identically prepared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88DAB-1AAD-F891-BC68-52B2C43F210D}"/>
              </a:ext>
            </a:extLst>
          </p:cNvPr>
          <p:cNvSpPr txBox="1"/>
          <p:nvPr/>
        </p:nvSpPr>
        <p:spPr>
          <a:xfrm>
            <a:off x="2043953" y="4586355"/>
            <a:ext cx="5175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real distinction between ensembles and instances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B5AAA-6C9C-24BE-68A4-E5CB857EF4E2}"/>
              </a:ext>
            </a:extLst>
          </p:cNvPr>
          <p:cNvSpPr txBox="1"/>
          <p:nvPr/>
        </p:nvSpPr>
        <p:spPr>
          <a:xfrm>
            <a:off x="243288" y="5257804"/>
            <a:ext cx="885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non-classical theories, no identically prepared ensembles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29167-02FB-4EEF-2184-DDFBFABED740}"/>
              </a:ext>
            </a:extLst>
          </p:cNvPr>
          <p:cNvSpPr txBox="1"/>
          <p:nvPr/>
        </p:nvSpPr>
        <p:spPr>
          <a:xfrm>
            <a:off x="1596928" y="5780422"/>
            <a:ext cx="673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Zero entropy does NOT correspond to identically prepared ensembles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90AC57-88E5-D7FB-3172-831297B5E688}"/>
              </a:ext>
            </a:extLst>
          </p:cNvPr>
          <p:cNvSpPr txBox="1"/>
          <p:nvPr/>
        </p:nvSpPr>
        <p:spPr>
          <a:xfrm>
            <a:off x="9849642" y="2315692"/>
            <a:ext cx="198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 process can reduce the variability of the ensemble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A86F86-47E1-E81E-9F74-E72D0610DE53}"/>
              </a:ext>
            </a:extLst>
          </p:cNvPr>
          <p:cNvSpPr txBox="1"/>
          <p:nvPr/>
        </p:nvSpPr>
        <p:spPr>
          <a:xfrm>
            <a:off x="9921861" y="932203"/>
            <a:ext cx="1984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There is no variability in the ensemble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3355D-0557-D9E7-2D24-84123199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4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BA071-E44A-A8CC-0D52-0BA038215504}"/>
              </a:ext>
            </a:extLst>
          </p:cNvPr>
          <p:cNvSpPr txBox="1"/>
          <p:nvPr/>
        </p:nvSpPr>
        <p:spPr>
          <a:xfrm>
            <a:off x="2223345" y="113063"/>
            <a:ext cx="7745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Minimal requirements for an ensemble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72645-6D2B-3CDA-29A8-0D07E878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359"/>
          <a:stretch>
            <a:fillRect/>
          </a:stretch>
        </p:blipFill>
        <p:spPr>
          <a:xfrm>
            <a:off x="161364" y="787878"/>
            <a:ext cx="11869271" cy="10890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2EA73A-2EF5-6BA8-B34C-87A8E49B5C3F}"/>
              </a:ext>
            </a:extLst>
          </p:cNvPr>
          <p:cNvSpPr/>
          <p:nvPr/>
        </p:nvSpPr>
        <p:spPr>
          <a:xfrm>
            <a:off x="0" y="1161047"/>
            <a:ext cx="12192000" cy="71588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/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Topology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blipFill>
                <a:blip r:embed="rId3"/>
                <a:stretch>
                  <a:fillRect l="-2176" t="-10465" r="-119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3322D99-C010-1C23-3753-B12B179895D3}"/>
              </a:ext>
            </a:extLst>
          </p:cNvPr>
          <p:cNvSpPr txBox="1"/>
          <p:nvPr/>
        </p:nvSpPr>
        <p:spPr>
          <a:xfrm>
            <a:off x="7749039" y="1997193"/>
            <a:ext cx="3985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topological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9A4CD-926A-ACBD-993E-1A120836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161"/>
          <a:stretch>
            <a:fillRect/>
          </a:stretch>
        </p:blipFill>
        <p:spPr>
          <a:xfrm>
            <a:off x="141342" y="2604572"/>
            <a:ext cx="12011592" cy="446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/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Ensembles can be mixed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Convex structure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blipFill>
                <a:blip r:embed="rId5"/>
                <a:stretch>
                  <a:fillRect l="-1823" t="-11765" r="-63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5E4411-EF50-E431-02A4-9AE7A342BA92}"/>
              </a:ext>
            </a:extLst>
          </p:cNvPr>
          <p:cNvSpPr txBox="1"/>
          <p:nvPr/>
        </p:nvSpPr>
        <p:spPr>
          <a:xfrm>
            <a:off x="7749038" y="3244334"/>
            <a:ext cx="348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linear structures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C2D-376C-4ACE-7CF8-FF12F46B13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4917"/>
          <a:stretch>
            <a:fillRect/>
          </a:stretch>
        </p:blipFill>
        <p:spPr>
          <a:xfrm>
            <a:off x="208082" y="3853202"/>
            <a:ext cx="9207825" cy="58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/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 variability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Entropy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blipFill>
                <a:blip r:embed="rId7"/>
                <a:stretch>
                  <a:fillRect l="-1938" t="-10465" r="-193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93E148-E70C-6CA9-985D-B836FAAA3BD6}"/>
              </a:ext>
            </a:extLst>
          </p:cNvPr>
          <p:cNvSpPr txBox="1"/>
          <p:nvPr/>
        </p:nvSpPr>
        <p:spPr>
          <a:xfrm>
            <a:off x="5420739" y="4665371"/>
            <a:ext cx="3900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geometric structures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EF67D-7CDA-05B5-7A50-4FD477DB1934}"/>
              </a:ext>
            </a:extLst>
          </p:cNvPr>
          <p:cNvSpPr txBox="1"/>
          <p:nvPr/>
        </p:nvSpPr>
        <p:spPr>
          <a:xfrm>
            <a:off x="1104929" y="5639912"/>
            <a:ext cx="729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trying to find the right starting point for Poisson/commutator structure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798AE0-7887-25E8-D1D0-0E565BF7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548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7DCDC-655C-EF98-BDA9-8781A56F400F}"/>
              </a:ext>
            </a:extLst>
          </p:cNvPr>
          <p:cNvSpPr txBox="1"/>
          <p:nvPr/>
        </p:nvSpPr>
        <p:spPr>
          <a:xfrm>
            <a:off x="3064063" y="113063"/>
            <a:ext cx="606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Some general results/constructions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E454BB-DC7A-0E4E-A4AB-BB6D97A062A2}"/>
              </a:ext>
            </a:extLst>
          </p:cNvPr>
          <p:cNvGrpSpPr/>
          <p:nvPr/>
        </p:nvGrpSpPr>
        <p:grpSpPr>
          <a:xfrm>
            <a:off x="266005" y="913822"/>
            <a:ext cx="6188192" cy="779207"/>
            <a:chOff x="332748" y="184638"/>
            <a:chExt cx="11526504" cy="14513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80FFAC-F22C-4350-657A-A5DDA4716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8377"/>
            <a:stretch/>
          </p:blipFill>
          <p:spPr>
            <a:xfrm>
              <a:off x="332748" y="184638"/>
              <a:ext cx="11526504" cy="13276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8B111E-CF23-56A2-E639-668A1DBC4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4840"/>
            <a:stretch/>
          </p:blipFill>
          <p:spPr>
            <a:xfrm>
              <a:off x="332748" y="1319211"/>
              <a:ext cx="11526504" cy="3168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/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maximal entropy increase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uniquely</a:t>
                </a:r>
                <a:br>
                  <a:rPr lang="en-US" sz="2000" dirty="0"/>
                </a:br>
                <a:r>
                  <a:rPr lang="en-US" sz="2000" dirty="0"/>
                  <a:t>determined, independently of physical theory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blipFill>
                <a:blip r:embed="rId3"/>
                <a:stretch>
                  <a:fillRect l="-1276" t="-5172" r="-46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FF4A2B-33A8-869F-ACC1-005896FF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193" y="1944940"/>
            <a:ext cx="6246450" cy="581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B8EE1-CED7-B325-3FEC-94579EC8DAED}"/>
              </a:ext>
            </a:extLst>
          </p:cNvPr>
          <p:cNvSpPr txBox="1"/>
          <p:nvPr/>
        </p:nvSpPr>
        <p:spPr>
          <a:xfrm>
            <a:off x="266005" y="1881757"/>
            <a:ext cx="52833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Ensembles embed into a vector space</a:t>
            </a:r>
            <a:br>
              <a:rPr lang="en-US" sz="2000" dirty="0"/>
            </a:br>
            <a:r>
              <a:rPr lang="en-US" sz="2000" dirty="0"/>
              <a:t>(if continuously, we have foundation for calculus)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D1960-2C37-13D7-B6AE-92F617823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68" y="2710607"/>
            <a:ext cx="5402926" cy="834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3F0514-DFE7-87A0-14DB-48DD8816CCDA}"/>
              </a:ext>
            </a:extLst>
          </p:cNvPr>
          <p:cNvSpPr txBox="1"/>
          <p:nvPr/>
        </p:nvSpPr>
        <p:spPr>
          <a:xfrm>
            <a:off x="6710469" y="2721114"/>
            <a:ext cx="50375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Entropy increase during mixing generalizes</a:t>
            </a:r>
            <a:br>
              <a:rPr lang="en-US" sz="2000" dirty="0"/>
            </a:br>
            <a:r>
              <a:rPr lang="en-US" sz="2000" dirty="0"/>
              <a:t>Jensen-Shannon Divergence (pseudo-distance)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027789-B275-D7D1-C288-B0A427E85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125" y="3686761"/>
            <a:ext cx="4210638" cy="876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D7D370-CBA6-11DE-C095-F24DCC5F2048}"/>
              </a:ext>
            </a:extLst>
          </p:cNvPr>
          <p:cNvSpPr txBox="1"/>
          <p:nvPr/>
        </p:nvSpPr>
        <p:spPr>
          <a:xfrm>
            <a:off x="331268" y="3771029"/>
            <a:ext cx="4927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Hessian of the entropy generalizes Fisher-Rao</a:t>
            </a:r>
            <a:br>
              <a:rPr lang="en-US" sz="2000" dirty="0"/>
            </a:br>
            <a:r>
              <a:rPr lang="en-US" sz="2000" dirty="0"/>
              <a:t>metric from information geometry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B8B756-2096-E597-529C-A49B16005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04" y="4704340"/>
            <a:ext cx="6619285" cy="630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9EFBF9-A777-D09F-0B2F-CBD9E2F0653E}"/>
              </a:ext>
            </a:extLst>
          </p:cNvPr>
          <p:cNvSpPr txBox="1"/>
          <p:nvPr/>
        </p:nvSpPr>
        <p:spPr>
          <a:xfrm>
            <a:off x="7078822" y="4554366"/>
            <a:ext cx="3261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Non-additive </a:t>
            </a:r>
            <a:br>
              <a:rPr lang="en-US" sz="2000" dirty="0"/>
            </a:br>
            <a:r>
              <a:rPr lang="en-US" sz="2000" dirty="0"/>
              <a:t>generalization</a:t>
            </a:r>
            <a:br>
              <a:rPr lang="en-US" sz="2000" dirty="0"/>
            </a:br>
            <a:r>
              <a:rPr lang="en-US" sz="2000" dirty="0"/>
              <a:t>of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/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Generalization of</a:t>
                </a:r>
                <a:br>
                  <a:rPr lang="en-US" sz="2000" dirty="0"/>
                </a:b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blipFill>
                <a:blip r:embed="rId8"/>
                <a:stretch>
                  <a:fillRect l="-2857" t="-5172" r="-286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1F3311B-C313-B606-91E2-0162E4A3A3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7636" y="5803369"/>
            <a:ext cx="6415542" cy="437569"/>
          </a:xfrm>
          <a:prstGeom prst="rect">
            <a:avLst/>
          </a:prstGeom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EF537B1-E0A6-1AD3-1301-5855710E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85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/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Every state is a single case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Finite continuous range carries finite information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Count is additive for disjoint sets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blipFill>
                <a:blip r:embed="rId2"/>
                <a:stretch>
                  <a:fillRect l="-1138" t="-4569" r="-8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48C1ED-60DB-C5BD-1F5E-079066DF733B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D9495-7D9B-2EC3-9414-5288E009D99D}"/>
              </a:ext>
            </a:extLst>
          </p:cNvPr>
          <p:cNvSpPr txBox="1"/>
          <p:nvPr/>
        </p:nvSpPr>
        <p:spPr>
          <a:xfrm>
            <a:off x="9619087" y="2084942"/>
            <a:ext cx="1568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Pick two!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ACB6B-F5D3-3E08-DD41-B06E1D11BB94}"/>
              </a:ext>
            </a:extLst>
          </p:cNvPr>
          <p:cNvSpPr txBox="1"/>
          <p:nvPr/>
        </p:nvSpPr>
        <p:spPr>
          <a:xfrm>
            <a:off x="878542" y="877205"/>
            <a:ext cx="109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We’d like: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490488-B659-2F2B-7511-290B3C8A3D4B}"/>
              </a:ext>
            </a:extLst>
          </p:cNvPr>
          <p:cNvGrpSpPr/>
          <p:nvPr/>
        </p:nvGrpSpPr>
        <p:grpSpPr>
          <a:xfrm>
            <a:off x="6816424" y="3042753"/>
            <a:ext cx="1110343" cy="1110344"/>
            <a:chOff x="5635690" y="3806890"/>
            <a:chExt cx="1110343" cy="111034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44B45F0-2B2F-583C-CD21-CDAB88AED400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F05EBD-289B-66EE-A34C-2E3E45F11391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FC4FC7B8-8CFE-BDA3-8004-BA07578DB84A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6CFF108-91DF-5556-C9DB-CB3430EB7C6A}"/>
              </a:ext>
            </a:extLst>
          </p:cNvPr>
          <p:cNvSpPr/>
          <p:nvPr/>
        </p:nvSpPr>
        <p:spPr>
          <a:xfrm rot="2574255">
            <a:off x="7631492" y="3178699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2B84C2-4F8F-F14B-47B1-7032471B7DBE}"/>
              </a:ext>
            </a:extLst>
          </p:cNvPr>
          <p:cNvSpPr/>
          <p:nvPr/>
        </p:nvSpPr>
        <p:spPr>
          <a:xfrm rot="2574255">
            <a:off x="6993317" y="3950224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089D17-0EBE-2208-2628-6B90A6BD51B0}"/>
              </a:ext>
            </a:extLst>
          </p:cNvPr>
          <p:cNvSpPr/>
          <p:nvPr/>
        </p:nvSpPr>
        <p:spPr>
          <a:xfrm rot="4206954">
            <a:off x="7765604" y="3413395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/>
              <p:nvPr/>
            </p:nvSpPr>
            <p:spPr>
              <a:xfrm>
                <a:off x="7642397" y="289353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97" y="2893537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/>
              <p:nvPr/>
            </p:nvSpPr>
            <p:spPr>
              <a:xfrm>
                <a:off x="6687323" y="3943031"/>
                <a:ext cx="396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323" y="3943031"/>
                <a:ext cx="3960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/>
              <p:nvPr/>
            </p:nvSpPr>
            <p:spPr>
              <a:xfrm>
                <a:off x="7847226" y="324945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226" y="3249456"/>
                <a:ext cx="385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/>
              <p:nvPr/>
            </p:nvSpPr>
            <p:spPr>
              <a:xfrm>
                <a:off x="6581155" y="4218057"/>
                <a:ext cx="14813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218057"/>
                <a:ext cx="1481303" cy="30777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/>
              <p:nvPr/>
            </p:nvSpPr>
            <p:spPr>
              <a:xfrm>
                <a:off x="6581155" y="4558600"/>
                <a:ext cx="16677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558600"/>
                <a:ext cx="1667701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/>
              <p:nvPr/>
            </p:nvSpPr>
            <p:spPr>
              <a:xfrm>
                <a:off x="6581155" y="4899143"/>
                <a:ext cx="2707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899143"/>
                <a:ext cx="2707728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/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counting measure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blipFill>
                <a:blip r:embed="rId9"/>
                <a:stretch>
                  <a:fillRect l="-1603" t="-10000" r="-12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/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Lebesgue measure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blipFill>
                <a:blip r:embed="rId10"/>
                <a:stretch>
                  <a:fillRect l="-1569" t="-10000" r="-11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/>
              <p:nvPr/>
            </p:nvSpPr>
            <p:spPr>
              <a:xfrm>
                <a:off x="2082137" y="2968698"/>
                <a:ext cx="3299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3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“Quantum measure”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137" y="2968698"/>
                <a:ext cx="3299429" cy="369332"/>
              </a:xfrm>
              <a:prstGeom prst="rect">
                <a:avLst/>
              </a:prstGeom>
              <a:blipFill>
                <a:blip r:embed="rId11"/>
                <a:stretch>
                  <a:fillRect l="-1664" t="-9836" r="-11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/>
              <p:nvPr/>
            </p:nvSpPr>
            <p:spPr>
              <a:xfrm>
                <a:off x="691441" y="3527178"/>
                <a:ext cx="3201261" cy="61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hull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3527178"/>
                <a:ext cx="3201261" cy="6122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/>
              <p:nvPr/>
            </p:nvSpPr>
            <p:spPr>
              <a:xfrm>
                <a:off x="459847" y="4376066"/>
                <a:ext cx="55894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Exponential of the maximum entropy reachable with convex combinations (statistical mixtures)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400" dirty="0"/>
                  <a:t> (reduces to counting/Liouville measure)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47" y="4376066"/>
                <a:ext cx="5589463" cy="523220"/>
              </a:xfrm>
              <a:prstGeom prst="rect">
                <a:avLst/>
              </a:prstGeom>
              <a:blipFill>
                <a:blip r:embed="rId13"/>
                <a:stretch>
                  <a:fillRect l="-327" t="-2326" r="-327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3600" dirty="0">
                    <a:latin typeface="+mn-lt"/>
                  </a:rPr>
                  <a:t>Quantum mechanics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b="0" dirty="0">
                    <a:latin typeface="+mn-lt"/>
                  </a:rPr>
                  <a:t> lower bound</a:t>
                </a:r>
                <a:br>
                  <a:rPr lang="en-US" sz="3600" b="0" dirty="0">
                    <a:latin typeface="+mn-lt"/>
                  </a:rPr>
                </a:br>
                <a:r>
                  <a:rPr lang="en-US" sz="3600" b="0" dirty="0">
                    <a:latin typeface="+mn-lt"/>
                  </a:rPr>
                  <a:t>on #conf (entropy) on continuous DOF</a:t>
                </a:r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  <a:blipFill>
                <a:blip r:embed="rId14"/>
                <a:stretch>
                  <a:fillRect l="-2570" t="-14045" r="-1493" b="-20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38661EE-9281-AAD2-AAF3-7C29510645B5}"/>
              </a:ext>
            </a:extLst>
          </p:cNvPr>
          <p:cNvSpPr txBox="1"/>
          <p:nvPr/>
        </p:nvSpPr>
        <p:spPr>
          <a:xfrm rot="1176489">
            <a:off x="9272937" y="1364106"/>
            <a:ext cx="151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Incompatible!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2444C6-CB59-D03D-CBE2-870EBED33518}"/>
              </a:ext>
            </a:extLst>
          </p:cNvPr>
          <p:cNvCxnSpPr>
            <a:cxnSpLocks/>
          </p:cNvCxnSpPr>
          <p:nvPr/>
        </p:nvCxnSpPr>
        <p:spPr>
          <a:xfrm flipH="1">
            <a:off x="7842624" y="3192883"/>
            <a:ext cx="49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920ABE-D699-F473-3618-4B35BE87206E}"/>
              </a:ext>
            </a:extLst>
          </p:cNvPr>
          <p:cNvSpPr txBox="1"/>
          <p:nvPr/>
        </p:nvSpPr>
        <p:spPr>
          <a:xfrm>
            <a:off x="8422837" y="2932566"/>
            <a:ext cx="3669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Non-orthogonal states: different states but in different contexts; not mutually exclusive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F340E-9D14-BA01-292D-F61E21577325}"/>
              </a:ext>
            </a:extLst>
          </p:cNvPr>
          <p:cNvSpPr txBox="1"/>
          <p:nvPr/>
        </p:nvSpPr>
        <p:spPr>
          <a:xfrm>
            <a:off x="4230398" y="3368372"/>
            <a:ext cx="2892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Orthogonal states: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different states all else equal;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mutually exclusive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84B4CA-32FF-CC40-B818-027C4EF754A4}"/>
              </a:ext>
            </a:extLst>
          </p:cNvPr>
          <p:cNvCxnSpPr/>
          <p:nvPr/>
        </p:nvCxnSpPr>
        <p:spPr>
          <a:xfrm flipV="1">
            <a:off x="6655929" y="3224954"/>
            <a:ext cx="885284" cy="33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21DACF-7222-071C-03BE-4C4E5DBFFC22}"/>
              </a:ext>
            </a:extLst>
          </p:cNvPr>
          <p:cNvCxnSpPr/>
          <p:nvPr/>
        </p:nvCxnSpPr>
        <p:spPr>
          <a:xfrm>
            <a:off x="6715111" y="3660200"/>
            <a:ext cx="263011" cy="214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CD04B5-E652-4959-52D1-CB3AF60D0480}"/>
              </a:ext>
            </a:extLst>
          </p:cNvPr>
          <p:cNvSpPr txBox="1"/>
          <p:nvPr/>
        </p:nvSpPr>
        <p:spPr>
          <a:xfrm>
            <a:off x="5953379" y="3354350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0B498A-58EF-4BCB-D2D8-10D55ACBDC41}"/>
              </a:ext>
            </a:extLst>
          </p:cNvPr>
          <p:cNvCxnSpPr>
            <a:cxnSpLocks/>
          </p:cNvCxnSpPr>
          <p:nvPr/>
        </p:nvCxnSpPr>
        <p:spPr>
          <a:xfrm flipH="1">
            <a:off x="7926767" y="3295635"/>
            <a:ext cx="389488" cy="8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98D7C0-7407-09D4-89DD-3E6BE886947B}"/>
              </a:ext>
            </a:extLst>
          </p:cNvPr>
          <p:cNvSpPr txBox="1"/>
          <p:nvPr/>
        </p:nvSpPr>
        <p:spPr>
          <a:xfrm>
            <a:off x="9998859" y="2743259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7D6C0E-174C-E9A4-B784-3BD145B0CBB6}"/>
              </a:ext>
            </a:extLst>
          </p:cNvPr>
          <p:cNvGrpSpPr/>
          <p:nvPr/>
        </p:nvGrpSpPr>
        <p:grpSpPr>
          <a:xfrm>
            <a:off x="10883690" y="156772"/>
            <a:ext cx="939556" cy="1474361"/>
            <a:chOff x="11515366" y="5256226"/>
            <a:chExt cx="3037505" cy="465287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AE8DCE-4077-5565-0B2E-1E6F67800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9"/>
            <a:stretch/>
          </p:blipFill>
          <p:spPr>
            <a:xfrm>
              <a:off x="11515366" y="8147942"/>
              <a:ext cx="3037505" cy="176115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EAA015-2BF3-7CE3-9440-EA2020C242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464"/>
            <a:stretch/>
          </p:blipFill>
          <p:spPr>
            <a:xfrm>
              <a:off x="11778154" y="5256226"/>
              <a:ext cx="2511928" cy="3865347"/>
            </a:xfrm>
            <a:prstGeom prst="rect">
              <a:avLst/>
            </a:prstGeom>
          </p:spPr>
        </p:pic>
      </p:grp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FE9F76AE-0AA7-EC27-0FDD-6CAC806C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0522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02E5-DA7C-7CBE-7E91-5999F3FF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/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Conjecture: quantum gravity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dirty="0"/>
                  <a:t> lower bound on DOF count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blipFill>
                <a:blip r:embed="rId2"/>
                <a:stretch>
                  <a:fillRect l="-1199" t="-15094" r="-114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09B9C0D-7C4D-D166-FC4F-6017F8629138}"/>
              </a:ext>
            </a:extLst>
          </p:cNvPr>
          <p:cNvSpPr txBox="1"/>
          <p:nvPr/>
        </p:nvSpPr>
        <p:spPr>
          <a:xfrm>
            <a:off x="981050" y="1228356"/>
            <a:ext cx="1838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#conf=#DOFs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D86D41-D434-6D0D-EF6A-242AD62776D1}"/>
              </a:ext>
            </a:extLst>
          </p:cNvPr>
          <p:cNvGrpSpPr/>
          <p:nvPr/>
        </p:nvGrpSpPr>
        <p:grpSpPr>
          <a:xfrm>
            <a:off x="2840309" y="982917"/>
            <a:ext cx="1072088" cy="906821"/>
            <a:chOff x="10172061" y="2694328"/>
            <a:chExt cx="1072088" cy="9068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A863E6-7BE5-AC8F-368F-867AEF08F804}"/>
                </a:ext>
              </a:extLst>
            </p:cNvPr>
            <p:cNvSpPr txBox="1"/>
            <p:nvPr/>
          </p:nvSpPr>
          <p:spPr>
            <a:xfrm>
              <a:off x="10246709" y="2694328"/>
              <a:ext cx="882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#conf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1E549-AA5C-EA39-A97E-932DCD885D17}"/>
                </a:ext>
              </a:extLst>
            </p:cNvPr>
            <p:cNvSpPr txBox="1"/>
            <p:nvPr/>
          </p:nvSpPr>
          <p:spPr>
            <a:xfrm>
              <a:off x="10214444" y="3139484"/>
              <a:ext cx="9873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#DOFs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41C4B0-708B-6C58-A94D-5CDE307348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061" y="3159107"/>
              <a:ext cx="107208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EBB533-57DA-C2BB-5F74-CAC6F40E2F04}"/>
              </a:ext>
            </a:extLst>
          </p:cNvPr>
          <p:cNvCxnSpPr/>
          <p:nvPr/>
        </p:nvCxnSpPr>
        <p:spPr>
          <a:xfrm flipV="1">
            <a:off x="981050" y="1690021"/>
            <a:ext cx="291938" cy="47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384B92-D23C-3913-E086-3C51B0A5AE70}"/>
              </a:ext>
            </a:extLst>
          </p:cNvPr>
          <p:cNvSpPr txBox="1"/>
          <p:nvPr/>
        </p:nvSpPr>
        <p:spPr>
          <a:xfrm>
            <a:off x="335591" y="2149937"/>
            <a:ext cx="1424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bound</a:t>
            </a:r>
            <a:br>
              <a:rPr lang="en-US" dirty="0"/>
            </a:br>
            <a:r>
              <a:rPr lang="en-US" dirty="0"/>
              <a:t>on this…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C61161-4D4C-E801-D25B-834FFDE791DE}"/>
              </a:ext>
            </a:extLst>
          </p:cNvPr>
          <p:cNvCxnSpPr>
            <a:cxnSpLocks/>
          </p:cNvCxnSpPr>
          <p:nvPr/>
        </p:nvCxnSpPr>
        <p:spPr>
          <a:xfrm flipH="1" flipV="1">
            <a:off x="2610923" y="1690021"/>
            <a:ext cx="257559" cy="52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CCA447-EB41-F00A-BC56-31F444DB778D}"/>
              </a:ext>
            </a:extLst>
          </p:cNvPr>
          <p:cNvSpPr txBox="1"/>
          <p:nvPr/>
        </p:nvSpPr>
        <p:spPr>
          <a:xfrm>
            <a:off x="2423669" y="2176944"/>
            <a:ext cx="193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…requires a lower bound on this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/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Every point is a single DOF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Finite volume carries finitely many DOFs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Count</a:t>
                </a:r>
                <a:r>
                  <a:rPr lang="en-US" dirty="0">
                    <a:solidFill>
                      <a:schemeClr val="tx1"/>
                    </a:solidFill>
                  </a:rPr>
                  <a:t> is additive for disjoint regions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blipFill>
                <a:blip r:embed="rId3"/>
                <a:stretch>
                  <a:fillRect l="-787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7B1E3FF-A36C-CD5C-0A9F-C503F78F550A}"/>
              </a:ext>
            </a:extLst>
          </p:cNvPr>
          <p:cNvSpPr txBox="1"/>
          <p:nvPr/>
        </p:nvSpPr>
        <p:spPr>
          <a:xfrm rot="1176489">
            <a:off x="10027934" y="1072708"/>
            <a:ext cx="164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Same problem!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0A363B-D3A1-B883-3D92-A65349479CB1}"/>
              </a:ext>
            </a:extLst>
          </p:cNvPr>
          <p:cNvCxnSpPr/>
          <p:nvPr/>
        </p:nvCxnSpPr>
        <p:spPr>
          <a:xfrm>
            <a:off x="6730474" y="2246628"/>
            <a:ext cx="299778" cy="183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6B2929-64A0-E113-0988-9D9586FB3547}"/>
              </a:ext>
            </a:extLst>
          </p:cNvPr>
          <p:cNvCxnSpPr/>
          <p:nvPr/>
        </p:nvCxnSpPr>
        <p:spPr>
          <a:xfrm flipV="1">
            <a:off x="6008096" y="2392932"/>
            <a:ext cx="1662718" cy="15453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4933B50-DFF3-789C-D505-C8FF0707AD49}"/>
              </a:ext>
            </a:extLst>
          </p:cNvPr>
          <p:cNvCxnSpPr/>
          <p:nvPr/>
        </p:nvCxnSpPr>
        <p:spPr>
          <a:xfrm>
            <a:off x="5782721" y="2639820"/>
            <a:ext cx="2152787" cy="9784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3DD131-E3B3-3CDE-960D-04A845B29DF1}"/>
              </a:ext>
            </a:extLst>
          </p:cNvPr>
          <p:cNvCxnSpPr>
            <a:cxnSpLocks/>
          </p:cNvCxnSpPr>
          <p:nvPr/>
        </p:nvCxnSpPr>
        <p:spPr>
          <a:xfrm flipH="1" flipV="1">
            <a:off x="7817118" y="2666827"/>
            <a:ext cx="1072088" cy="238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56D021-E95F-528F-0958-C698CDD2AF4E}"/>
              </a:ext>
            </a:extLst>
          </p:cNvPr>
          <p:cNvCxnSpPr/>
          <p:nvPr/>
        </p:nvCxnSpPr>
        <p:spPr>
          <a:xfrm flipH="1">
            <a:off x="6353596" y="3035234"/>
            <a:ext cx="2535610" cy="174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B2FEB14-1BF5-49D4-57A3-77CC20D15F91}"/>
              </a:ext>
            </a:extLst>
          </p:cNvPr>
          <p:cNvSpPr txBox="1"/>
          <p:nvPr/>
        </p:nvSpPr>
        <p:spPr>
          <a:xfrm>
            <a:off x="8889206" y="2796268"/>
            <a:ext cx="192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Distant points: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independent DOFs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299306-C9D3-10E7-4FAD-D93CB464043C}"/>
              </a:ext>
            </a:extLst>
          </p:cNvPr>
          <p:cNvSpPr txBox="1"/>
          <p:nvPr/>
        </p:nvSpPr>
        <p:spPr>
          <a:xfrm>
            <a:off x="5306498" y="4165092"/>
            <a:ext cx="355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 points: DOFs not independent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FE4BA5-2160-7B4F-245C-CE96A695CF81}"/>
              </a:ext>
            </a:extLst>
          </p:cNvPr>
          <p:cNvSpPr txBox="1"/>
          <p:nvPr/>
        </p:nvSpPr>
        <p:spPr>
          <a:xfrm>
            <a:off x="10394595" y="284243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F7F08D-FB05-3A57-E290-18A78222478F}"/>
              </a:ext>
            </a:extLst>
          </p:cNvPr>
          <p:cNvSpPr txBox="1"/>
          <p:nvPr/>
        </p:nvSpPr>
        <p:spPr>
          <a:xfrm>
            <a:off x="8136432" y="3946072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43A896-AAAA-E37B-C9AC-45393F57EDC4}"/>
              </a:ext>
            </a:extLst>
          </p:cNvPr>
          <p:cNvCxnSpPr/>
          <p:nvPr/>
        </p:nvCxnSpPr>
        <p:spPr>
          <a:xfrm flipH="1" flipV="1">
            <a:off x="6353596" y="3210017"/>
            <a:ext cx="287451" cy="8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5C94A6-109B-9FDE-2601-ADA48E37BD5B}"/>
              </a:ext>
            </a:extLst>
          </p:cNvPr>
          <p:cNvCxnSpPr/>
          <p:nvPr/>
        </p:nvCxnSpPr>
        <p:spPr>
          <a:xfrm flipH="1" flipV="1">
            <a:off x="6288871" y="3250277"/>
            <a:ext cx="352176" cy="81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6804C2-52AD-531F-78EA-0A524B2BFD33}"/>
              </a:ext>
            </a:extLst>
          </p:cNvPr>
          <p:cNvSpPr txBox="1"/>
          <p:nvPr/>
        </p:nvSpPr>
        <p:spPr>
          <a:xfrm>
            <a:off x="187372" y="3526404"/>
            <a:ext cx="5060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QM: Lower bound on state count requires a severe revisitation of particle state space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7CF7C4-0083-1B77-9E11-DCC9558CD3E5}"/>
              </a:ext>
            </a:extLst>
          </p:cNvPr>
          <p:cNvSpPr txBox="1"/>
          <p:nvPr/>
        </p:nvSpPr>
        <p:spPr>
          <a:xfrm>
            <a:off x="1197413" y="5123978"/>
            <a:ext cx="647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Does lower bound on DOF count require an equally severe revisitation of space-time?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B70024-8258-EAC3-ABC2-6C3AD7453EEF}"/>
                  </a:ext>
                </a:extLst>
              </p:cNvPr>
              <p:cNvSpPr txBox="1"/>
              <p:nvPr/>
            </p:nvSpPr>
            <p:spPr>
              <a:xfrm>
                <a:off x="1997615" y="2958492"/>
                <a:ext cx="3544945" cy="414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#DOF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b="0" dirty="0"/>
                  <a:t> Spatial volume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B70024-8258-EAC3-ABC2-6C3AD7453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615" y="2958492"/>
                <a:ext cx="3544945" cy="414216"/>
              </a:xfrm>
              <a:prstGeom prst="rect">
                <a:avLst/>
              </a:prstGeom>
              <a:blipFill>
                <a:blip r:embed="rId4"/>
                <a:stretch>
                  <a:fillRect l="-1549" t="-130882" b="-192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59CF755-C0D6-8A75-52A7-CCE71BBFA87E}"/>
              </a:ext>
            </a:extLst>
          </p:cNvPr>
          <p:cNvSpPr/>
          <p:nvPr/>
        </p:nvSpPr>
        <p:spPr>
          <a:xfrm>
            <a:off x="5859545" y="2382337"/>
            <a:ext cx="513461" cy="661991"/>
          </a:xfrm>
          <a:custGeom>
            <a:avLst/>
            <a:gdLst>
              <a:gd name="connsiteX0" fmla="*/ 152413 w 513461"/>
              <a:gd name="connsiteY0" fmla="*/ 33888 h 661991"/>
              <a:gd name="connsiteX1" fmla="*/ 13 w 513461"/>
              <a:gd name="connsiteY1" fmla="*/ 218372 h 661991"/>
              <a:gd name="connsiteX2" fmla="*/ 160434 w 513461"/>
              <a:gd name="connsiteY2" fmla="*/ 410878 h 661991"/>
              <a:gd name="connsiteX3" fmla="*/ 176476 w 513461"/>
              <a:gd name="connsiteY3" fmla="*/ 619425 h 661991"/>
              <a:gd name="connsiteX4" fmla="*/ 409087 w 513461"/>
              <a:gd name="connsiteY4" fmla="*/ 643488 h 661991"/>
              <a:gd name="connsiteX5" fmla="*/ 513360 w 513461"/>
              <a:gd name="connsiteY5" fmla="*/ 402857 h 661991"/>
              <a:gd name="connsiteX6" fmla="*/ 393045 w 513461"/>
              <a:gd name="connsiteY6" fmla="*/ 298583 h 661991"/>
              <a:gd name="connsiteX7" fmla="*/ 481276 w 513461"/>
              <a:gd name="connsiteY7" fmla="*/ 162225 h 661991"/>
              <a:gd name="connsiteX8" fmla="*/ 328876 w 513461"/>
              <a:gd name="connsiteY8" fmla="*/ 9825 h 661991"/>
              <a:gd name="connsiteX9" fmla="*/ 152413 w 513461"/>
              <a:gd name="connsiteY9" fmla="*/ 33888 h 661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3461" h="661991">
                <a:moveTo>
                  <a:pt x="152413" y="33888"/>
                </a:moveTo>
                <a:cubicBezTo>
                  <a:pt x="97602" y="68646"/>
                  <a:pt x="-1324" y="155540"/>
                  <a:pt x="13" y="218372"/>
                </a:cubicBezTo>
                <a:cubicBezTo>
                  <a:pt x="1350" y="281204"/>
                  <a:pt x="131023" y="344036"/>
                  <a:pt x="160434" y="410878"/>
                </a:cubicBezTo>
                <a:cubicBezTo>
                  <a:pt x="189845" y="477720"/>
                  <a:pt x="135034" y="580657"/>
                  <a:pt x="176476" y="619425"/>
                </a:cubicBezTo>
                <a:cubicBezTo>
                  <a:pt x="217918" y="658193"/>
                  <a:pt x="352940" y="679583"/>
                  <a:pt x="409087" y="643488"/>
                </a:cubicBezTo>
                <a:cubicBezTo>
                  <a:pt x="465234" y="607393"/>
                  <a:pt x="516034" y="460341"/>
                  <a:pt x="513360" y="402857"/>
                </a:cubicBezTo>
                <a:cubicBezTo>
                  <a:pt x="510686" y="345373"/>
                  <a:pt x="398392" y="338688"/>
                  <a:pt x="393045" y="298583"/>
                </a:cubicBezTo>
                <a:cubicBezTo>
                  <a:pt x="387698" y="258478"/>
                  <a:pt x="491971" y="210351"/>
                  <a:pt x="481276" y="162225"/>
                </a:cubicBezTo>
                <a:cubicBezTo>
                  <a:pt x="470581" y="114099"/>
                  <a:pt x="382350" y="28541"/>
                  <a:pt x="328876" y="9825"/>
                </a:cubicBezTo>
                <a:cubicBezTo>
                  <a:pt x="275402" y="-8891"/>
                  <a:pt x="207224" y="-870"/>
                  <a:pt x="152413" y="3388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3E1E00-A014-BD49-65DF-D4A50C292A00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445604" y="2793215"/>
            <a:ext cx="574375" cy="24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713EE-5CC2-E965-A3E0-A6BD57A3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964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F5FC-8560-8244-D0BC-49B01B49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F734A68-11A8-8FB8-8F25-0AE0B8C70B1B}"/>
              </a:ext>
            </a:extLst>
          </p:cNvPr>
          <p:cNvCxnSpPr>
            <a:stCxn id="46" idx="3"/>
            <a:endCxn id="50" idx="1"/>
          </p:cNvCxnSpPr>
          <p:nvPr/>
        </p:nvCxnSpPr>
        <p:spPr>
          <a:xfrm flipV="1">
            <a:off x="3369455" y="1379593"/>
            <a:ext cx="949024" cy="1028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B766E26-82A3-F59F-702B-A99843DAD437}"/>
              </a:ext>
            </a:extLst>
          </p:cNvPr>
          <p:cNvSpPr/>
          <p:nvPr/>
        </p:nvSpPr>
        <p:spPr>
          <a:xfrm>
            <a:off x="578973" y="1026538"/>
            <a:ext cx="2790483" cy="72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General physical principles</a:t>
            </a:r>
            <a:br>
              <a:rPr lang="en-US" sz="1600" dirty="0"/>
            </a:br>
            <a:r>
              <a:rPr lang="en-US" sz="1600" dirty="0"/>
              <a:t>and requirements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4E19E70-F948-35E2-1A9F-9E2A070CFE9C}"/>
              </a:ext>
            </a:extLst>
          </p:cNvPr>
          <p:cNvCxnSpPr>
            <a:stCxn id="47" idx="3"/>
            <a:endCxn id="82" idx="1"/>
          </p:cNvCxnSpPr>
          <p:nvPr/>
        </p:nvCxnSpPr>
        <p:spPr>
          <a:xfrm>
            <a:off x="2897627" y="2583708"/>
            <a:ext cx="961262" cy="140445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62E9BF9-AAE0-0B2C-EF43-877F6BB55B3C}"/>
              </a:ext>
            </a:extLst>
          </p:cNvPr>
          <p:cNvCxnSpPr>
            <a:stCxn id="47" idx="3"/>
            <a:endCxn id="81" idx="1"/>
          </p:cNvCxnSpPr>
          <p:nvPr/>
        </p:nvCxnSpPr>
        <p:spPr>
          <a:xfrm>
            <a:off x="2897627" y="2583708"/>
            <a:ext cx="3660265" cy="14624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43184F9-A6F7-581D-07CA-62C911679245}"/>
              </a:ext>
            </a:extLst>
          </p:cNvPr>
          <p:cNvCxnSpPr>
            <a:stCxn id="47" idx="3"/>
            <a:endCxn id="83" idx="1"/>
          </p:cNvCxnSpPr>
          <p:nvPr/>
        </p:nvCxnSpPr>
        <p:spPr>
          <a:xfrm>
            <a:off x="2897627" y="2583708"/>
            <a:ext cx="3764370" cy="131069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5FFB64C-DE2C-637C-354B-23081763BC97}"/>
              </a:ext>
            </a:extLst>
          </p:cNvPr>
          <p:cNvSpPr/>
          <p:nvPr/>
        </p:nvSpPr>
        <p:spPr>
          <a:xfrm>
            <a:off x="661828" y="2337011"/>
            <a:ext cx="2235799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Specific assumptions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86F5300-2A92-E6D9-F65D-A8DF09F54A9B}"/>
              </a:ext>
            </a:extLst>
          </p:cNvPr>
          <p:cNvCxnSpPr>
            <a:stCxn id="47" idx="3"/>
            <a:endCxn id="55" idx="1"/>
          </p:cNvCxnSpPr>
          <p:nvPr/>
        </p:nvCxnSpPr>
        <p:spPr>
          <a:xfrm>
            <a:off x="2897627" y="2583708"/>
            <a:ext cx="1000505" cy="16886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9B06587-3EDA-4EE3-16EC-5C6CDBA7951B}"/>
              </a:ext>
            </a:extLst>
          </p:cNvPr>
          <p:cNvSpPr/>
          <p:nvPr/>
        </p:nvSpPr>
        <p:spPr>
          <a:xfrm>
            <a:off x="4318479" y="1132896"/>
            <a:ext cx="3316669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General mathematical framework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01D510-1A20-6635-7758-6A5050877E0A}"/>
              </a:ext>
            </a:extLst>
          </p:cNvPr>
          <p:cNvSpPr/>
          <p:nvPr/>
        </p:nvSpPr>
        <p:spPr>
          <a:xfrm>
            <a:off x="3898132" y="2381328"/>
            <a:ext cx="1443880" cy="742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Classical mechanics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B5DD0CB-B811-776D-D634-238D9EA21C66}"/>
              </a:ext>
            </a:extLst>
          </p:cNvPr>
          <p:cNvCxnSpPr>
            <a:cxnSpLocks/>
            <a:stCxn id="82" idx="0"/>
            <a:endCxn id="50" idx="2"/>
          </p:cNvCxnSpPr>
          <p:nvPr/>
        </p:nvCxnSpPr>
        <p:spPr>
          <a:xfrm rot="5400000" flipH="1" flipV="1">
            <a:off x="4341252" y="2105901"/>
            <a:ext cx="2115173" cy="1155949"/>
          </a:xfrm>
          <a:prstGeom prst="bentConnector3">
            <a:avLst>
              <a:gd name="adj1" fmla="val 1581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08280EE-446E-67C0-CA2E-B9787FB0D652}"/>
              </a:ext>
            </a:extLst>
          </p:cNvPr>
          <p:cNvCxnSpPr>
            <a:cxnSpLocks/>
            <a:stCxn id="81" idx="0"/>
            <a:endCxn id="50" idx="2"/>
          </p:cNvCxnSpPr>
          <p:nvPr/>
        </p:nvCxnSpPr>
        <p:spPr>
          <a:xfrm rot="16200000" flipV="1">
            <a:off x="6262113" y="1340990"/>
            <a:ext cx="732423" cy="1303018"/>
          </a:xfrm>
          <a:prstGeom prst="bentConnector3">
            <a:avLst>
              <a:gd name="adj1" fmla="val 46709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D04C94A-8432-5720-59DF-2FE188DC1860}"/>
              </a:ext>
            </a:extLst>
          </p:cNvPr>
          <p:cNvCxnSpPr>
            <a:cxnSpLocks/>
            <a:stCxn id="83" idx="0"/>
            <a:endCxn id="50" idx="2"/>
          </p:cNvCxnSpPr>
          <p:nvPr/>
        </p:nvCxnSpPr>
        <p:spPr>
          <a:xfrm rot="16200000" flipV="1">
            <a:off x="5471753" y="2131350"/>
            <a:ext cx="2021420" cy="1011298"/>
          </a:xfrm>
          <a:prstGeom prst="bentConnector3">
            <a:avLst>
              <a:gd name="adj1" fmla="val 1184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86379933-F8B4-0908-E8BA-D878539CE871}"/>
              </a:ext>
            </a:extLst>
          </p:cNvPr>
          <p:cNvCxnSpPr>
            <a:cxnSpLocks/>
            <a:stCxn id="55" idx="0"/>
            <a:endCxn id="50" idx="2"/>
          </p:cNvCxnSpPr>
          <p:nvPr/>
        </p:nvCxnSpPr>
        <p:spPr>
          <a:xfrm rot="5400000" flipH="1" flipV="1">
            <a:off x="4920922" y="1325437"/>
            <a:ext cx="755040" cy="1356742"/>
          </a:xfrm>
          <a:prstGeom prst="bentConnector3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665514-81B2-1EAB-E005-70EDC7463A37}"/>
              </a:ext>
            </a:extLst>
          </p:cNvPr>
          <p:cNvSpPr txBox="1"/>
          <p:nvPr/>
        </p:nvSpPr>
        <p:spPr>
          <a:xfrm>
            <a:off x="661828" y="3923330"/>
            <a:ext cx="144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specialization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19B540-B2AB-3B43-4B1C-5D188F2BF3AC}"/>
              </a:ext>
            </a:extLst>
          </p:cNvPr>
          <p:cNvCxnSpPr>
            <a:cxnSpLocks/>
          </p:cNvCxnSpPr>
          <p:nvPr/>
        </p:nvCxnSpPr>
        <p:spPr>
          <a:xfrm flipV="1">
            <a:off x="515305" y="3913190"/>
            <a:ext cx="0" cy="43403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CAF17BE-E4DF-72ED-0807-235B07305968}"/>
              </a:ext>
            </a:extLst>
          </p:cNvPr>
          <p:cNvSpPr/>
          <p:nvPr/>
        </p:nvSpPr>
        <p:spPr>
          <a:xfrm>
            <a:off x="6557892" y="2358710"/>
            <a:ext cx="1443880" cy="742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Quantum mechanics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D0DF462-3A3A-FDDB-D61B-0A874E9EB058}"/>
              </a:ext>
            </a:extLst>
          </p:cNvPr>
          <p:cNvSpPr/>
          <p:nvPr/>
        </p:nvSpPr>
        <p:spPr>
          <a:xfrm>
            <a:off x="3858888" y="3741461"/>
            <a:ext cx="1923953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Thermodynamics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50FE515-CE28-96B6-225E-A8FC3F9AEB09}"/>
              </a:ext>
            </a:extLst>
          </p:cNvPr>
          <p:cNvSpPr/>
          <p:nvPr/>
        </p:nvSpPr>
        <p:spPr>
          <a:xfrm>
            <a:off x="6661996" y="3647708"/>
            <a:ext cx="652228" cy="493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…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42732D4-BA3A-0D37-1B71-485A80E995BE}"/>
              </a:ext>
            </a:extLst>
          </p:cNvPr>
          <p:cNvSpPr txBox="1"/>
          <p:nvPr/>
        </p:nvSpPr>
        <p:spPr>
          <a:xfrm>
            <a:off x="691773" y="3303777"/>
            <a:ext cx="113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derivation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4C72533-8A56-44D6-EFDD-8BB229A8ACB7}"/>
              </a:ext>
            </a:extLst>
          </p:cNvPr>
          <p:cNvCxnSpPr>
            <a:cxnSpLocks/>
            <a:endCxn id="113" idx="1"/>
          </p:cNvCxnSpPr>
          <p:nvPr/>
        </p:nvCxnSpPr>
        <p:spPr>
          <a:xfrm flipV="1">
            <a:off x="303394" y="3488443"/>
            <a:ext cx="388379" cy="2220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F89106-566D-ECFC-66AE-2AA20D1BD787}"/>
                  </a:ext>
                </a:extLst>
              </p:cNvPr>
              <p:cNvSpPr txBox="1"/>
              <p:nvPr/>
            </p:nvSpPr>
            <p:spPr>
              <a:xfrm>
                <a:off x="303394" y="387408"/>
                <a:ext cx="37112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Experimental verifiability: topologies/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400" dirty="0"/>
                  <a:t>-algebras</a:t>
                </a:r>
              </a:p>
              <a:p>
                <a:r>
                  <a:rPr lang="en-US" sz="1400" dirty="0"/>
                  <a:t>Ensembles: convex space, entropy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F89106-566D-ECFC-66AE-2AA20D1BD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4" y="387408"/>
                <a:ext cx="3711209" cy="523220"/>
              </a:xfrm>
              <a:prstGeom prst="rect">
                <a:avLst/>
              </a:prstGeom>
              <a:blipFill>
                <a:blip r:embed="rId2"/>
                <a:stretch>
                  <a:fillRect l="-493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143A3E3-0F12-3D79-4358-3A81B3DF1BEA}"/>
              </a:ext>
            </a:extLst>
          </p:cNvPr>
          <p:cNvSpPr txBox="1"/>
          <p:nvPr/>
        </p:nvSpPr>
        <p:spPr>
          <a:xfrm>
            <a:off x="4637892" y="493766"/>
            <a:ext cx="3980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Connections to: measure theory, vector spaces, functional analysis, differential geometry,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A0343-0093-113B-A588-EC884ED9FA72}"/>
              </a:ext>
            </a:extLst>
          </p:cNvPr>
          <p:cNvSpPr txBox="1"/>
          <p:nvPr/>
        </p:nvSpPr>
        <p:spPr>
          <a:xfrm>
            <a:off x="539373" y="5011248"/>
            <a:ext cx="86493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It must be a concerted effort across physics, math,</a:t>
            </a:r>
            <a:br>
              <a:rPr lang="en-US" sz="3200" dirty="0"/>
            </a:br>
            <a:r>
              <a:rPr lang="en-US" sz="3200" dirty="0"/>
              <a:t>information theory, philosophy,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369E9-59F1-C99B-5B93-548932E4CBBB}"/>
              </a:ext>
            </a:extLst>
          </p:cNvPr>
          <p:cNvSpPr txBox="1"/>
          <p:nvPr/>
        </p:nvSpPr>
        <p:spPr>
          <a:xfrm>
            <a:off x="5452625" y="6046366"/>
            <a:ext cx="423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… and the few of us can’t know everything!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199EB-E968-55D7-148E-C661D5A3AE8B}"/>
                  </a:ext>
                </a:extLst>
              </p:cNvPr>
              <p:cNvSpPr txBox="1"/>
              <p:nvPr/>
            </p:nvSpPr>
            <p:spPr>
              <a:xfrm>
                <a:off x="8814262" y="816766"/>
                <a:ext cx="320789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Foundations of physics</a:t>
                </a:r>
                <a:b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b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</a:br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The theory of physical models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3199EB-E968-55D7-148E-C661D5A3A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262" y="816766"/>
                <a:ext cx="3207898" cy="2554545"/>
              </a:xfrm>
              <a:prstGeom prst="rect">
                <a:avLst/>
              </a:prstGeom>
              <a:blipFill>
                <a:blip r:embed="rId3"/>
                <a:stretch>
                  <a:fillRect t="-3103" r="-2471" b="-6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5B5D3-C0C5-C414-2430-23CFF68B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749492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098F7-B06E-6F59-0481-692138E13EC1}"/>
              </a:ext>
            </a:extLst>
          </p:cNvPr>
          <p:cNvSpPr txBox="1"/>
          <p:nvPr/>
        </p:nvSpPr>
        <p:spPr>
          <a:xfrm>
            <a:off x="309966" y="255722"/>
            <a:ext cx="6959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Assumption of Physics is an open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6D0D8-F8B5-E092-4ACB-36AABB38ECC5}"/>
              </a:ext>
            </a:extLst>
          </p:cNvPr>
          <p:cNvSpPr txBox="1"/>
          <p:nvPr/>
        </p:nvSpPr>
        <p:spPr>
          <a:xfrm>
            <a:off x="896023" y="2717466"/>
            <a:ext cx="700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Activities coordinated through a Discord server (contact me for an invite)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36676-CAD3-512F-FA3C-AB1C8F384E35}"/>
              </a:ext>
            </a:extLst>
          </p:cNvPr>
          <p:cNvSpPr txBox="1"/>
          <p:nvPr/>
        </p:nvSpPr>
        <p:spPr>
          <a:xfrm>
            <a:off x="896023" y="1016167"/>
            <a:ext cx="784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main output is an open access book: </a:t>
            </a:r>
            <a:r>
              <a:rPr lang="en-US" dirty="0">
                <a:hlinkClick r:id="rId2"/>
              </a:rPr>
              <a:t>https://assumptionsofphysics.org/book/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0D855-8B42-8151-46EB-25EEEEBA0116}"/>
              </a:ext>
            </a:extLst>
          </p:cNvPr>
          <p:cNvSpPr txBox="1"/>
          <p:nvPr/>
        </p:nvSpPr>
        <p:spPr>
          <a:xfrm>
            <a:off x="896022" y="1444998"/>
            <a:ext cx="796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our material is developed on GitHub: </a:t>
            </a:r>
            <a:r>
              <a:rPr lang="en-US" dirty="0">
                <a:hlinkClick r:id="rId3"/>
              </a:rPr>
              <a:t>https://github.com/assumptionsofphysics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D9373-1FEB-9976-A78B-A00D06A46DE9}"/>
              </a:ext>
            </a:extLst>
          </p:cNvPr>
          <p:cNvSpPr txBox="1"/>
          <p:nvPr/>
        </p:nvSpPr>
        <p:spPr>
          <a:xfrm>
            <a:off x="896022" y="1869154"/>
            <a:ext cx="908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YouTube channel dedicated to publicize results: </a:t>
            </a:r>
            <a:r>
              <a:rPr lang="en-US" dirty="0">
                <a:hlinkClick r:id="rId4"/>
              </a:rPr>
              <a:t>https://www.youtube.com/user/gcarcassi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6F4BD-1E3C-D3EE-C20F-36109D14DF97}"/>
              </a:ext>
            </a:extLst>
          </p:cNvPr>
          <p:cNvSpPr txBox="1"/>
          <p:nvPr/>
        </p:nvSpPr>
        <p:spPr>
          <a:xfrm>
            <a:off x="896022" y="2293310"/>
            <a:ext cx="1050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Another YouTube channel dedicated to research: </a:t>
            </a:r>
            <a:r>
              <a:rPr lang="en-US" dirty="0">
                <a:hlinkClick r:id="rId5"/>
              </a:rPr>
              <a:t>https://www.youtube.com/@AssumptionsofPhysicsResearch</a:t>
            </a:r>
            <a:r>
              <a:rPr lang="en-US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7E8F19-4C4A-4370-166E-784670AA0AE5}"/>
              </a:ext>
            </a:extLst>
          </p:cNvPr>
          <p:cNvCxnSpPr>
            <a:cxnSpLocks/>
          </p:cNvCxnSpPr>
          <p:nvPr/>
        </p:nvCxnSpPr>
        <p:spPr>
          <a:xfrm flipH="1">
            <a:off x="10405317" y="1945037"/>
            <a:ext cx="567483" cy="34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D4BB4F-769D-D958-0C96-1035D7BF67CF}"/>
              </a:ext>
            </a:extLst>
          </p:cNvPr>
          <p:cNvSpPr txBox="1"/>
          <p:nvPr/>
        </p:nvSpPr>
        <p:spPr>
          <a:xfrm>
            <a:off x="10972800" y="162966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Livestream</a:t>
            </a:r>
            <a:br>
              <a:rPr lang="en-US" sz="1400" dirty="0"/>
            </a:br>
            <a:r>
              <a:rPr lang="en-US" sz="1400" dirty="0"/>
              <a:t>discussions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A0C1C-460C-FC41-10B0-C9F895D7754C}"/>
              </a:ext>
            </a:extLst>
          </p:cNvPr>
          <p:cNvSpPr txBox="1"/>
          <p:nvPr/>
        </p:nvSpPr>
        <p:spPr>
          <a:xfrm>
            <a:off x="309966" y="3672139"/>
            <a:ext cx="8059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Always looking for experts to gain insights and/or help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76A6E-D82D-E1E9-0E94-01C9D53092C2}"/>
              </a:ext>
            </a:extLst>
          </p:cNvPr>
          <p:cNvSpPr txBox="1"/>
          <p:nvPr/>
        </p:nvSpPr>
        <p:spPr>
          <a:xfrm>
            <a:off x="309965" y="4195359"/>
            <a:ext cx="497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Always looking for collaborations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3C736-4939-0212-7CAB-415E5FC8E67B}"/>
              </a:ext>
            </a:extLst>
          </p:cNvPr>
          <p:cNvSpPr txBox="1"/>
          <p:nvPr/>
        </p:nvSpPr>
        <p:spPr>
          <a:xfrm>
            <a:off x="322665" y="4697008"/>
            <a:ext cx="89483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Always looking for people to give feedback on materials—often only an advanced undergraduate background in physics and/or math is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945E2-25D4-217F-5F29-0294071B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3887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C918-6C0B-91F6-4488-1C3D8EB0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it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FF22A-84E6-D215-8EE2-2061620FD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Different approach to the foundations of physics</a:t>
                </a:r>
              </a:p>
              <a:p>
                <a:pPr lvl="1"/>
                <a:r>
                  <a:rPr lang="en-US" dirty="0"/>
                  <a:t>No interpretations, no theories of everything: physically meaningful starting points from which we can rederive the laws and the mathematical frameworks they need</a:t>
                </a:r>
              </a:p>
              <a:p>
                <a:r>
                  <a:rPr lang="en-US" dirty="0"/>
                  <a:t>Reverse physics (reverse engineer principles from the known laws)</a:t>
                </a:r>
              </a:p>
              <a:p>
                <a:pPr lvl="1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Classical mechanics is “completed”; </a:t>
                </a:r>
                <a:r>
                  <a:rPr lang="en-US" dirty="0"/>
                  <a:t>very good ideas for both thermodynamics and quantum mechanics; still do not know how to generalize to field theories</a:t>
                </a:r>
              </a:p>
              <a:p>
                <a:r>
                  <a:rPr lang="en-US" dirty="0"/>
                  <a:t>Physical mathematics (rederive the mathematical structures from scratch)</a:t>
                </a:r>
              </a:p>
              <a:p>
                <a:pPr lvl="1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-algebras are derived from experimental verifiability;</a:t>
                </a:r>
                <a:br>
                  <a:rPr lang="en-US" dirty="0"/>
                </a:br>
                <a:r>
                  <a:rPr lang="en-US" dirty="0"/>
                  <a:t>Good progress on a generic theory of states</a:t>
                </a:r>
              </a:p>
              <a:p>
                <a:r>
                  <a:rPr lang="en-US" dirty="0"/>
                  <a:t>The goal is ambitious and requires a wide collaboration</a:t>
                </a:r>
              </a:p>
              <a:p>
                <a:pPr lvl="1"/>
                <a:r>
                  <a:rPr lang="en-US" dirty="0"/>
                  <a:t>Always looking for people to collaborate with in physics,</a:t>
                </a:r>
                <a:br>
                  <a:rPr lang="en-US" dirty="0"/>
                </a:br>
                <a:r>
                  <a:rPr lang="en-US" dirty="0"/>
                  <a:t>math, philosophy,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FF22A-84E6-D215-8EE2-2061620FD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6" t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A15CC-1280-582B-35C5-B53272B3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3786659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D0B7-B8D3-B896-655C-663EE368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A2EE-6C19-CE05-D249-278AE359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learn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E938-1FE0-4A24-7D1C-A779C7B2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website</a:t>
            </a:r>
          </a:p>
          <a:p>
            <a:pPr lvl="1"/>
            <a:r>
              <a:rPr lang="en-US" dirty="0">
                <a:hlinkClick r:id="rId2"/>
              </a:rPr>
              <a:t>https://assumptionsofphysics.org</a:t>
            </a:r>
            <a:r>
              <a:rPr lang="en-US" dirty="0"/>
              <a:t> for papers, presentations, …</a:t>
            </a:r>
          </a:p>
          <a:p>
            <a:pPr lvl="1"/>
            <a:r>
              <a:rPr lang="en-US" dirty="0">
                <a:hlinkClick r:id="rId3"/>
              </a:rPr>
              <a:t>https://assumptionsofphysics.org/book</a:t>
            </a:r>
            <a:r>
              <a:rPr lang="en-US" dirty="0"/>
              <a:t> for our open access book</a:t>
            </a:r>
            <a:br>
              <a:rPr lang="en-US" dirty="0"/>
            </a:br>
            <a:r>
              <a:rPr lang="en-US" dirty="0"/>
              <a:t>(updated every few years with new results) </a:t>
            </a:r>
          </a:p>
          <a:p>
            <a:r>
              <a:rPr lang="en-US" dirty="0"/>
              <a:t>YouTube channels</a:t>
            </a:r>
          </a:p>
          <a:p>
            <a:pPr lvl="1"/>
            <a:r>
              <a:rPr lang="en-US" dirty="0">
                <a:hlinkClick r:id="rId4"/>
              </a:rPr>
              <a:t>https://www.youtube.com/@gcarcassi</a:t>
            </a:r>
            <a:br>
              <a:rPr lang="en-US" dirty="0"/>
            </a:br>
            <a:r>
              <a:rPr lang="en-US" dirty="0"/>
              <a:t>Videos with results and insights from the research</a:t>
            </a:r>
          </a:p>
          <a:p>
            <a:pPr lvl="1"/>
            <a:r>
              <a:rPr lang="en-US" dirty="0">
                <a:hlinkClick r:id="rId5"/>
              </a:rPr>
              <a:t>https://www.youtube.com/@AssumptionsofPhysicsResearch</a:t>
            </a:r>
            <a:br>
              <a:rPr lang="en-US" dirty="0"/>
            </a:br>
            <a:r>
              <a:rPr lang="en-US" dirty="0"/>
              <a:t>Research channel, with open questions and livestreamed work sessions</a:t>
            </a:r>
          </a:p>
          <a:p>
            <a:r>
              <a:rPr lang="en-US" dirty="0"/>
              <a:t>GitHub</a:t>
            </a:r>
          </a:p>
          <a:p>
            <a:pPr lvl="1"/>
            <a:r>
              <a:rPr lang="en-US" dirty="0">
                <a:hlinkClick r:id="rId6"/>
              </a:rPr>
              <a:t>https://github.com/assumptionsofphysics</a:t>
            </a:r>
            <a:br>
              <a:rPr lang="en-US" dirty="0"/>
            </a:br>
            <a:r>
              <a:rPr lang="en-US" dirty="0"/>
              <a:t>Book, research papers, slides for videos...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B7F43-A01F-AA12-F70A-34690D00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792118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6E633-4288-9FC9-ADA8-5F9BA79B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375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CEA32-367B-22A8-E962-27869655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429579"/>
            <a:ext cx="11155332" cy="704948"/>
          </a:xfrm>
          <a:prstGeom prst="rect">
            <a:avLst/>
          </a:prstGeom>
        </p:spPr>
      </p:pic>
      <p:graphicFrame>
        <p:nvGraphicFramePr>
          <p:cNvPr id="4" name="Table 52">
            <a:extLst>
              <a:ext uri="{FF2B5EF4-FFF2-40B4-BE49-F238E27FC236}">
                <a16:creationId xmlns:a16="http://schemas.microsoft.com/office/drawing/2014/main" id="{C588E2A5-DAFC-5471-EAC5-03A97FC2C975}"/>
              </a:ext>
            </a:extLst>
          </p:cNvPr>
          <p:cNvGraphicFramePr>
            <a:graphicFrameLocks noGrp="1"/>
          </p:cNvGraphicFramePr>
          <p:nvPr/>
        </p:nvGraphicFramePr>
        <p:xfrm>
          <a:off x="3671346" y="2667000"/>
          <a:ext cx="342384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337734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3A581-5556-303C-C8F1-939F28965206}"/>
                  </a:ext>
                </a:extLst>
              </p:cNvPr>
              <p:cNvSpPr txBox="1"/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Science is about statements that are associated to experimental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3A581-5556-303C-C8F1-939F28965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blipFill>
                <a:blip r:embed="rId3"/>
                <a:stretch>
                  <a:fillRect t="-11628" r="-172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EA59C3-A21B-31C0-597D-51A48B8452F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828397" y="2508871"/>
            <a:ext cx="842949" cy="29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FFB8B4-28EA-E7E1-A2DD-8F3E2BB769B0}"/>
              </a:ext>
            </a:extLst>
          </p:cNvPr>
          <p:cNvSpPr txBox="1"/>
          <p:nvPr/>
        </p:nvSpPr>
        <p:spPr>
          <a:xfrm>
            <a:off x="518334" y="2047206"/>
            <a:ext cx="2310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Statements must be either true or false for everybody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9AF6E-AB56-0925-96FA-3C24C48CD5CD}"/>
              </a:ext>
            </a:extLst>
          </p:cNvPr>
          <p:cNvSpPr txBox="1"/>
          <p:nvPr/>
        </p:nvSpPr>
        <p:spPr>
          <a:xfrm>
            <a:off x="8164689" y="2343834"/>
            <a:ext cx="3193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Tests may or may not terminate (i.e. be conclusive)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A5AC68-1923-D44F-3E66-D843400813E4}"/>
              </a:ext>
            </a:extLst>
          </p:cNvPr>
          <p:cNvCxnSpPr>
            <a:cxnSpLocks/>
          </p:cNvCxnSpPr>
          <p:nvPr/>
        </p:nvCxnSpPr>
        <p:spPr>
          <a:xfrm flipH="1">
            <a:off x="7321740" y="2654760"/>
            <a:ext cx="770356" cy="14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7588BB-BC82-1DA2-147C-D04007E5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428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EB86BF1D-B283-4E90-985B-17718903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845" y="2522747"/>
            <a:ext cx="5993768" cy="7061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D56907F-4F03-40FC-B139-60F75ADAD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30" y="4737001"/>
            <a:ext cx="5993768" cy="88859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FB0B8CB-845B-4419-97F7-FC6C1BDF2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2" y="118158"/>
            <a:ext cx="6001620" cy="14533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C5C21A1-1E07-4DDB-A61D-804913B4F591}"/>
              </a:ext>
            </a:extLst>
          </p:cNvPr>
          <p:cNvGrpSpPr/>
          <p:nvPr/>
        </p:nvGrpSpPr>
        <p:grpSpPr>
          <a:xfrm>
            <a:off x="6463285" y="250202"/>
            <a:ext cx="2005639" cy="897425"/>
            <a:chOff x="7683803" y="1294923"/>
            <a:chExt cx="3815947" cy="170744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C31CD59-15B1-48D0-9865-3724838BE8AA}"/>
                </a:ext>
              </a:extLst>
            </p:cNvPr>
            <p:cNvSpPr/>
            <p:nvPr/>
          </p:nvSpPr>
          <p:spPr>
            <a:xfrm>
              <a:off x="7683803" y="1294923"/>
              <a:ext cx="3815947" cy="1707449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3FBD51B-F3B0-47CB-A466-E8D47CD23CCC}"/>
                </a:ext>
              </a:extLst>
            </p:cNvPr>
            <p:cNvSpPr/>
            <p:nvPr/>
          </p:nvSpPr>
          <p:spPr>
            <a:xfrm>
              <a:off x="8740999" y="2704051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FC60FB7-111D-4596-9890-05F1BD47CA24}"/>
                </a:ext>
              </a:extLst>
            </p:cNvPr>
            <p:cNvSpPr/>
            <p:nvPr/>
          </p:nvSpPr>
          <p:spPr>
            <a:xfrm>
              <a:off x="10406680" y="2366618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89C619-43FD-4BC8-B47E-285CFF9217DE}"/>
                </a:ext>
              </a:extLst>
            </p:cNvPr>
            <p:cNvSpPr/>
            <p:nvPr/>
          </p:nvSpPr>
          <p:spPr>
            <a:xfrm>
              <a:off x="9187842" y="1792607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0E2F9A-5A5B-4393-BADE-219209407E58}"/>
                </a:ext>
              </a:extLst>
            </p:cNvPr>
            <p:cNvSpPr/>
            <p:nvPr/>
          </p:nvSpPr>
          <p:spPr>
            <a:xfrm>
              <a:off x="9278098" y="2344502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390CC4-824E-412F-AF0D-8CAA06626462}"/>
                </a:ext>
              </a:extLst>
            </p:cNvPr>
            <p:cNvSpPr/>
            <p:nvPr/>
          </p:nvSpPr>
          <p:spPr>
            <a:xfrm>
              <a:off x="8773550" y="2061897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A9C5BF5-2F2F-4A65-A291-462D7AE81EB5}"/>
                </a:ext>
              </a:extLst>
            </p:cNvPr>
            <p:cNvSpPr/>
            <p:nvPr/>
          </p:nvSpPr>
          <p:spPr>
            <a:xfrm>
              <a:off x="8269002" y="2143277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10C9E2-10D8-4E4F-8404-FE1C35EB87FC}"/>
                </a:ext>
              </a:extLst>
            </p:cNvPr>
            <p:cNvSpPr/>
            <p:nvPr/>
          </p:nvSpPr>
          <p:spPr>
            <a:xfrm>
              <a:off x="10048429" y="2599886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019A0DE-CCE0-46D5-921E-7D9C7C03E846}"/>
                </a:ext>
              </a:extLst>
            </p:cNvPr>
            <p:cNvSpPr/>
            <p:nvPr/>
          </p:nvSpPr>
          <p:spPr>
            <a:xfrm>
              <a:off x="10477701" y="1907215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3A66EDE-1639-42BF-880D-05ABD2EB02F1}"/>
                </a:ext>
              </a:extLst>
            </p:cNvPr>
            <p:cNvSpPr/>
            <p:nvPr/>
          </p:nvSpPr>
          <p:spPr>
            <a:xfrm>
              <a:off x="8482612" y="1660719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3B21306-2885-4681-B807-F331094515F6}"/>
                </a:ext>
              </a:extLst>
            </p:cNvPr>
            <p:cNvSpPr/>
            <p:nvPr/>
          </p:nvSpPr>
          <p:spPr>
            <a:xfrm>
              <a:off x="9538302" y="1505505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CDBBA83-3E71-4A6F-A580-5C002454A632}"/>
                </a:ext>
              </a:extLst>
            </p:cNvPr>
            <p:cNvSpPr/>
            <p:nvPr/>
          </p:nvSpPr>
          <p:spPr>
            <a:xfrm>
              <a:off x="9972038" y="1625209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92CFBA-3554-4472-9495-3F851DBA0CE0}"/>
                </a:ext>
              </a:extLst>
            </p:cNvPr>
            <p:cNvSpPr/>
            <p:nvPr/>
          </p:nvSpPr>
          <p:spPr>
            <a:xfrm>
              <a:off x="10914552" y="1978236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52C5DE-84C0-4B98-B344-E313515AC009}"/>
                </a:ext>
              </a:extLst>
            </p:cNvPr>
            <p:cNvSpPr/>
            <p:nvPr/>
          </p:nvSpPr>
          <p:spPr>
            <a:xfrm>
              <a:off x="9744177" y="2340064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C48E85-01E5-4387-B34E-5F73805FA685}"/>
                </a:ext>
              </a:extLst>
            </p:cNvPr>
            <p:cNvSpPr/>
            <p:nvPr/>
          </p:nvSpPr>
          <p:spPr>
            <a:xfrm>
              <a:off x="9504582" y="2693010"/>
              <a:ext cx="71021" cy="71021"/>
            </a:xfrm>
            <a:prstGeom prst="ellipse">
              <a:avLst/>
            </a:prstGeom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090C8AF-D93B-4570-9491-B7D3CD3C7990}"/>
                </a:ext>
              </a:extLst>
            </p:cNvPr>
            <p:cNvSpPr/>
            <p:nvPr/>
          </p:nvSpPr>
          <p:spPr>
            <a:xfrm>
              <a:off x="8482612" y="1458284"/>
              <a:ext cx="2807579" cy="110883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A14F14-F8CC-49FB-AA30-ADCC8FF03474}"/>
                  </a:ext>
                </a:extLst>
              </p:cNvPr>
              <p:cNvSpPr txBox="1"/>
              <p:nvPr/>
            </p:nvSpPr>
            <p:spPr>
              <a:xfrm>
                <a:off x="6447064" y="26736"/>
                <a:ext cx="3998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A14F14-F8CC-49FB-AA30-ADCC8FF03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064" y="26736"/>
                <a:ext cx="39985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6B01629-EC53-4385-AFEB-883DA601BD5D}"/>
                  </a:ext>
                </a:extLst>
              </p:cNvPr>
              <p:cNvSpPr txBox="1"/>
              <p:nvPr/>
            </p:nvSpPr>
            <p:spPr>
              <a:xfrm>
                <a:off x="7370850" y="411155"/>
                <a:ext cx="5290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6B01629-EC53-4385-AFEB-883DA601B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50" y="411155"/>
                <a:ext cx="529055" cy="40011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685D9964-3840-432A-8AE5-3F7A41A9B33A}"/>
              </a:ext>
            </a:extLst>
          </p:cNvPr>
          <p:cNvGrpSpPr/>
          <p:nvPr/>
        </p:nvGrpSpPr>
        <p:grpSpPr>
          <a:xfrm>
            <a:off x="5338263" y="3620489"/>
            <a:ext cx="4274127" cy="1029809"/>
            <a:chOff x="7098169" y="5282214"/>
            <a:chExt cx="4274127" cy="102980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9C1E757-9B76-486A-953B-246329C39BB4}"/>
                </a:ext>
              </a:extLst>
            </p:cNvPr>
            <p:cNvGrpSpPr/>
            <p:nvPr/>
          </p:nvGrpSpPr>
          <p:grpSpPr>
            <a:xfrm>
              <a:off x="8269002" y="5563077"/>
              <a:ext cx="504548" cy="504548"/>
              <a:chOff x="8269002" y="5563077"/>
              <a:chExt cx="504548" cy="5045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EF34B8-D9BB-44F4-937C-76A0761715D8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E9CD194-F680-4223-8173-C7BF0D71CE00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13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E9CD194-F680-4223-8173-C7BF0D71CE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133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0C611A1-1DEF-4908-964B-6233EBCA6867}"/>
                </a:ext>
              </a:extLst>
            </p:cNvPr>
            <p:cNvGrpSpPr/>
            <p:nvPr/>
          </p:nvGrpSpPr>
          <p:grpSpPr>
            <a:xfrm>
              <a:off x="9071903" y="5563541"/>
              <a:ext cx="504548" cy="504548"/>
              <a:chOff x="8269002" y="5563077"/>
              <a:chExt cx="504548" cy="50454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928A127-4291-47AD-806B-34E921563290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E7CED31B-2519-45D4-8C9A-76CC03DF5373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E7CED31B-2519-45D4-8C9A-76CC03DF53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62ADB2-17D7-4F82-8D07-F62F9DE308A2}"/>
                </a:ext>
              </a:extLst>
            </p:cNvPr>
            <p:cNvGrpSpPr/>
            <p:nvPr/>
          </p:nvGrpSpPr>
          <p:grpSpPr>
            <a:xfrm>
              <a:off x="9874804" y="5564005"/>
              <a:ext cx="504548" cy="504548"/>
              <a:chOff x="8269002" y="5563077"/>
              <a:chExt cx="504548" cy="50454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48D4FA0-2A2A-4AE8-801F-B645AA7965AF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55293A5-DFD3-428F-9527-8BEE90FC9E81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55293A5-DFD3-428F-9527-8BEE90FC9E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0128C6A-DF7D-4051-85C5-C0578361A6D6}"/>
                </a:ext>
              </a:extLst>
            </p:cNvPr>
            <p:cNvGrpSpPr/>
            <p:nvPr/>
          </p:nvGrpSpPr>
          <p:grpSpPr>
            <a:xfrm>
              <a:off x="10677705" y="5564469"/>
              <a:ext cx="504548" cy="504548"/>
              <a:chOff x="8269002" y="5563077"/>
              <a:chExt cx="504548" cy="504548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FBB19F9-7697-43FC-ACDC-1F80F9372EB6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89561B8-03CA-4EF8-B5BF-79D72249E7F1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1068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89561B8-03CA-4EF8-B5BF-79D72249E7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1068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3C83A5-18EF-4B06-9670-40FE2BF3D21F}"/>
                    </a:ext>
                  </a:extLst>
                </p:cNvPr>
                <p:cNvSpPr txBox="1"/>
                <p:nvPr/>
              </p:nvSpPr>
              <p:spPr>
                <a:xfrm>
                  <a:off x="7098169" y="5391517"/>
                  <a:ext cx="783676" cy="8476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⋁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3C83A5-18EF-4B06-9670-40FE2BF3D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8169" y="5391517"/>
                  <a:ext cx="783676" cy="84766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D5DCE60-6AC6-4797-BC84-F914AEA04506}"/>
                </a:ext>
              </a:extLst>
            </p:cNvPr>
            <p:cNvSpPr/>
            <p:nvPr/>
          </p:nvSpPr>
          <p:spPr>
            <a:xfrm>
              <a:off x="8075146" y="5282214"/>
              <a:ext cx="3297150" cy="1029809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14DBF1-13A1-4A78-A08D-AE8CEF04E420}"/>
              </a:ext>
            </a:extLst>
          </p:cNvPr>
          <p:cNvGrpSpPr/>
          <p:nvPr/>
        </p:nvGrpSpPr>
        <p:grpSpPr>
          <a:xfrm>
            <a:off x="8034484" y="1265977"/>
            <a:ext cx="504548" cy="504548"/>
            <a:chOff x="8269002" y="5563077"/>
            <a:chExt cx="504548" cy="50454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DBD1CFB-94D8-40CE-A221-B3D1C149741A}"/>
                </a:ext>
              </a:extLst>
            </p:cNvPr>
            <p:cNvSpPr/>
            <p:nvPr/>
          </p:nvSpPr>
          <p:spPr>
            <a:xfrm rot="2700000">
              <a:off x="8269002" y="5563077"/>
              <a:ext cx="504548" cy="504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3C6B9A7-E6CF-4B8C-88C5-EE8E9BE810C9}"/>
                    </a:ext>
                  </a:extLst>
                </p:cNvPr>
                <p:cNvSpPr txBox="1"/>
                <p:nvPr/>
              </p:nvSpPr>
              <p:spPr>
                <a:xfrm>
                  <a:off x="8318363" y="5604051"/>
                  <a:ext cx="4413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3C6B9A7-E6CF-4B8C-88C5-EE8E9BE81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8363" y="5604051"/>
                  <a:ext cx="44133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CEBE2F9-D64B-453A-BB93-04A8E9CEB34F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7950405" y="609347"/>
            <a:ext cx="223932" cy="60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780901-4905-4542-8674-192B4C2E8667}"/>
              </a:ext>
            </a:extLst>
          </p:cNvPr>
          <p:cNvSpPr txBox="1"/>
          <p:nvPr/>
        </p:nvSpPr>
        <p:spPr>
          <a:xfrm>
            <a:off x="6599887" y="1752605"/>
            <a:ext cx="1645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experimental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 52">
                <a:extLst>
                  <a:ext uri="{FF2B5EF4-FFF2-40B4-BE49-F238E27FC236}">
                    <a16:creationId xmlns:a16="http://schemas.microsoft.com/office/drawing/2014/main" id="{AAE52726-23D8-4D9C-83D7-43829F91F5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80372" y="168378"/>
              <a:ext cx="2989077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400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2542677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UNDEFINED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 52">
                <a:extLst>
                  <a:ext uri="{FF2B5EF4-FFF2-40B4-BE49-F238E27FC236}">
                    <a16:creationId xmlns:a16="http://schemas.microsoft.com/office/drawing/2014/main" id="{AAE52726-23D8-4D9C-83D7-43829F91F5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24642"/>
                  </p:ext>
                </p:extLst>
              </p:nvPr>
            </p:nvGraphicFramePr>
            <p:xfrm>
              <a:off x="8880372" y="168378"/>
              <a:ext cx="2989077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400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2542677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t="-8197" r="-57534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UNDEFINED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277825E4-48FE-48DE-90C2-3EE63DB5AD8A}"/>
              </a:ext>
            </a:extLst>
          </p:cNvPr>
          <p:cNvGrpSpPr/>
          <p:nvPr/>
        </p:nvGrpSpPr>
        <p:grpSpPr>
          <a:xfrm>
            <a:off x="1419957" y="2384741"/>
            <a:ext cx="3526941" cy="1029809"/>
            <a:chOff x="521276" y="3783367"/>
            <a:chExt cx="3526941" cy="102980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3CB5781-FD3B-4028-886D-A4AE77239931}"/>
                </a:ext>
              </a:extLst>
            </p:cNvPr>
            <p:cNvGrpSpPr/>
            <p:nvPr/>
          </p:nvGrpSpPr>
          <p:grpSpPr>
            <a:xfrm>
              <a:off x="1692109" y="4064230"/>
              <a:ext cx="504548" cy="504548"/>
              <a:chOff x="8269002" y="5563077"/>
              <a:chExt cx="504548" cy="50454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E656DEB-C677-4F5A-8E8B-081D98A0E763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EB03CEF-D195-4E84-9E22-566E8705FE4D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13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EB03CEF-D195-4E84-9E22-566E8705FE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1339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9C84AF1-B3F0-49AA-B84C-F990F0708CDF}"/>
                </a:ext>
              </a:extLst>
            </p:cNvPr>
            <p:cNvGrpSpPr/>
            <p:nvPr/>
          </p:nvGrpSpPr>
          <p:grpSpPr>
            <a:xfrm>
              <a:off x="2495010" y="4064694"/>
              <a:ext cx="504548" cy="504548"/>
              <a:chOff x="8269002" y="5563077"/>
              <a:chExt cx="504548" cy="504548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D2806FA-2755-4E62-925B-E9DE0BA76313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2465876-11CB-4ACF-8DB6-67736E7A48D6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2465876-11CB-4ACF-8DB6-67736E7A4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411FA5A-3B33-4E21-8B23-E1703DE2A2EF}"/>
                </a:ext>
              </a:extLst>
            </p:cNvPr>
            <p:cNvGrpSpPr/>
            <p:nvPr/>
          </p:nvGrpSpPr>
          <p:grpSpPr>
            <a:xfrm>
              <a:off x="3297911" y="4065158"/>
              <a:ext cx="504548" cy="504548"/>
              <a:chOff x="8269002" y="5563077"/>
              <a:chExt cx="504548" cy="50454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DA6A202-3AA6-4454-9C8B-4040D1C6437B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48BC8AD0-18AE-4C68-A340-6FD40E6BD033}"/>
                      </a:ext>
                    </a:extLst>
                  </p:cNvPr>
                  <p:cNvSpPr txBox="1"/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48BC8AD0-18AE-4C68-A340-6FD40E6BD0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8363" y="5604051"/>
                    <a:ext cx="446661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6604157-FF76-46B1-8427-66E01B32DEA6}"/>
                    </a:ext>
                  </a:extLst>
                </p:cNvPr>
                <p:cNvSpPr txBox="1"/>
                <p:nvPr/>
              </p:nvSpPr>
              <p:spPr>
                <a:xfrm>
                  <a:off x="521276" y="3892670"/>
                  <a:ext cx="783676" cy="8485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⋀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6604157-FF76-46B1-8427-66E01B32D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276" y="3892670"/>
                  <a:ext cx="783676" cy="84856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720AE4A-5467-4B9F-8AF1-CF79B28BA219}"/>
                </a:ext>
              </a:extLst>
            </p:cNvPr>
            <p:cNvSpPr/>
            <p:nvPr/>
          </p:nvSpPr>
          <p:spPr>
            <a:xfrm>
              <a:off x="1498252" y="3783367"/>
              <a:ext cx="2549965" cy="1029809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86EBF084-B0A5-4E3B-88AF-771FA920F5A1}"/>
              </a:ext>
            </a:extLst>
          </p:cNvPr>
          <p:cNvSpPr txBox="1"/>
          <p:nvPr/>
        </p:nvSpPr>
        <p:spPr>
          <a:xfrm>
            <a:off x="2171964" y="3502907"/>
            <a:ext cx="2022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All tests must succeed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E231CD-DCD8-4CC7-AF4D-3FC71A0CEF82}"/>
              </a:ext>
            </a:extLst>
          </p:cNvPr>
          <p:cNvSpPr txBox="1"/>
          <p:nvPr/>
        </p:nvSpPr>
        <p:spPr>
          <a:xfrm>
            <a:off x="6092928" y="4795768"/>
            <a:ext cx="2764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One successful test is sufficient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F2DA5F0-2004-44A9-B44A-822CF7D2E9F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5767" y="1647703"/>
            <a:ext cx="6057873" cy="3928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2D351-2138-4DDA-BD4F-66B01CA0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9857DC-430E-F3E9-D2AE-C922EB4A59CA}"/>
                  </a:ext>
                </a:extLst>
              </p:cNvPr>
              <p:cNvSpPr txBox="1"/>
              <p:nvPr/>
            </p:nvSpPr>
            <p:spPr>
              <a:xfrm>
                <a:off x="2045345" y="5813856"/>
                <a:ext cx="6948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Verifiable statements form a frame/Heyting algebra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9857DC-430E-F3E9-D2AE-C922EB4A5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345" y="5813856"/>
                <a:ext cx="6948505" cy="461665"/>
              </a:xfrm>
              <a:prstGeom prst="rect">
                <a:avLst/>
              </a:prstGeom>
              <a:blipFill>
                <a:blip r:embed="rId20"/>
                <a:stretch>
                  <a:fillRect t="-10667" r="-35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0126B07-F7F4-E1A0-CAB3-B3E21F2BE632}"/>
              </a:ext>
            </a:extLst>
          </p:cNvPr>
          <p:cNvSpPr txBox="1"/>
          <p:nvPr/>
        </p:nvSpPr>
        <p:spPr>
          <a:xfrm>
            <a:off x="6808190" y="1979235"/>
            <a:ext cx="2082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outside the formal system</a:t>
            </a:r>
          </a:p>
        </p:txBody>
      </p:sp>
    </p:spTree>
    <p:extLst>
      <p:ext uri="{BB962C8B-B14F-4D97-AF65-F5344CB8AC3E}">
        <p14:creationId xmlns:p14="http://schemas.microsoft.com/office/powerpoint/2010/main" val="1612912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B3980-8C03-98F0-E5B7-4A88E05EC1B2}"/>
              </a:ext>
            </a:extLst>
          </p:cNvPr>
          <p:cNvSpPr txBox="1"/>
          <p:nvPr/>
        </p:nvSpPr>
        <p:spPr>
          <a:xfrm>
            <a:off x="489646" y="2046371"/>
            <a:ext cx="74250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Disjunction (OR) of verifiable statements:</a:t>
            </a:r>
            <a:br>
              <a:rPr lang="en-US" sz="3200" dirty="0"/>
            </a:br>
            <a:r>
              <a:rPr lang="en-US" sz="3200" dirty="0"/>
              <a:t>check that ONE test terminates successfully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0600E2-1D55-143D-9148-CC3B441319BB}"/>
                  </a:ext>
                </a:extLst>
              </p:cNvPr>
              <p:cNvSpPr txBox="1"/>
              <p:nvPr/>
            </p:nvSpPr>
            <p:spPr>
              <a:xfrm>
                <a:off x="445379" y="5252196"/>
                <a:ext cx="81488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/>
                  <a:t> Only countable disjunction can reach all tests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0600E2-1D55-143D-9148-CC3B4413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79" y="5252196"/>
                <a:ext cx="8148834" cy="584775"/>
              </a:xfrm>
              <a:prstGeom prst="rect">
                <a:avLst/>
              </a:prstGeom>
              <a:blipFill>
                <a:blip r:embed="rId2"/>
                <a:stretch>
                  <a:fillRect t="-12500" r="-89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036CBD-8DF3-F5EE-6AD1-BDA71AE0D5D1}"/>
                  </a:ext>
                </a:extLst>
              </p:cNvPr>
              <p:cNvSpPr txBox="1"/>
              <p:nvPr/>
            </p:nvSpPr>
            <p:spPr>
              <a:xfrm>
                <a:off x="508537" y="3212361"/>
                <a:ext cx="383521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to 1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US" dirty="0"/>
                  <a:t>Run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succeeds, return SUCCESS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Increment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go to 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036CBD-8DF3-F5EE-6AD1-BDA71AE0D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37" y="3212361"/>
                <a:ext cx="3835217" cy="1754326"/>
              </a:xfrm>
              <a:prstGeom prst="rect">
                <a:avLst/>
              </a:prstGeom>
              <a:blipFill>
                <a:blip r:embed="rId3"/>
                <a:stretch>
                  <a:fillRect l="-1270" t="-2083" r="-47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B5846EF-DADB-052C-01A0-7BD444992E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" t="7926" r="547"/>
          <a:stretch/>
        </p:blipFill>
        <p:spPr>
          <a:xfrm>
            <a:off x="134402" y="182844"/>
            <a:ext cx="11923195" cy="16577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2F3B5F-E787-D052-883D-4AF6A7673B70}"/>
              </a:ext>
            </a:extLst>
          </p:cNvPr>
          <p:cNvSpPr txBox="1"/>
          <p:nvPr/>
        </p:nvSpPr>
        <p:spPr>
          <a:xfrm>
            <a:off x="4343754" y="3133019"/>
            <a:ext cx="311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watch out for non-termination!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52">
                <a:extLst>
                  <a:ext uri="{FF2B5EF4-FFF2-40B4-BE49-F238E27FC236}">
                    <a16:creationId xmlns:a16="http://schemas.microsoft.com/office/drawing/2014/main" id="{FADBF79F-19C0-67D7-6D54-CCDAAB67E8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981086" y="2036437"/>
              <a:ext cx="2342863" cy="1219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9892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992971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2680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268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26804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26804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52">
                <a:extLst>
                  <a:ext uri="{FF2B5EF4-FFF2-40B4-BE49-F238E27FC236}">
                    <a16:creationId xmlns:a16="http://schemas.microsoft.com/office/drawing/2014/main" id="{FADBF79F-19C0-67D7-6D54-CCDAAB67E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195763"/>
                  </p:ext>
                </p:extLst>
              </p:nvPr>
            </p:nvGraphicFramePr>
            <p:xfrm>
              <a:off x="8981086" y="2036437"/>
              <a:ext cx="2342863" cy="1219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9892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992971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00" r="-577193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6D86B1-6E74-0E37-1BF3-49208782AFC7}"/>
                  </a:ext>
                </a:extLst>
              </p:cNvPr>
              <p:cNvSpPr txBox="1"/>
              <p:nvPr/>
            </p:nvSpPr>
            <p:spPr>
              <a:xfrm>
                <a:off x="5026681" y="3843379"/>
                <a:ext cx="649729" cy="679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⋁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6D86B1-6E74-0E37-1BF3-49208782A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681" y="3843379"/>
                <a:ext cx="649729" cy="6798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0A6438A-B785-4BA4-0A20-6EF99C5AE65F}"/>
              </a:ext>
            </a:extLst>
          </p:cNvPr>
          <p:cNvGrpSpPr/>
          <p:nvPr/>
        </p:nvGrpSpPr>
        <p:grpSpPr>
          <a:xfrm>
            <a:off x="5806109" y="3831857"/>
            <a:ext cx="2320822" cy="724870"/>
            <a:chOff x="8226066" y="5078027"/>
            <a:chExt cx="3297150" cy="102980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7D82A8-DE55-1B06-0A69-69BE62D296ED}"/>
                </a:ext>
              </a:extLst>
            </p:cNvPr>
            <p:cNvGrpSpPr/>
            <p:nvPr/>
          </p:nvGrpSpPr>
          <p:grpSpPr>
            <a:xfrm>
              <a:off x="8419922" y="5358890"/>
              <a:ext cx="556472" cy="504548"/>
              <a:chOff x="8269002" y="5563077"/>
              <a:chExt cx="556472" cy="50454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1F1C10E-5654-39CE-428D-12EEB0444492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967C2F7-69EA-2BB7-1BF5-26BDAEA8614F}"/>
                      </a:ext>
                    </a:extLst>
                  </p:cNvPr>
                  <p:cNvSpPr txBox="1"/>
                  <p:nvPr/>
                </p:nvSpPr>
                <p:spPr>
                  <a:xfrm>
                    <a:off x="8282278" y="5567966"/>
                    <a:ext cx="543196" cy="4372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E9CD194-F680-4223-8173-C7BF0D71CE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2278" y="5567966"/>
                    <a:ext cx="543196" cy="4372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4A3F87B-0866-EC4C-FB69-2A18596BC5A8}"/>
                </a:ext>
              </a:extLst>
            </p:cNvPr>
            <p:cNvGrpSpPr/>
            <p:nvPr/>
          </p:nvGrpSpPr>
          <p:grpSpPr>
            <a:xfrm>
              <a:off x="9222823" y="5359354"/>
              <a:ext cx="562392" cy="504548"/>
              <a:chOff x="8269002" y="5563077"/>
              <a:chExt cx="562392" cy="50454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04CD892-E2B0-CFC2-72E0-B25F7A14E306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51C22E5-CEFB-573D-9B1C-ABC005DBAA44}"/>
                      </a:ext>
                    </a:extLst>
                  </p:cNvPr>
                  <p:cNvSpPr txBox="1"/>
                  <p:nvPr/>
                </p:nvSpPr>
                <p:spPr>
                  <a:xfrm>
                    <a:off x="8282278" y="5567966"/>
                    <a:ext cx="549116" cy="4372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E7CED31B-2519-45D4-8C9A-76CC03DF53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2278" y="5567966"/>
                    <a:ext cx="549116" cy="4372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6F32B18-1E15-F8C6-B4C7-A9BDE44DEA9C}"/>
                </a:ext>
              </a:extLst>
            </p:cNvPr>
            <p:cNvGrpSpPr/>
            <p:nvPr/>
          </p:nvGrpSpPr>
          <p:grpSpPr>
            <a:xfrm>
              <a:off x="10025724" y="5359818"/>
              <a:ext cx="562392" cy="504548"/>
              <a:chOff x="8269002" y="5563077"/>
              <a:chExt cx="562392" cy="50454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C17352C-298A-3299-889A-E067D9085E8A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828196AF-842F-7DA0-9209-4C1D82892E18}"/>
                      </a:ext>
                    </a:extLst>
                  </p:cNvPr>
                  <p:cNvSpPr txBox="1"/>
                  <p:nvPr/>
                </p:nvSpPr>
                <p:spPr>
                  <a:xfrm>
                    <a:off x="8282278" y="5567966"/>
                    <a:ext cx="549116" cy="4372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55293A5-DFD3-428F-9527-8BEE90FC9E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2278" y="5567966"/>
                    <a:ext cx="549116" cy="43725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7FDF153-6632-4DC6-EFA6-3A633E76D74F}"/>
                </a:ext>
              </a:extLst>
            </p:cNvPr>
            <p:cNvGrpSpPr/>
            <p:nvPr/>
          </p:nvGrpSpPr>
          <p:grpSpPr>
            <a:xfrm>
              <a:off x="10828625" y="5360282"/>
              <a:ext cx="523860" cy="504548"/>
              <a:chOff x="8269002" y="5563077"/>
              <a:chExt cx="523860" cy="50454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75D8EF-446F-92DF-A9F7-97C003F65F25}"/>
                  </a:ext>
                </a:extLst>
              </p:cNvPr>
              <p:cNvSpPr/>
              <p:nvPr/>
            </p:nvSpPr>
            <p:spPr>
              <a:xfrm rot="2700000">
                <a:off x="8269002" y="5563077"/>
                <a:ext cx="504548" cy="504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8D0A012-23A5-9985-ADA7-A5EAE7D319C1}"/>
                      </a:ext>
                    </a:extLst>
                  </p:cNvPr>
                  <p:cNvSpPr txBox="1"/>
                  <p:nvPr/>
                </p:nvSpPr>
                <p:spPr>
                  <a:xfrm>
                    <a:off x="8282278" y="5567966"/>
                    <a:ext cx="510584" cy="4372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89561B8-03CA-4EF8-B5BF-79D72249E7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2278" y="5567966"/>
                    <a:ext cx="510584" cy="43725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949365-5B21-628E-15CC-71BF16102B79}"/>
                </a:ext>
              </a:extLst>
            </p:cNvPr>
            <p:cNvSpPr/>
            <p:nvPr/>
          </p:nvSpPr>
          <p:spPr>
            <a:xfrm>
              <a:off x="8226066" y="5078027"/>
              <a:ext cx="3297150" cy="1029809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2ED2684D-B46A-BC7D-A67C-39BEDADE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4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59263</TotalTime>
  <Words>3579</Words>
  <Application>Microsoft Office PowerPoint</Application>
  <PresentationFormat>Widescreen</PresentationFormat>
  <Paragraphs>605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Assumptions of Physics: a new principled approach to the foundations of physics</vt:lpstr>
      <vt:lpstr>Main goal of the program</vt:lpstr>
      <vt:lpstr>Standard view of the foundations of physics</vt:lpstr>
      <vt:lpstr>PowerPoint Presentation</vt:lpstr>
      <vt:lpstr>Our view of the foundations of physics</vt:lpstr>
      <vt:lpstr>PowerPoint Presentation</vt:lpstr>
      <vt:lpstr>Reverse Physics </vt:lpstr>
      <vt:lpstr>PowerPoint Presentation</vt:lpstr>
      <vt:lpstr>Reversing the principle of stationary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mathematics </vt:lpstr>
      <vt:lpstr>Examples of unphysical mathematics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Topology and σ-algebra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Wrapping it up</vt:lpstr>
      <vt:lpstr>To learn more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Assumptions of Physics</dc:title>
  <dc:creator>Gabriele Carcassi;caidala@bnl.gov</dc:creator>
  <cp:lastModifiedBy>Aidala, Christine</cp:lastModifiedBy>
  <cp:revision>229</cp:revision>
  <dcterms:created xsi:type="dcterms:W3CDTF">2021-04-07T15:17:47Z</dcterms:created>
  <dcterms:modified xsi:type="dcterms:W3CDTF">2026-06-26T18:18:05Z</dcterms:modified>
</cp:coreProperties>
</file>